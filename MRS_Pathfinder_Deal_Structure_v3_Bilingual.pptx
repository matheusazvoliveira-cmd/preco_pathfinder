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8735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2200" b="1">
                <a:solidFill>
                  <a:srgbClr val="142C4B"/>
                </a:solidFill>
                <a:latin typeface="Aptos"/>
              </a:rPr>
              <a:t>MRS PATHFINDER IRON ORE CAR — DEAL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11368735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200" b="0">
                <a:solidFill>
                  <a:srgbClr val="5C6874"/>
                </a:solidFill>
                <a:latin typeface="Aptos"/>
              </a:rPr>
              <a:t>Ownership, component flow, refurbishment and final sale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926080" y="3611880"/>
            <a:ext cx="1569567" cy="0"/>
          </a:xfrm>
          <a:prstGeom prst="line">
            <a:avLst/>
          </a:prstGeom>
          <a:ln w="30480">
            <a:solidFill>
              <a:srgbClr val="2366A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7696047" y="3218688"/>
            <a:ext cx="1569568" cy="0"/>
          </a:xfrm>
          <a:prstGeom prst="line">
            <a:avLst/>
          </a:prstGeom>
          <a:ln w="30480">
            <a:solidFill>
              <a:srgbClr val="2D87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696047" y="3977639"/>
            <a:ext cx="1569568" cy="0"/>
          </a:xfrm>
          <a:prstGeom prst="line">
            <a:avLst/>
          </a:prstGeom>
          <a:ln w="30480">
            <a:solidFill>
              <a:srgbClr val="008C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547207" y="2313432"/>
            <a:ext cx="0" cy="566928"/>
          </a:xfrm>
          <a:prstGeom prst="line">
            <a:avLst/>
          </a:prstGeom>
          <a:ln w="30480">
            <a:solidFill>
              <a:srgbClr val="BA343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644487" y="2313432"/>
            <a:ext cx="0" cy="566928"/>
          </a:xfrm>
          <a:prstGeom prst="line">
            <a:avLst/>
          </a:prstGeom>
          <a:ln w="30480">
            <a:solidFill>
              <a:srgbClr val="DE7E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11480" y="2944368"/>
            <a:ext cx="2514600" cy="1325880"/>
          </a:xfrm>
          <a:prstGeom prst="roundRect">
            <a:avLst>
              <a:gd name="adj" fmla="val 12000"/>
            </a:avLst>
          </a:prstGeom>
          <a:solidFill>
            <a:srgbClr val="E7F0FA"/>
          </a:solidFill>
          <a:ln w="20320">
            <a:solidFill>
              <a:srgbClr val="2366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2366AC"/>
                </a:solidFill>
                <a:latin typeface="Aptos Display"/>
              </a:rPr>
              <a:t>Wabtec Digital USA</a:t>
            </a:r>
          </a:p>
          <a:p>
            <a:pPr algn="ctr"/>
            <a:r>
              <a:rPr sz="1100" b="0">
                <a:solidFill>
                  <a:srgbClr val="142C4B"/>
                </a:solidFill>
                <a:latin typeface="Aptos"/>
              </a:rPr>
              <a:t>PN supplier</a:t>
            </a:r>
          </a:p>
          <a:p>
            <a:pPr algn="ctr"/>
            <a:r>
              <a:rPr sz="1100" b="0">
                <a:solidFill>
                  <a:srgbClr val="142C4B"/>
                </a:solidFill>
                <a:latin typeface="Aptos"/>
              </a:rPr>
              <a:t>Sells components to Digital Brazil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95647" y="987552"/>
            <a:ext cx="3200400" cy="1325880"/>
          </a:xfrm>
          <a:prstGeom prst="roundRect">
            <a:avLst>
              <a:gd name="adj" fmla="val 12000"/>
            </a:avLst>
          </a:prstGeom>
          <a:solidFill>
            <a:srgbClr val="FFF3E2"/>
          </a:solidFill>
          <a:ln w="20320">
            <a:solidFill>
              <a:srgbClr val="DE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DE7E22"/>
                </a:solidFill>
                <a:latin typeface="Aptos Display"/>
              </a:rPr>
              <a:t>Supermetal</a:t>
            </a:r>
          </a:p>
          <a:p>
            <a:pPr algn="ctr"/>
            <a:r>
              <a:rPr sz="1100" b="0">
                <a:solidFill>
                  <a:srgbClr val="142C4B"/>
                </a:solidFill>
                <a:latin typeface="Aptos"/>
              </a:rPr>
              <a:t>Receives railcar + components</a:t>
            </a:r>
          </a:p>
          <a:p>
            <a:pPr algn="ctr"/>
            <a:r>
              <a:rPr sz="1100" b="0">
                <a:solidFill>
                  <a:srgbClr val="142C4B"/>
                </a:solidFill>
                <a:latin typeface="Aptos"/>
              </a:rPr>
              <a:t>Refurbishes and integrates</a:t>
            </a:r>
          </a:p>
          <a:p>
            <a:pPr algn="ctr"/>
            <a:r>
              <a:rPr sz="1100" b="0">
                <a:solidFill>
                  <a:srgbClr val="142C4B"/>
                </a:solidFill>
                <a:latin typeface="Aptos"/>
              </a:rPr>
              <a:t>Returns finished Pathfinder Iron Ore Car</a:t>
            </a:r>
          </a:p>
          <a:p>
            <a:pPr algn="ctr"/>
            <a:r>
              <a:rPr sz="1100" b="0">
                <a:solidFill>
                  <a:srgbClr val="142C4B"/>
                </a:solidFill>
                <a:latin typeface="Aptos"/>
              </a:rPr>
              <a:t>Cost + TP?  (open question Q8)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65615" y="2944368"/>
            <a:ext cx="2514600" cy="1325880"/>
          </a:xfrm>
          <a:prstGeom prst="roundRect">
            <a:avLst>
              <a:gd name="adj" fmla="val 12000"/>
            </a:avLst>
          </a:prstGeom>
          <a:solidFill>
            <a:srgbClr val="E7F6EB"/>
          </a:solidFill>
          <a:ln w="20320">
            <a:solidFill>
              <a:srgbClr val="2D8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2D874F"/>
                </a:solidFill>
                <a:latin typeface="Aptos Display"/>
              </a:rPr>
              <a:t>MRS</a:t>
            </a:r>
          </a:p>
          <a:p>
            <a:pPr algn="ctr"/>
            <a:r>
              <a:rPr sz="1100" b="0">
                <a:solidFill>
                  <a:srgbClr val="142C4B"/>
                </a:solidFill>
                <a:latin typeface="Aptos"/>
              </a:rPr>
              <a:t>Railcar owner</a:t>
            </a:r>
          </a:p>
          <a:p>
            <a:pPr algn="ctr"/>
            <a:r>
              <a:rPr sz="1100" b="0">
                <a:solidFill>
                  <a:srgbClr val="142C4B"/>
                </a:solidFill>
                <a:latin typeface="Aptos"/>
              </a:rPr>
              <a:t>Sends under remittance</a:t>
            </a:r>
          </a:p>
          <a:p>
            <a:pPr algn="ctr"/>
            <a:r>
              <a:rPr sz="1100" b="0">
                <a:solidFill>
                  <a:srgbClr val="142C4B"/>
                </a:solidFill>
                <a:latin typeface="Aptos"/>
              </a:rPr>
              <a:t>Buys and receives the finished Pathfinder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95647" y="2880360"/>
            <a:ext cx="3200400" cy="1463040"/>
          </a:xfrm>
          <a:prstGeom prst="roundRect">
            <a:avLst>
              <a:gd name="adj" fmla="val 12000"/>
            </a:avLst>
          </a:prstGeom>
          <a:solidFill>
            <a:srgbClr val="E7F8F7"/>
          </a:solidFill>
          <a:ln w="20320">
            <a:solidFill>
              <a:srgbClr val="008C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008C96"/>
                </a:solidFill>
                <a:latin typeface="Aptos Display"/>
              </a:rPr>
              <a:t>Wabtec Digital Brazil</a:t>
            </a:r>
          </a:p>
          <a:p>
            <a:pPr algn="ctr"/>
            <a:r>
              <a:rPr sz="1100" b="0">
                <a:solidFill>
                  <a:srgbClr val="142C4B"/>
                </a:solidFill>
                <a:latin typeface="Aptos"/>
              </a:rPr>
              <a:t>Buys components</a:t>
            </a:r>
          </a:p>
          <a:p>
            <a:pPr algn="ctr"/>
            <a:r>
              <a:rPr sz="1100" b="0">
                <a:solidFill>
                  <a:srgbClr val="142C4B"/>
                </a:solidFill>
                <a:latin typeface="Aptos"/>
              </a:rPr>
              <a:t>Importer of record in Brazil</a:t>
            </a:r>
          </a:p>
          <a:p>
            <a:pPr algn="ctr"/>
            <a:r>
              <a:rPr sz="1100" b="0">
                <a:solidFill>
                  <a:srgbClr val="142C4B"/>
                </a:solidFill>
                <a:latin typeface="Aptos"/>
              </a:rPr>
              <a:t>Coordinates refurbishment</a:t>
            </a:r>
          </a:p>
          <a:p>
            <a:pPr algn="ctr"/>
            <a:r>
              <a:rPr sz="1100" b="0">
                <a:solidFill>
                  <a:srgbClr val="142C4B"/>
                </a:solidFill>
                <a:latin typeface="Aptos"/>
              </a:rPr>
              <a:t>Sells the finished Pathfinder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25063" y="3383280"/>
            <a:ext cx="13716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0160">
            <a:solidFill>
              <a:srgbClr val="2366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000" b="1">
                <a:solidFill>
                  <a:srgbClr val="2366AC"/>
                </a:solidFill>
                <a:latin typeface="Aptos"/>
              </a:rPr>
              <a:t>PN purchase + TP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95031" y="2967228"/>
            <a:ext cx="1371600" cy="5029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0160">
            <a:solidFill>
              <a:srgbClr val="2D8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000" b="1">
                <a:solidFill>
                  <a:srgbClr val="2D874F"/>
                </a:solidFill>
                <a:latin typeface="Aptos"/>
              </a:rPr>
              <a:t>Railcar remittance</a:t>
            </a:r>
          </a:p>
          <a:p>
            <a:pPr algn="ctr"/>
            <a:r>
              <a:rPr sz="1000" b="1">
                <a:solidFill>
                  <a:srgbClr val="2D874F"/>
                </a:solidFill>
                <a:latin typeface="Aptos"/>
              </a:rPr>
              <a:t>no sale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95031" y="3726179"/>
            <a:ext cx="1371600" cy="5029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0160">
            <a:solidFill>
              <a:srgbClr val="008C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000" b="1">
                <a:solidFill>
                  <a:srgbClr val="008C96"/>
                </a:solidFill>
                <a:latin typeface="Aptos"/>
              </a:rPr>
              <a:t>Sale of finished</a:t>
            </a:r>
          </a:p>
          <a:p>
            <a:pPr algn="ctr"/>
            <a:r>
              <a:rPr sz="1000" b="1">
                <a:solidFill>
                  <a:srgbClr val="008C96"/>
                </a:solidFill>
                <a:latin typeface="Aptos"/>
              </a:rPr>
              <a:t>Pathfinder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18407" y="2359152"/>
            <a:ext cx="1737360" cy="4754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0160">
            <a:solidFill>
              <a:srgbClr val="BA34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000" b="1">
                <a:solidFill>
                  <a:srgbClr val="BA3434"/>
                </a:solidFill>
                <a:latin typeface="Aptos"/>
              </a:rPr>
              <a:t>Finished Pathfinder</a:t>
            </a:r>
          </a:p>
          <a:p>
            <a:pPr algn="ctr"/>
            <a:r>
              <a:rPr sz="1000" b="1">
                <a:solidFill>
                  <a:srgbClr val="BA3434"/>
                </a:solidFill>
                <a:latin typeface="Aptos"/>
              </a:rPr>
              <a:t>Iron Ore Car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35927" y="2359152"/>
            <a:ext cx="1554480" cy="4754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0160">
            <a:solidFill>
              <a:srgbClr val="DE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000" b="1">
                <a:solidFill>
                  <a:srgbClr val="DE7E22"/>
                </a:solidFill>
                <a:latin typeface="Aptos"/>
              </a:rPr>
              <a:t>Railcar +</a:t>
            </a:r>
          </a:p>
          <a:p>
            <a:pPr algn="ctr"/>
            <a:r>
              <a:rPr sz="1000" b="1">
                <a:solidFill>
                  <a:srgbClr val="DE7E22"/>
                </a:solidFill>
                <a:latin typeface="Aptos"/>
              </a:rPr>
              <a:t>components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480560"/>
            <a:ext cx="11368735" cy="237744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874"/>
                </a:solidFill>
                <a:latin typeface="Aptos"/>
              </a:rPr>
              <a:t>SEVEN DEAL POINTS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727448"/>
            <a:ext cx="1553565" cy="6217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3970">
            <a:solidFill>
              <a:srgbClr val="2366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18288" rIns="45720" bIns="18288"/>
          <a:lstStyle/>
          <a:p>
            <a:pPr algn="ctr"/>
            <a:r>
              <a:rPr sz="1000" b="1">
                <a:solidFill>
                  <a:srgbClr val="142C4B"/>
                </a:solidFill>
                <a:latin typeface="Aptos"/>
              </a:rPr>
              <a:t>1  USA sells PNs + TP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47341" y="4727448"/>
            <a:ext cx="1553565" cy="6217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3970">
            <a:solidFill>
              <a:srgbClr val="2366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18288" rIns="45720" bIns="18288"/>
          <a:lstStyle/>
          <a:p>
            <a:pPr algn="ctr"/>
            <a:r>
              <a:rPr sz="1000" b="1">
                <a:solidFill>
                  <a:srgbClr val="142C4B"/>
                </a:solidFill>
                <a:latin typeface="Aptos"/>
              </a:rPr>
              <a:t>2  Digital Brazil imports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83203" y="4727448"/>
            <a:ext cx="1553565" cy="6217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3970">
            <a:solidFill>
              <a:srgbClr val="2D8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18288" rIns="45720" bIns="18288"/>
          <a:lstStyle/>
          <a:p>
            <a:pPr algn="ctr"/>
            <a:r>
              <a:rPr sz="1000" b="1">
                <a:solidFill>
                  <a:srgbClr val="142C4B"/>
                </a:solidFill>
                <a:latin typeface="Aptos"/>
              </a:rPr>
              <a:t>3  MRS owns the railcar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19064" y="4727448"/>
            <a:ext cx="1553565" cy="6217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3970">
            <a:solidFill>
              <a:srgbClr val="2D8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18288" rIns="45720" bIns="18288"/>
          <a:lstStyle/>
          <a:p>
            <a:pPr algn="ctr"/>
            <a:r>
              <a:rPr sz="1000" b="1">
                <a:solidFill>
                  <a:srgbClr val="142C4B"/>
                </a:solidFill>
                <a:latin typeface="Aptos"/>
              </a:rPr>
              <a:t>4  Remittance is not a sale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54926" y="4727448"/>
            <a:ext cx="1553565" cy="6217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3970">
            <a:solidFill>
              <a:srgbClr val="008C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18288" rIns="45720" bIns="18288"/>
          <a:lstStyle/>
          <a:p>
            <a:pPr algn="ctr"/>
            <a:r>
              <a:rPr sz="1000" b="1">
                <a:solidFill>
                  <a:srgbClr val="142C4B"/>
                </a:solidFill>
                <a:latin typeface="Aptos"/>
              </a:rPr>
              <a:t>5  Brazil sends railcar + components to Supermetal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90788" y="4727448"/>
            <a:ext cx="1553565" cy="6217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3970">
            <a:solidFill>
              <a:srgbClr val="DE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18288" rIns="45720" bIns="18288"/>
          <a:lstStyle/>
          <a:p>
            <a:pPr algn="ctr"/>
            <a:r>
              <a:rPr sz="1000" b="1">
                <a:solidFill>
                  <a:srgbClr val="142C4B"/>
                </a:solidFill>
                <a:latin typeface="Aptos"/>
              </a:rPr>
              <a:t>6  Supermetal returns finished Pathfinder + cost (TP?)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26649" y="4727448"/>
            <a:ext cx="1553565" cy="6217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3970">
            <a:solidFill>
              <a:srgbClr val="008C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18288" rIns="45720" bIns="18288"/>
          <a:lstStyle/>
          <a:p>
            <a:pPr algn="ctr"/>
            <a:r>
              <a:rPr sz="1000" b="1">
                <a:solidFill>
                  <a:srgbClr val="142C4B"/>
                </a:solidFill>
                <a:latin typeface="Aptos"/>
              </a:rPr>
              <a:t>7  Brazil sells the finished Pathfinder to MRS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5468112"/>
            <a:ext cx="3667658" cy="841248"/>
          </a:xfrm>
          <a:prstGeom prst="roundRect">
            <a:avLst>
              <a:gd name="adj" fmla="val 12000"/>
            </a:avLst>
          </a:prstGeom>
          <a:solidFill>
            <a:srgbClr val="E7F0FA"/>
          </a:solidFill>
          <a:ln w="20320">
            <a:solidFill>
              <a:srgbClr val="2366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2366AC"/>
                </a:solidFill>
                <a:latin typeface="Aptos Display"/>
              </a:rPr>
              <a:t>IMPORT  ·  Q1–Q4</a:t>
            </a:r>
          </a:p>
          <a:p>
            <a:pPr algn="ctr"/>
            <a:r>
              <a:rPr sz="1000" b="0">
                <a:solidFill>
                  <a:srgbClr val="142C4B"/>
                </a:solidFill>
                <a:latin typeface="Aptos"/>
              </a:rPr>
              <a:t>II, import PIS/COFINS, IPI, ICMS-import and customs costs. Digital Brazil = importer of record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62018" y="5468112"/>
            <a:ext cx="3667658" cy="841248"/>
          </a:xfrm>
          <a:prstGeom prst="roundRect">
            <a:avLst>
              <a:gd name="adj" fmla="val 12000"/>
            </a:avLst>
          </a:prstGeom>
          <a:solidFill>
            <a:srgbClr val="FFF3E2"/>
          </a:solidFill>
          <a:ln w="20320">
            <a:solidFill>
              <a:srgbClr val="DE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DE7E22"/>
                </a:solidFill>
                <a:latin typeface="Aptos Display"/>
              </a:rPr>
              <a:t>REMITTANCE + REFURBISHMENT  ·  Q5–Q8</a:t>
            </a:r>
          </a:p>
          <a:p>
            <a:pPr algn="ctr"/>
            <a:r>
              <a:rPr sz="1000" b="0">
                <a:solidFill>
                  <a:srgbClr val="142C4B"/>
                </a:solidFill>
                <a:latin typeface="Aptos"/>
              </a:rPr>
              <a:t>Remitted railcar and applied materials kept separate. Validate CFOP, ICMS, IPI and ISS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12556" y="5468112"/>
            <a:ext cx="3667658" cy="841248"/>
          </a:xfrm>
          <a:prstGeom prst="roundRect">
            <a:avLst>
              <a:gd name="adj" fmla="val 12000"/>
            </a:avLst>
          </a:prstGeom>
          <a:solidFill>
            <a:srgbClr val="E7F6EB"/>
          </a:solidFill>
          <a:ln w="20320">
            <a:solidFill>
              <a:srgbClr val="2D8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2D874F"/>
                </a:solidFill>
                <a:latin typeface="Aptos Display"/>
              </a:rPr>
              <a:t>SALE TO MRS  ·  Q9–Q12</a:t>
            </a:r>
          </a:p>
          <a:p>
            <a:pPr algn="ctr"/>
            <a:r>
              <a:rPr sz="1000" b="0">
                <a:solidFill>
                  <a:srgbClr val="142C4B"/>
                </a:solidFill>
                <a:latin typeface="Aptos"/>
              </a:rPr>
              <a:t>Final price = imported components (PN + TP + import costs) + Supermetal cost + Digital margin + output taxes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382512"/>
            <a:ext cx="11368735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BA3434"/>
                </a:solidFill>
                <a:latin typeface="Aptos"/>
              </a:rPr>
              <a:t>The remittance is not a sale of the railcar. Final tax treatment depends on entity, ownership, CFOP and tax classification — see the open tax questions on the next slide.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8735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2000" b="1">
                <a:solidFill>
                  <a:srgbClr val="142C4B"/>
                </a:solidFill>
                <a:latin typeface="Aptos"/>
              </a:rPr>
              <a:t>12 TAX QUESTIONS TO CLOSE BEFORE THE PATHFINDER IRON ORE CAR PRICE IS 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11368735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200" b="0">
                <a:solidFill>
                  <a:srgbClr val="5C6874"/>
                </a:solidFill>
                <a:latin typeface="Aptos"/>
              </a:rPr>
              <a:t>For the fiscal team to validate — none of these is answered in the current P&amp;L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51560"/>
            <a:ext cx="3667658" cy="4617720"/>
          </a:xfrm>
          <a:prstGeom prst="roundRect">
            <a:avLst>
              <a:gd name="adj" fmla="val 4000"/>
            </a:avLst>
          </a:prstGeom>
          <a:solidFill>
            <a:srgbClr val="E7F0FA"/>
          </a:solidFill>
          <a:ln w="20320">
            <a:solidFill>
              <a:srgbClr val="2366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09728" rIns="137160" bIns="73152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2366AC"/>
                </a:solidFill>
                <a:latin typeface="Aptos Display"/>
              </a:rPr>
              <a:t>IMPORT  ·  Digital Brazil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2366AC"/>
                </a:solidFill>
                <a:latin typeface="Aptos"/>
              </a:rPr>
              <a:t>Q1  </a:t>
            </a:r>
            <a:r>
              <a:rPr sz="1300" b="0">
                <a:solidFill>
                  <a:srgbClr val="142C4B"/>
                </a:solidFill>
                <a:latin typeface="Aptos"/>
              </a:rPr>
              <a:t>Transfer price: is the USA TP (13% / 17.2% is our placeholder) accepted as customs value between related parties? Which TP policy applies?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2366AC"/>
                </a:solidFill>
                <a:latin typeface="Aptos"/>
              </a:rPr>
              <a:t>Q2  </a:t>
            </a:r>
            <a:r>
              <a:rPr sz="1300" b="0">
                <a:solidFill>
                  <a:srgbClr val="142C4B"/>
                </a:solidFill>
                <a:latin typeface="Aptos"/>
              </a:rPr>
              <a:t>Ex-tarifário: can the Rack ship as one PN under one NCM covered by an ex (integrated systems can be refused)? Does the 1–2 year process fit the delivery date?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2366AC"/>
                </a:solidFill>
                <a:latin typeface="Aptos"/>
              </a:rPr>
              <a:t>Q3  </a:t>
            </a:r>
            <a:r>
              <a:rPr sz="1300" b="0">
                <a:solidFill>
                  <a:srgbClr val="142C4B"/>
                </a:solidFill>
                <a:latin typeface="Aptos"/>
              </a:rPr>
              <a:t>Software: are the licenses inside LXA / PTC / GoLinc part of the customs value, or separate payments (IRRF, CIDE, import PIS/COFINS on services)?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2366AC"/>
                </a:solidFill>
                <a:latin typeface="Aptos"/>
              </a:rPr>
              <a:t>Q4  </a:t>
            </a:r>
            <a:r>
              <a:rPr sz="1300" b="0">
                <a:solidFill>
                  <a:srgbClr val="142C4B"/>
                </a:solidFill>
                <a:latin typeface="Aptos"/>
              </a:rPr>
              <a:t>Credits: can Digital Brazil credit import ICMS and PIS/COFINS? Our P&amp;L treats them as pass-through to MRS.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62018" y="1051560"/>
            <a:ext cx="3667658" cy="4617720"/>
          </a:xfrm>
          <a:prstGeom prst="roundRect">
            <a:avLst>
              <a:gd name="adj" fmla="val 4000"/>
            </a:avLst>
          </a:prstGeom>
          <a:solidFill>
            <a:srgbClr val="FFF3E2"/>
          </a:solidFill>
          <a:ln w="20320">
            <a:solidFill>
              <a:srgbClr val="DE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09728" rIns="137160" bIns="73152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DE7E22"/>
                </a:solidFill>
                <a:latin typeface="Aptos Display"/>
              </a:rPr>
              <a:t>REMITTANCE + REFURBISHMENT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DE7E22"/>
                </a:solidFill>
                <a:latin typeface="Aptos"/>
              </a:rPr>
              <a:t>Q5  </a:t>
            </a:r>
            <a:r>
              <a:rPr sz="1300" b="0">
                <a:solidFill>
                  <a:srgbClr val="142C4B"/>
                </a:solidFill>
                <a:latin typeface="Aptos"/>
              </a:rPr>
              <a:t>Invoices: is the four-leg flow MRS → Digital → Supermetal → Digital valid as remittance for industrialization? Who is the ordering party, and are ICMS / IPI suspended on each leg?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DE7E22"/>
                </a:solidFill>
                <a:latin typeface="Aptos"/>
              </a:rPr>
              <a:t>Q6  </a:t>
            </a:r>
            <a:r>
              <a:rPr sz="1300" b="0">
                <a:solidFill>
                  <a:srgbClr val="142C4B"/>
                </a:solidFill>
                <a:latin typeface="Aptos"/>
              </a:rPr>
              <a:t>Nature: is refurbishing a used car industrialization (ICMS / IPI) or a service (ISS)? Which municipality — Contagem 2% or another?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DE7E22"/>
                </a:solidFill>
                <a:latin typeface="Aptos"/>
              </a:rPr>
              <a:t>Q7  </a:t>
            </a:r>
            <a:r>
              <a:rPr sz="1300" b="0">
                <a:solidFill>
                  <a:srgbClr val="142C4B"/>
                </a:solidFill>
                <a:latin typeface="Aptos"/>
              </a:rPr>
              <a:t>Value base: the railcar belongs to MRS. Is only the value added (labor + applied materials) taxed on return, and how is the car's value shown on the invoices?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DE7E22"/>
                </a:solidFill>
                <a:latin typeface="Aptos"/>
              </a:rPr>
              <a:t>Q8  </a:t>
            </a:r>
            <a:r>
              <a:rPr sz="1300" b="0">
                <a:solidFill>
                  <a:srgbClr val="142C4B"/>
                </a:solidFill>
                <a:latin typeface="Aptos"/>
              </a:rPr>
              <a:t>Supermetal TP: does Supermetal charge cost only, or cost + margin / TP? Which invoice base applies?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2556" y="1051560"/>
            <a:ext cx="3667658" cy="4617720"/>
          </a:xfrm>
          <a:prstGeom prst="roundRect">
            <a:avLst>
              <a:gd name="adj" fmla="val 4000"/>
            </a:avLst>
          </a:prstGeom>
          <a:solidFill>
            <a:srgbClr val="E7F6EB"/>
          </a:solidFill>
          <a:ln w="20320">
            <a:solidFill>
              <a:srgbClr val="2D8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09728" rIns="137160" bIns="73152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2D874F"/>
                </a:solidFill>
                <a:latin typeface="Aptos Display"/>
              </a:rPr>
              <a:t>SALE TO MRS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2D874F"/>
                </a:solidFill>
                <a:latin typeface="Aptos"/>
              </a:rPr>
              <a:t>Q9  </a:t>
            </a:r>
            <a:r>
              <a:rPr sz="1300" b="0">
                <a:solidFill>
                  <a:srgbClr val="142C4B"/>
                </a:solidFill>
                <a:latin typeface="Aptos"/>
              </a:rPr>
              <a:t>What is sold: a new Pathfinder unit (goods: ICMS / IPI / PIS / COFINS) or a service on MRS's own car (ISS)? This sets every output tax.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2D874F"/>
                </a:solidFill>
                <a:latin typeface="Aptos"/>
              </a:rPr>
              <a:t>Q10  </a:t>
            </a:r>
            <a:r>
              <a:rPr sz="1300" b="0">
                <a:solidFill>
                  <a:srgbClr val="142C4B"/>
                </a:solidFill>
                <a:latin typeface="Aptos"/>
              </a:rPr>
              <a:t>IPI: which NCM / TIPI rate applies to the finished car (wagon vs. control equipment), and who is the IPI taxpayer — Digital Brazil or Supermetal?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2D874F"/>
                </a:solidFill>
                <a:latin typeface="Aptos"/>
              </a:rPr>
              <a:t>Q11  </a:t>
            </a:r>
            <a:r>
              <a:rPr sz="1300" b="0">
                <a:solidFill>
                  <a:srgbClr val="142C4B"/>
                </a:solidFill>
                <a:latin typeface="Aptos"/>
              </a:rPr>
              <a:t>Client credits: can MRS credit ICMS (CIAP, 48 months) and PIS/COFINS? Does REIDI (PIS/COFINS suspension for rail infrastructure) apply? Drives MRS's ROI.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2D874F"/>
                </a:solidFill>
                <a:latin typeface="Aptos"/>
              </a:rPr>
              <a:t>Q12  </a:t>
            </a:r>
            <a:r>
              <a:rPr sz="1300" b="0">
                <a:solidFill>
                  <a:srgbClr val="142C4B"/>
                </a:solidFill>
                <a:latin typeface="Aptos"/>
              </a:rPr>
              <a:t>Tax reform: how do CBS / IBS (2026–2033 transition) affect the price and the contract? Who bears tax changes after signing?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5833872"/>
            <a:ext cx="11368735" cy="777240"/>
          </a:xfrm>
          <a:prstGeom prst="roundRect">
            <a:avLst>
              <a:gd name="adj" fmla="val 8000"/>
            </a:avLst>
          </a:prstGeom>
          <a:solidFill>
            <a:srgbClr val="14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54864" rIns="182880" bIns="54864"/>
          <a:lstStyle/>
          <a:p>
            <a:pPr algn="l"/>
            <a:r>
              <a:rPr sz="1150" b="1">
                <a:solidFill>
                  <a:srgbClr val="FFFFFF"/>
                </a:solidFill>
                <a:latin typeface="Aptos"/>
              </a:rPr>
              <a:t>Today's P&amp;L assumes: II 17.96% blended (only 6 of 47 imported items on a confirmed NCM), PIS/COFINS 10.06%, ICMS 18%, IPI 9.69%, all passed through to MRS; Supermetal cost without ISS; no ex-tarifário.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8735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2200" b="1">
                <a:solidFill>
                  <a:srgbClr val="142C4B"/>
                </a:solidFill>
                <a:latin typeface="Aptos"/>
              </a:rPr>
              <a:t>ESTRUTURA DO NEGÓCIO — PATHFINDER IRON ORE 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11368735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200" b="0">
                <a:solidFill>
                  <a:srgbClr val="5C6874"/>
                </a:solidFill>
                <a:latin typeface="Aptos"/>
              </a:rPr>
              <a:t>Fluxo de propriedade, componentes, reforma e venda final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926080" y="3611880"/>
            <a:ext cx="1569567" cy="0"/>
          </a:xfrm>
          <a:prstGeom prst="line">
            <a:avLst/>
          </a:prstGeom>
          <a:ln w="30480">
            <a:solidFill>
              <a:srgbClr val="2366A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7696047" y="3218688"/>
            <a:ext cx="1569568" cy="0"/>
          </a:xfrm>
          <a:prstGeom prst="line">
            <a:avLst/>
          </a:prstGeom>
          <a:ln w="30480">
            <a:solidFill>
              <a:srgbClr val="2D87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696047" y="3977639"/>
            <a:ext cx="1569568" cy="0"/>
          </a:xfrm>
          <a:prstGeom prst="line">
            <a:avLst/>
          </a:prstGeom>
          <a:ln w="30480">
            <a:solidFill>
              <a:srgbClr val="008C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547207" y="2313432"/>
            <a:ext cx="0" cy="566928"/>
          </a:xfrm>
          <a:prstGeom prst="line">
            <a:avLst/>
          </a:prstGeom>
          <a:ln w="30480">
            <a:solidFill>
              <a:srgbClr val="BA343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644487" y="2313432"/>
            <a:ext cx="0" cy="566928"/>
          </a:xfrm>
          <a:prstGeom prst="line">
            <a:avLst/>
          </a:prstGeom>
          <a:ln w="30480">
            <a:solidFill>
              <a:srgbClr val="DE7E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11480" y="2944368"/>
            <a:ext cx="2514600" cy="1325880"/>
          </a:xfrm>
          <a:prstGeom prst="roundRect">
            <a:avLst>
              <a:gd name="adj" fmla="val 12000"/>
            </a:avLst>
          </a:prstGeom>
          <a:solidFill>
            <a:srgbClr val="E7F0FA"/>
          </a:solidFill>
          <a:ln w="20320">
            <a:solidFill>
              <a:srgbClr val="2366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2366AC"/>
                </a:solidFill>
                <a:latin typeface="Aptos Display"/>
              </a:rPr>
              <a:t>Wabtec Digital USA</a:t>
            </a:r>
          </a:p>
          <a:p>
            <a:pPr algn="ctr"/>
            <a:r>
              <a:rPr sz="1100" b="0">
                <a:solidFill>
                  <a:srgbClr val="142C4B"/>
                </a:solidFill>
                <a:latin typeface="Aptos"/>
              </a:rPr>
              <a:t>Fornecedor dos PNs</a:t>
            </a:r>
          </a:p>
          <a:p>
            <a:pPr algn="ctr"/>
            <a:r>
              <a:rPr sz="1100" b="0">
                <a:solidFill>
                  <a:srgbClr val="142C4B"/>
                </a:solidFill>
                <a:latin typeface="Aptos"/>
              </a:rPr>
              <a:t>Vende componentes para a Digital Brasil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95647" y="987552"/>
            <a:ext cx="3200400" cy="1325880"/>
          </a:xfrm>
          <a:prstGeom prst="roundRect">
            <a:avLst>
              <a:gd name="adj" fmla="val 12000"/>
            </a:avLst>
          </a:prstGeom>
          <a:solidFill>
            <a:srgbClr val="FFF3E2"/>
          </a:solidFill>
          <a:ln w="20320">
            <a:solidFill>
              <a:srgbClr val="DE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DE7E22"/>
                </a:solidFill>
                <a:latin typeface="Aptos Display"/>
              </a:rPr>
              <a:t>Supermetal</a:t>
            </a:r>
          </a:p>
          <a:p>
            <a:pPr algn="ctr"/>
            <a:r>
              <a:rPr sz="1100" b="0">
                <a:solidFill>
                  <a:srgbClr val="142C4B"/>
                </a:solidFill>
                <a:latin typeface="Aptos"/>
              </a:rPr>
              <a:t>Recebe vagão + componentes</a:t>
            </a:r>
          </a:p>
          <a:p>
            <a:pPr algn="ctr"/>
            <a:r>
              <a:rPr sz="1100" b="0">
                <a:solidFill>
                  <a:srgbClr val="142C4B"/>
                </a:solidFill>
                <a:latin typeface="Aptos"/>
              </a:rPr>
              <a:t>Reforma e integra</a:t>
            </a:r>
          </a:p>
          <a:p>
            <a:pPr algn="ctr"/>
            <a:r>
              <a:rPr sz="1100" b="0">
                <a:solidFill>
                  <a:srgbClr val="142C4B"/>
                </a:solidFill>
                <a:latin typeface="Aptos"/>
              </a:rPr>
              <a:t>Devolve o Pathfinder Iron Ore Car pronto</a:t>
            </a:r>
          </a:p>
          <a:p>
            <a:pPr algn="ctr"/>
            <a:r>
              <a:rPr sz="1100" b="0">
                <a:solidFill>
                  <a:srgbClr val="142C4B"/>
                </a:solidFill>
                <a:latin typeface="Aptos"/>
              </a:rPr>
              <a:t>Custo + TP?  (pergunta em aberto Q8)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65615" y="2944368"/>
            <a:ext cx="2514600" cy="1325880"/>
          </a:xfrm>
          <a:prstGeom prst="roundRect">
            <a:avLst>
              <a:gd name="adj" fmla="val 12000"/>
            </a:avLst>
          </a:prstGeom>
          <a:solidFill>
            <a:srgbClr val="E7F6EB"/>
          </a:solidFill>
          <a:ln w="20320">
            <a:solidFill>
              <a:srgbClr val="2D8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2D874F"/>
                </a:solidFill>
                <a:latin typeface="Aptos Display"/>
              </a:rPr>
              <a:t>MRS</a:t>
            </a:r>
          </a:p>
          <a:p>
            <a:pPr algn="ctr"/>
            <a:r>
              <a:rPr sz="1100" b="0">
                <a:solidFill>
                  <a:srgbClr val="142C4B"/>
                </a:solidFill>
                <a:latin typeface="Aptos"/>
              </a:rPr>
              <a:t>Proprietária do vagão</a:t>
            </a:r>
          </a:p>
          <a:p>
            <a:pPr algn="ctr"/>
            <a:r>
              <a:rPr sz="1100" b="0">
                <a:solidFill>
                  <a:srgbClr val="142C4B"/>
                </a:solidFill>
                <a:latin typeface="Aptos"/>
              </a:rPr>
              <a:t>Envia em remessa</a:t>
            </a:r>
          </a:p>
          <a:p>
            <a:pPr algn="ctr"/>
            <a:r>
              <a:rPr sz="1100" b="0">
                <a:solidFill>
                  <a:srgbClr val="142C4B"/>
                </a:solidFill>
                <a:latin typeface="Aptos"/>
              </a:rPr>
              <a:t>Compra e recebe o Pathfinder pronto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95647" y="2880360"/>
            <a:ext cx="3200400" cy="1463040"/>
          </a:xfrm>
          <a:prstGeom prst="roundRect">
            <a:avLst>
              <a:gd name="adj" fmla="val 12000"/>
            </a:avLst>
          </a:prstGeom>
          <a:solidFill>
            <a:srgbClr val="E7F8F7"/>
          </a:solidFill>
          <a:ln w="20320">
            <a:solidFill>
              <a:srgbClr val="008C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008C96"/>
                </a:solidFill>
                <a:latin typeface="Aptos Display"/>
              </a:rPr>
              <a:t>Wabtec Digital Brasil</a:t>
            </a:r>
          </a:p>
          <a:p>
            <a:pPr algn="ctr"/>
            <a:r>
              <a:rPr sz="1100" b="0">
                <a:solidFill>
                  <a:srgbClr val="142C4B"/>
                </a:solidFill>
                <a:latin typeface="Aptos"/>
              </a:rPr>
              <a:t>Compra componentes</a:t>
            </a:r>
          </a:p>
          <a:p>
            <a:pPr algn="ctr"/>
            <a:r>
              <a:rPr sz="1100" b="0">
                <a:solidFill>
                  <a:srgbClr val="142C4B"/>
                </a:solidFill>
                <a:latin typeface="Aptos"/>
              </a:rPr>
              <a:t>Importadora oficial no Brasil</a:t>
            </a:r>
          </a:p>
          <a:p>
            <a:pPr algn="ctr"/>
            <a:r>
              <a:rPr sz="1100" b="0">
                <a:solidFill>
                  <a:srgbClr val="142C4B"/>
                </a:solidFill>
                <a:latin typeface="Aptos"/>
              </a:rPr>
              <a:t>Coordena a reforma</a:t>
            </a:r>
          </a:p>
          <a:p>
            <a:pPr algn="ctr"/>
            <a:r>
              <a:rPr sz="1100" b="0">
                <a:solidFill>
                  <a:srgbClr val="142C4B"/>
                </a:solidFill>
                <a:latin typeface="Aptos"/>
              </a:rPr>
              <a:t>Vende o Pathfinder pronto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25063" y="3383280"/>
            <a:ext cx="13716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0160">
            <a:solidFill>
              <a:srgbClr val="2366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000" b="1">
                <a:solidFill>
                  <a:srgbClr val="2366AC"/>
                </a:solidFill>
                <a:latin typeface="Aptos"/>
              </a:rPr>
              <a:t>Compra dos PNs + TP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95031" y="2967228"/>
            <a:ext cx="1371600" cy="5029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0160">
            <a:solidFill>
              <a:srgbClr val="2D8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000" b="1">
                <a:solidFill>
                  <a:srgbClr val="2D874F"/>
                </a:solidFill>
                <a:latin typeface="Aptos"/>
              </a:rPr>
              <a:t>Remessa do vagão</a:t>
            </a:r>
          </a:p>
          <a:p>
            <a:pPr algn="ctr"/>
            <a:r>
              <a:rPr sz="1000" b="1">
                <a:solidFill>
                  <a:srgbClr val="2D874F"/>
                </a:solidFill>
                <a:latin typeface="Aptos"/>
              </a:rPr>
              <a:t>sem venda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95031" y="3726179"/>
            <a:ext cx="1371600" cy="5029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0160">
            <a:solidFill>
              <a:srgbClr val="008C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000" b="1">
                <a:solidFill>
                  <a:srgbClr val="008C96"/>
                </a:solidFill>
                <a:latin typeface="Aptos"/>
              </a:rPr>
              <a:t>Venda do Pathfinder</a:t>
            </a:r>
          </a:p>
          <a:p>
            <a:pPr algn="ctr"/>
            <a:r>
              <a:rPr sz="1000" b="1">
                <a:solidFill>
                  <a:srgbClr val="008C96"/>
                </a:solidFill>
                <a:latin typeface="Aptos"/>
              </a:rPr>
              <a:t>pronto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18407" y="2359152"/>
            <a:ext cx="1737360" cy="4754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0160">
            <a:solidFill>
              <a:srgbClr val="BA34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000" b="1">
                <a:solidFill>
                  <a:srgbClr val="BA3434"/>
                </a:solidFill>
                <a:latin typeface="Aptos"/>
              </a:rPr>
              <a:t>Pathfinder</a:t>
            </a:r>
          </a:p>
          <a:p>
            <a:pPr algn="ctr"/>
            <a:r>
              <a:rPr sz="1000" b="1">
                <a:solidFill>
                  <a:srgbClr val="BA3434"/>
                </a:solidFill>
                <a:latin typeface="Aptos"/>
              </a:rPr>
              <a:t>Iron Ore Car pronto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35927" y="2359152"/>
            <a:ext cx="1554480" cy="4754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0160">
            <a:solidFill>
              <a:srgbClr val="DE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000" b="1">
                <a:solidFill>
                  <a:srgbClr val="DE7E22"/>
                </a:solidFill>
                <a:latin typeface="Aptos"/>
              </a:rPr>
              <a:t>Vagão +</a:t>
            </a:r>
          </a:p>
          <a:p>
            <a:pPr algn="ctr"/>
            <a:r>
              <a:rPr sz="1000" b="1">
                <a:solidFill>
                  <a:srgbClr val="DE7E22"/>
                </a:solidFill>
                <a:latin typeface="Aptos"/>
              </a:rPr>
              <a:t>componentes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480560"/>
            <a:ext cx="11368735" cy="237744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874"/>
                </a:solidFill>
                <a:latin typeface="Aptos"/>
              </a:rPr>
              <a:t>SETE PONTOS DO NEGÓCIO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727448"/>
            <a:ext cx="1553565" cy="6217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3970">
            <a:solidFill>
              <a:srgbClr val="2366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18288" rIns="45720" bIns="18288"/>
          <a:lstStyle/>
          <a:p>
            <a:pPr algn="ctr"/>
            <a:r>
              <a:rPr sz="1000" b="1">
                <a:solidFill>
                  <a:srgbClr val="142C4B"/>
                </a:solidFill>
                <a:latin typeface="Aptos"/>
              </a:rPr>
              <a:t>1  USA vende PNs + TP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47341" y="4727448"/>
            <a:ext cx="1553565" cy="6217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3970">
            <a:solidFill>
              <a:srgbClr val="2366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18288" rIns="45720" bIns="18288"/>
          <a:lstStyle/>
          <a:p>
            <a:pPr algn="ctr"/>
            <a:r>
              <a:rPr sz="1000" b="1">
                <a:solidFill>
                  <a:srgbClr val="142C4B"/>
                </a:solidFill>
                <a:latin typeface="Aptos"/>
              </a:rPr>
              <a:t>2  Digital Brasil importa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83203" y="4727448"/>
            <a:ext cx="1553565" cy="6217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3970">
            <a:solidFill>
              <a:srgbClr val="2D8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18288" rIns="45720" bIns="18288"/>
          <a:lstStyle/>
          <a:p>
            <a:pPr algn="ctr"/>
            <a:r>
              <a:rPr sz="1000" b="1">
                <a:solidFill>
                  <a:srgbClr val="142C4B"/>
                </a:solidFill>
                <a:latin typeface="Aptos"/>
              </a:rPr>
              <a:t>3  MRS é dona do vagão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19064" y="4727448"/>
            <a:ext cx="1553565" cy="6217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3970">
            <a:solidFill>
              <a:srgbClr val="2D8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18288" rIns="45720" bIns="18288"/>
          <a:lstStyle/>
          <a:p>
            <a:pPr algn="ctr"/>
            <a:r>
              <a:rPr sz="1000" b="1">
                <a:solidFill>
                  <a:srgbClr val="142C4B"/>
                </a:solidFill>
                <a:latin typeface="Aptos"/>
              </a:rPr>
              <a:t>4  Remessa não é venda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54926" y="4727448"/>
            <a:ext cx="1553565" cy="6217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3970">
            <a:solidFill>
              <a:srgbClr val="008C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18288" rIns="45720" bIns="18288"/>
          <a:lstStyle/>
          <a:p>
            <a:pPr algn="ctr"/>
            <a:r>
              <a:rPr sz="1000" b="1">
                <a:solidFill>
                  <a:srgbClr val="142C4B"/>
                </a:solidFill>
                <a:latin typeface="Aptos"/>
              </a:rPr>
              <a:t>5  Brasil envia vagão + componentes à Supermetal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90788" y="4727448"/>
            <a:ext cx="1553565" cy="6217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3970">
            <a:solidFill>
              <a:srgbClr val="DE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18288" rIns="45720" bIns="18288"/>
          <a:lstStyle/>
          <a:p>
            <a:pPr algn="ctr"/>
            <a:r>
              <a:rPr sz="1000" b="1">
                <a:solidFill>
                  <a:srgbClr val="142C4B"/>
                </a:solidFill>
                <a:latin typeface="Aptos"/>
              </a:rPr>
              <a:t>6  Supermetal devolve Pathfinder pronto + custo (TP?)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26649" y="4727448"/>
            <a:ext cx="1553565" cy="6217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3970">
            <a:solidFill>
              <a:srgbClr val="008C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18288" rIns="45720" bIns="18288"/>
          <a:lstStyle/>
          <a:p>
            <a:pPr algn="ctr"/>
            <a:r>
              <a:rPr sz="1000" b="1">
                <a:solidFill>
                  <a:srgbClr val="142C4B"/>
                </a:solidFill>
                <a:latin typeface="Aptos"/>
              </a:rPr>
              <a:t>7  Brasil vende o Pathfinder pronto à MRS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5468112"/>
            <a:ext cx="3667658" cy="841248"/>
          </a:xfrm>
          <a:prstGeom prst="roundRect">
            <a:avLst>
              <a:gd name="adj" fmla="val 12000"/>
            </a:avLst>
          </a:prstGeom>
          <a:solidFill>
            <a:srgbClr val="E7F0FA"/>
          </a:solidFill>
          <a:ln w="20320">
            <a:solidFill>
              <a:srgbClr val="2366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2366AC"/>
                </a:solidFill>
                <a:latin typeface="Aptos Display"/>
              </a:rPr>
              <a:t>IMPORTAÇÃO  ·  Q1–Q4</a:t>
            </a:r>
          </a:p>
          <a:p>
            <a:pPr algn="ctr"/>
            <a:r>
              <a:rPr sz="1000" b="0">
                <a:solidFill>
                  <a:srgbClr val="142C4B"/>
                </a:solidFill>
                <a:latin typeface="Aptos"/>
              </a:rPr>
              <a:t>II, PIS/COFINS-import, IPI, ICMS-import e custos aduaneiros. Digital Brasil = importadora oficial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62018" y="5468112"/>
            <a:ext cx="3667658" cy="841248"/>
          </a:xfrm>
          <a:prstGeom prst="roundRect">
            <a:avLst>
              <a:gd name="adj" fmla="val 12000"/>
            </a:avLst>
          </a:prstGeom>
          <a:solidFill>
            <a:srgbClr val="FFF3E2"/>
          </a:solidFill>
          <a:ln w="20320">
            <a:solidFill>
              <a:srgbClr val="DE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DE7E22"/>
                </a:solidFill>
                <a:latin typeface="Aptos Display"/>
              </a:rPr>
              <a:t>REMESSA + REFORMA  ·  Q5–Q8</a:t>
            </a:r>
          </a:p>
          <a:p>
            <a:pPr algn="ctr"/>
            <a:r>
              <a:rPr sz="1000" b="0">
                <a:solidFill>
                  <a:srgbClr val="142C4B"/>
                </a:solidFill>
                <a:latin typeface="Aptos"/>
              </a:rPr>
              <a:t>Separar vagão remetido e materiais aplicados. Validar CFOP, ICMS, IPI e ISS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12556" y="5468112"/>
            <a:ext cx="3667658" cy="841248"/>
          </a:xfrm>
          <a:prstGeom prst="roundRect">
            <a:avLst>
              <a:gd name="adj" fmla="val 12000"/>
            </a:avLst>
          </a:prstGeom>
          <a:solidFill>
            <a:srgbClr val="E7F6EB"/>
          </a:solidFill>
          <a:ln w="20320">
            <a:solidFill>
              <a:srgbClr val="2D8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2D874F"/>
                </a:solidFill>
                <a:latin typeface="Aptos Display"/>
              </a:rPr>
              <a:t>VENDA À MRS  ·  Q9–Q12</a:t>
            </a:r>
          </a:p>
          <a:p>
            <a:pPr algn="ctr"/>
            <a:r>
              <a:rPr sz="1000" b="0">
                <a:solidFill>
                  <a:srgbClr val="142C4B"/>
                </a:solidFill>
                <a:latin typeface="Aptos"/>
              </a:rPr>
              <a:t>Preço final = componentes importados (PN + TP + custos de importação) + custo Supermetal + margem Digital + impostos de saída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382512"/>
            <a:ext cx="11368735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BA3434"/>
                </a:solidFill>
                <a:latin typeface="Aptos"/>
              </a:rPr>
              <a:t>A remessa não é venda do vagão. O tratamento fiscal final depende da entidade, propriedade, CFOP e classificação tributária — ver as perguntas fiscais em aberto no próximo slide.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8735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2000" b="1">
                <a:solidFill>
                  <a:srgbClr val="142C4B"/>
                </a:solidFill>
                <a:latin typeface="Aptos"/>
              </a:rPr>
              <a:t>12 PERGUNTAS FISCAIS A FECHAR ANTES DE FIXAR O PREÇO DO PATHFINDER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11368735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200" b="0">
                <a:solidFill>
                  <a:srgbClr val="5C6874"/>
                </a:solidFill>
                <a:latin typeface="Aptos"/>
              </a:rPr>
              <a:t>Para o time fiscal validar — nenhuma está respondida no P&amp;L atual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51560"/>
            <a:ext cx="3667658" cy="4617720"/>
          </a:xfrm>
          <a:prstGeom prst="roundRect">
            <a:avLst>
              <a:gd name="adj" fmla="val 4000"/>
            </a:avLst>
          </a:prstGeom>
          <a:solidFill>
            <a:srgbClr val="E7F0FA"/>
          </a:solidFill>
          <a:ln w="20320">
            <a:solidFill>
              <a:srgbClr val="2366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09728" rIns="137160" bIns="73152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2366AC"/>
                </a:solidFill>
                <a:latin typeface="Aptos Display"/>
              </a:rPr>
              <a:t>IMPORTAÇÃO  ·  Digital Brasil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2366AC"/>
                </a:solidFill>
                <a:latin typeface="Aptos"/>
              </a:rPr>
              <a:t>Q1  </a:t>
            </a:r>
            <a:r>
              <a:rPr sz="1300" b="0">
                <a:solidFill>
                  <a:srgbClr val="142C4B"/>
                </a:solidFill>
                <a:latin typeface="Aptos"/>
              </a:rPr>
              <a:t>Transfer price: o TP da USA (13% / 17,2% é nosso placeholder) é aceito como valor aduaneiro entre partes relacionadas? Qual política de TP vale?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2366AC"/>
                </a:solidFill>
                <a:latin typeface="Aptos"/>
              </a:rPr>
              <a:t>Q2  </a:t>
            </a:r>
            <a:r>
              <a:rPr sz="1300" b="0">
                <a:solidFill>
                  <a:srgbClr val="142C4B"/>
                </a:solidFill>
                <a:latin typeface="Aptos"/>
              </a:rPr>
              <a:t>Ex-tarifário: o Rack pode ir como um PN único em uma NCM coberta por ex (sistemas integrados podem ser recusados)? O processo de 1–2 anos cabe no prazo de entrega?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2366AC"/>
                </a:solidFill>
                <a:latin typeface="Aptos"/>
              </a:rPr>
              <a:t>Q3  </a:t>
            </a:r>
            <a:r>
              <a:rPr sz="1300" b="0">
                <a:solidFill>
                  <a:srgbClr val="142C4B"/>
                </a:solidFill>
                <a:latin typeface="Aptos"/>
              </a:rPr>
              <a:t>Software: as licenças dentro de LXA / PTC / GoLinc entram no valor aduaneiro ou são pagamentos separados (IRRF, CIDE, PIS/COFINS-import sobre serviços)?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2366AC"/>
                </a:solidFill>
                <a:latin typeface="Aptos"/>
              </a:rPr>
              <a:t>Q4  </a:t>
            </a:r>
            <a:r>
              <a:rPr sz="1300" b="0">
                <a:solidFill>
                  <a:srgbClr val="142C4B"/>
                </a:solidFill>
                <a:latin typeface="Aptos"/>
              </a:rPr>
              <a:t>Créditos: a Digital Brasil credita ICMS-import e PIS/COFINS-import? O nosso P&amp;L trata como repasse à MRS.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62018" y="1051560"/>
            <a:ext cx="3667658" cy="4617720"/>
          </a:xfrm>
          <a:prstGeom prst="roundRect">
            <a:avLst>
              <a:gd name="adj" fmla="val 4000"/>
            </a:avLst>
          </a:prstGeom>
          <a:solidFill>
            <a:srgbClr val="FFF3E2"/>
          </a:solidFill>
          <a:ln w="20320">
            <a:solidFill>
              <a:srgbClr val="DE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09728" rIns="137160" bIns="73152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DE7E22"/>
                </a:solidFill>
                <a:latin typeface="Aptos Display"/>
              </a:rPr>
              <a:t>REMESSA + REFORMA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DE7E22"/>
                </a:solidFill>
                <a:latin typeface="Aptos"/>
              </a:rPr>
              <a:t>Q5  </a:t>
            </a:r>
            <a:r>
              <a:rPr sz="1300" b="0">
                <a:solidFill>
                  <a:srgbClr val="142C4B"/>
                </a:solidFill>
                <a:latin typeface="Aptos"/>
              </a:rPr>
              <a:t>Notas: o fluxo de quatro pernas MRS → Digital → Supermetal → Digital vale como remessa para industrialização? Quem é o encomendante e ICMS / IPI ficam suspensos em cada perna?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DE7E22"/>
                </a:solidFill>
                <a:latin typeface="Aptos"/>
              </a:rPr>
              <a:t>Q6  </a:t>
            </a:r>
            <a:r>
              <a:rPr sz="1300" b="0">
                <a:solidFill>
                  <a:srgbClr val="142C4B"/>
                </a:solidFill>
                <a:latin typeface="Aptos"/>
              </a:rPr>
              <a:t>Natureza: reformar um vagão usado é industrialização (ICMS / IPI) ou serviço (ISS)? Qual município — Contagem 2% ou outro?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DE7E22"/>
                </a:solidFill>
                <a:latin typeface="Aptos"/>
              </a:rPr>
              <a:t>Q7  </a:t>
            </a:r>
            <a:r>
              <a:rPr sz="1300" b="0">
                <a:solidFill>
                  <a:srgbClr val="142C4B"/>
                </a:solidFill>
                <a:latin typeface="Aptos"/>
              </a:rPr>
              <a:t>Base de valor: o vagão é da MRS. Só o valor agregado (mão de obra + materiais aplicados) é tributado no retorno, e como o valor do vagão aparece nas notas?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DE7E22"/>
                </a:solidFill>
                <a:latin typeface="Aptos"/>
              </a:rPr>
              <a:t>Q8  </a:t>
            </a:r>
            <a:r>
              <a:rPr sz="1300" b="0">
                <a:solidFill>
                  <a:srgbClr val="142C4B"/>
                </a:solidFill>
                <a:latin typeface="Aptos"/>
              </a:rPr>
              <a:t>TP da Supermetal: ela cobra só o custo, ou custo + margem / TP? Qual a base da nota?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2556" y="1051560"/>
            <a:ext cx="3667658" cy="4617720"/>
          </a:xfrm>
          <a:prstGeom prst="roundRect">
            <a:avLst>
              <a:gd name="adj" fmla="val 4000"/>
            </a:avLst>
          </a:prstGeom>
          <a:solidFill>
            <a:srgbClr val="E7F6EB"/>
          </a:solidFill>
          <a:ln w="20320">
            <a:solidFill>
              <a:srgbClr val="2D8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09728" rIns="137160" bIns="73152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2D874F"/>
                </a:solidFill>
                <a:latin typeface="Aptos Display"/>
              </a:rPr>
              <a:t>VENDA À MRS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2D874F"/>
                </a:solidFill>
                <a:latin typeface="Aptos"/>
              </a:rPr>
              <a:t>Q9  </a:t>
            </a:r>
            <a:r>
              <a:rPr sz="1300" b="0">
                <a:solidFill>
                  <a:srgbClr val="142C4B"/>
                </a:solidFill>
                <a:latin typeface="Aptos"/>
              </a:rPr>
              <a:t>O que se vende: uma unidade Pathfinder nova (mercadoria: ICMS / IPI / PIS / COFINS) ou um serviço no vagão da própria MRS (ISS)? Isso define todos os impostos de saída.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2D874F"/>
                </a:solidFill>
                <a:latin typeface="Aptos"/>
              </a:rPr>
              <a:t>Q10  </a:t>
            </a:r>
            <a:r>
              <a:rPr sz="1300" b="0">
                <a:solidFill>
                  <a:srgbClr val="142C4B"/>
                </a:solidFill>
                <a:latin typeface="Aptos"/>
              </a:rPr>
              <a:t>IPI: qual NCM / alíquota TIPI vale para o vagão pronto (vagão vs. equipamento de controle) e quem é o contribuinte do IPI — Digital Brasil ou Supermetal?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2D874F"/>
                </a:solidFill>
                <a:latin typeface="Aptos"/>
              </a:rPr>
              <a:t>Q11  </a:t>
            </a:r>
            <a:r>
              <a:rPr sz="1300" b="0">
                <a:solidFill>
                  <a:srgbClr val="142C4B"/>
                </a:solidFill>
                <a:latin typeface="Aptos"/>
              </a:rPr>
              <a:t>Créditos do cliente: a MRS credita ICMS (CIAP, 48 meses) e PIS/COFINS? O REIDI (suspensão de PIS/COFINS em infraestrutura ferroviária) se aplica? Define o ROI da MRS.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2D874F"/>
                </a:solidFill>
                <a:latin typeface="Aptos"/>
              </a:rPr>
              <a:t>Q12  </a:t>
            </a:r>
            <a:r>
              <a:rPr sz="1300" b="0">
                <a:solidFill>
                  <a:srgbClr val="142C4B"/>
                </a:solidFill>
                <a:latin typeface="Aptos"/>
              </a:rPr>
              <a:t>Reforma tributária: como CBS / IBS (transição 2026–2033) afetam o preço e o contrato? Quem arca com mudanças de imposto após a assinatura?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5833872"/>
            <a:ext cx="11368735" cy="777240"/>
          </a:xfrm>
          <a:prstGeom prst="roundRect">
            <a:avLst>
              <a:gd name="adj" fmla="val 8000"/>
            </a:avLst>
          </a:prstGeom>
          <a:solidFill>
            <a:srgbClr val="14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54864" rIns="182880" bIns="54864"/>
          <a:lstStyle/>
          <a:p>
            <a:pPr algn="l"/>
            <a:r>
              <a:rPr sz="1150" b="1">
                <a:solidFill>
                  <a:srgbClr val="FFFFFF"/>
                </a:solidFill>
                <a:latin typeface="Aptos"/>
              </a:rPr>
              <a:t>O P&amp;L de hoje assume: II 17,96% blended (só 6 de 47 itens importados com NCM confirmada), PIS/COFINS 10,06%, ICMS 18%, IPI 9,69%, tudo repassado à MRS; custo Supermetal sem ISS; sem ex-tarifário.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