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ayout>
        <c:manualLayout>
          <c:layoutTarget val="inner"/>
          <c:xMode val="edge"/>
          <c:yMode val="edge"/>
          <c:x val="0.03"/>
          <c:y val="0.1"/>
          <c:w val="0.76"/>
          <c:h val="0.66"/>
        </c:manualLayout>
      </c:layout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Our price (net, before local taxes)</c:v>
                </c:pt>
              </c:strCache>
            </c:strRef>
          </c:tx>
          <c:spPr>
            <a:solidFill>
              <a:srgbClr val="D70010"/>
            </a:solidFill>
          </c:spPr>
          <c:dLbls>
            <c:numFmt formatCode="&quot;US$&quot;0&quot;k&quot;" sourceLinked="0"/>
            <c:txPr>
              <a:bodyPr/>
              <a:lstStyle/>
              <a:p>
                <a:pPr>
                  <a:defRPr sz="1400" b="1">
                    <a:solidFill>
                      <a:srgbClr val="FFFFFF"/>
                    </a:solidFill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1  Base
(2 battery sets,
import duty in)</c:v>
                </c:pt>
                <c:pt idx="1">
                  <c:v>2  No import
duty (II = 0)</c:v>
                </c:pt>
                <c:pt idx="2">
                  <c:v>3  One battery
set (II in)</c:v>
                </c:pt>
                <c:pt idx="3">
                  <c:v>4  No II +
one battery set</c:v>
                </c:pt>
                <c:pt idx="4">
                  <c:v>US reference
(US$900k US price
landed in Brazil)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945</c:v>
                </c:pt>
                <c:pt idx="1">
                  <c:v>845</c:v>
                </c:pt>
                <c:pt idx="2">
                  <c:v>908</c:v>
                </c:pt>
                <c:pt idx="3">
                  <c:v>813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Local taxes (PIS/COFINS + ICMS + IPI)</c:v>
                </c:pt>
              </c:strCache>
            </c:strRef>
          </c:tx>
          <c:spPr>
            <a:solidFill>
              <a:srgbClr val="3685C0"/>
            </a:solidFill>
          </c:spPr>
          <c:dLbls>
            <c:numFmt formatCode="&quot;US$&quot;0&quot;k&quot;" sourceLinked="0"/>
            <c:txPr>
              <a:bodyPr/>
              <a:lstStyle/>
              <a:p>
                <a:pPr>
                  <a:defRPr sz="1400" b="1">
                    <a:solidFill>
                      <a:srgbClr val="FFFFFF"/>
                    </a:solidFill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1  Base
(2 battery sets,
import duty in)</c:v>
                </c:pt>
                <c:pt idx="1">
                  <c:v>2  No import
duty (II = 0)</c:v>
                </c:pt>
                <c:pt idx="2">
                  <c:v>3  One battery
set (II in)</c:v>
                </c:pt>
                <c:pt idx="3">
                  <c:v>4  No II +
one battery set</c:v>
                </c:pt>
                <c:pt idx="4">
                  <c:v>US reference
(US$900k US price
landed in Brazil)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461</c:v>
                </c:pt>
                <c:pt idx="1">
                  <c:v>412</c:v>
                </c:pt>
                <c:pt idx="2">
                  <c:v>442</c:v>
                </c:pt>
                <c:pt idx="3">
                  <c:v>396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US reference: US price (product)</c:v>
                </c:pt>
              </c:strCache>
            </c:strRef>
          </c:tx>
          <c:spPr>
            <a:solidFill>
              <a:srgbClr val="757588"/>
            </a:solidFill>
          </c:spPr>
          <c:dLbls>
            <c:numFmt formatCode="&quot;US$&quot;0&quot;k&quot;" sourceLinked="0"/>
            <c:txPr>
              <a:bodyPr/>
              <a:lstStyle/>
              <a:p>
                <a:pPr>
                  <a:defRPr sz="1200" b="1">
                    <a:solidFill>
                      <a:srgbClr val="FFFFFF"/>
                    </a:solidFill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1  Base
(2 battery sets,
import duty in)</c:v>
                </c:pt>
                <c:pt idx="1">
                  <c:v>2  No import
duty (II = 0)</c:v>
                </c:pt>
                <c:pt idx="2">
                  <c:v>3  One battery
set (II in)</c:v>
                </c:pt>
                <c:pt idx="3">
                  <c:v>4  No II +
one battery set</c:v>
                </c:pt>
                <c:pt idx="4">
                  <c:v>US reference
(US$900k US price
landed in Brazil)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4">
                  <c:v>899.9999999999999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US reference: freight + insurance</c:v>
                </c:pt>
              </c:strCache>
            </c:strRef>
          </c:tx>
          <c:spPr>
            <a:solidFill>
              <a:srgbClr val="00847E"/>
            </a:solidFill>
          </c:spPr>
          <c:cat>
            <c:strRef>
              <c:f>Sheet1!$A$2:$A$6</c:f>
              <c:strCache>
                <c:ptCount val="5"/>
                <c:pt idx="0">
                  <c:v>1  Base
(2 battery sets,
import duty in)</c:v>
                </c:pt>
                <c:pt idx="1">
                  <c:v>2  No import
duty (II = 0)</c:v>
                </c:pt>
                <c:pt idx="2">
                  <c:v>3  One battery
set (II in)</c:v>
                </c:pt>
                <c:pt idx="3">
                  <c:v>4  No II +
one battery set</c:v>
                </c:pt>
                <c:pt idx="4">
                  <c:v>US reference
(US$900k US price
landed in Brazil)</c:v>
                </c:pt>
              </c:strCache>
            </c:strRef>
          </c:cat>
          <c:val>
            <c:numRef>
              <c:f>Sheet1!$E$2:$E$6</c:f>
              <c:numCache>
                <c:formatCode>General</c:formatCode>
                <c:ptCount val="5"/>
                <c:pt idx="4">
                  <c:v>80.49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US reference: customs / import expenses</c:v>
                </c:pt>
              </c:strCache>
            </c:strRef>
          </c:tx>
          <c:spPr>
            <a:solidFill>
              <a:srgbClr val="FFAB18"/>
            </a:solidFill>
          </c:spPr>
          <c:cat>
            <c:strRef>
              <c:f>Sheet1!$A$2:$A$6</c:f>
              <c:strCache>
                <c:ptCount val="5"/>
                <c:pt idx="0">
                  <c:v>1  Base
(2 battery sets,
import duty in)</c:v>
                </c:pt>
                <c:pt idx="1">
                  <c:v>2  No import
duty (II = 0)</c:v>
                </c:pt>
                <c:pt idx="2">
                  <c:v>3  One battery
set (II in)</c:v>
                </c:pt>
                <c:pt idx="3">
                  <c:v>4  No II +
one battery set</c:v>
                </c:pt>
                <c:pt idx="4">
                  <c:v>US reference
(US$900k US price
landed in Brazil)</c:v>
                </c:pt>
              </c:strCache>
            </c:strRef>
          </c:cat>
          <c:val>
            <c:numRef>
              <c:f>Sheet1!$F$2:$F$6</c:f>
              <c:numCache>
                <c:formatCode>General</c:formatCode>
                <c:ptCount val="5"/>
                <c:pt idx="4">
                  <c:v>16.842856601941747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US reference: all import taxes</c:v>
                </c:pt>
              </c:strCache>
            </c:strRef>
          </c:tx>
          <c:spPr>
            <a:solidFill>
              <a:srgbClr val="3685C0"/>
            </a:solidFill>
          </c:spPr>
          <c:dLbls>
            <c:numFmt formatCode="&quot;US$&quot;0&quot;k&quot;" sourceLinked="0"/>
            <c:txPr>
              <a:bodyPr/>
              <a:lstStyle/>
              <a:p>
                <a:pPr>
                  <a:defRPr sz="1200" b="1">
                    <a:solidFill>
                      <a:srgbClr val="FFFFFF"/>
                    </a:solidFill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1  Base
(2 battery sets,
import duty in)</c:v>
                </c:pt>
                <c:pt idx="1">
                  <c:v>2  No import
duty (II = 0)</c:v>
                </c:pt>
                <c:pt idx="2">
                  <c:v>3  One battery
set (II in)</c:v>
                </c:pt>
                <c:pt idx="3">
                  <c:v>4  No II +
one battery set</c:v>
                </c:pt>
                <c:pt idx="4">
                  <c:v>US reference
(US$900k US price
landed in Brazil)</c:v>
                </c:pt>
              </c:strCache>
            </c:strRef>
          </c:cat>
          <c:val>
            <c:numRef>
              <c:f>Sheet1!$G$2:$G$6</c:f>
              <c:numCache>
                <c:formatCode>General</c:formatCode>
                <c:ptCount val="5"/>
                <c:pt idx="4">
                  <c:v>715.6979140243899</c:v>
                </c:pt>
              </c:numCache>
            </c:numRef>
          </c:val>
        </c:ser>
        <c:gapWidth val="55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757588"/>
            </a:solidFill>
          </a:ln>
        </c:spPr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900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b"/>
      <c:legendEntry>
        <c:idx val="2"/>
        <c:delete val="1"/>
      </c:legendEntry>
      <c:legendEntry>
        <c:idx val="3"/>
        <c:delete val="1"/>
      </c:legendEntry>
      <c:legendEntry>
        <c:idx val="4"/>
        <c:delete val="1"/>
      </c:legendEntry>
      <c:legendEntry>
        <c:idx val="5"/>
        <c:delete val="1"/>
      </c:legendEntry>
      <c:overlay val="0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100">
          <a:solidFill>
            <a:srgbClr val="2B2A2F"/>
          </a:solidFill>
          <a:latin typeface="Aptos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ayout>
        <c:manualLayout>
          <c:layoutTarget val="inner"/>
          <c:xMode val="edge"/>
          <c:yMode val="edge"/>
          <c:x val="0.03"/>
          <c:y val="0.1"/>
          <c:w val="0.76"/>
          <c:h val="0.66"/>
        </c:manualLayout>
      </c:layout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Nosso preço (líquido, antes dos impostos locais)</c:v>
                </c:pt>
              </c:strCache>
            </c:strRef>
          </c:tx>
          <c:spPr>
            <a:solidFill>
              <a:srgbClr val="D70010"/>
            </a:solidFill>
          </c:spPr>
          <c:dLbls>
            <c:numFmt formatCode="&quot;US$&quot;0&quot;k&quot;" sourceLinked="0"/>
            <c:txPr>
              <a:bodyPr/>
              <a:lstStyle/>
              <a:p>
                <a:pPr>
                  <a:defRPr sz="1400" b="1">
                    <a:solidFill>
                      <a:srgbClr val="FFFFFF"/>
                    </a:solidFill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1  Base
(2 jogos de baterias,
II incluído)</c:v>
                </c:pt>
                <c:pt idx="1">
                  <c:v>2  Sem imposto de
importação (II = 0)</c:v>
                </c:pt>
                <c:pt idx="2">
                  <c:v>3  Um jogo de
baterias (II incluído)</c:v>
                </c:pt>
                <c:pt idx="3">
                  <c:v>4  Sem II +
um jogo de baterias</c:v>
                </c:pt>
                <c:pt idx="4">
                  <c:v>Referência EUA
(preço EUA US$900k
posto no Brasil)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945</c:v>
                </c:pt>
                <c:pt idx="1">
                  <c:v>845</c:v>
                </c:pt>
                <c:pt idx="2">
                  <c:v>908</c:v>
                </c:pt>
                <c:pt idx="3">
                  <c:v>813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Impostos locais (PIS/COFINS + ICMS + IPI)</c:v>
                </c:pt>
              </c:strCache>
            </c:strRef>
          </c:tx>
          <c:spPr>
            <a:solidFill>
              <a:srgbClr val="3685C0"/>
            </a:solidFill>
          </c:spPr>
          <c:dLbls>
            <c:numFmt formatCode="&quot;US$&quot;0&quot;k&quot;" sourceLinked="0"/>
            <c:txPr>
              <a:bodyPr/>
              <a:lstStyle/>
              <a:p>
                <a:pPr>
                  <a:defRPr sz="1400" b="1">
                    <a:solidFill>
                      <a:srgbClr val="FFFFFF"/>
                    </a:solidFill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1  Base
(2 jogos de baterias,
II incluído)</c:v>
                </c:pt>
                <c:pt idx="1">
                  <c:v>2  Sem imposto de
importação (II = 0)</c:v>
                </c:pt>
                <c:pt idx="2">
                  <c:v>3  Um jogo de
baterias (II incluído)</c:v>
                </c:pt>
                <c:pt idx="3">
                  <c:v>4  Sem II +
um jogo de baterias</c:v>
                </c:pt>
                <c:pt idx="4">
                  <c:v>Referência EUA
(preço EUA US$900k
posto no Brasil)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461</c:v>
                </c:pt>
                <c:pt idx="1">
                  <c:v>412</c:v>
                </c:pt>
                <c:pt idx="2">
                  <c:v>442</c:v>
                </c:pt>
                <c:pt idx="3">
                  <c:v>396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Referência EUA: preço EUA (produto)</c:v>
                </c:pt>
              </c:strCache>
            </c:strRef>
          </c:tx>
          <c:spPr>
            <a:solidFill>
              <a:srgbClr val="757588"/>
            </a:solidFill>
          </c:spPr>
          <c:dLbls>
            <c:numFmt formatCode="&quot;US$&quot;0&quot;k&quot;" sourceLinked="0"/>
            <c:txPr>
              <a:bodyPr/>
              <a:lstStyle/>
              <a:p>
                <a:pPr>
                  <a:defRPr sz="1200" b="1">
                    <a:solidFill>
                      <a:srgbClr val="FFFFFF"/>
                    </a:solidFill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1  Base
(2 jogos de baterias,
II incluído)</c:v>
                </c:pt>
                <c:pt idx="1">
                  <c:v>2  Sem imposto de
importação (II = 0)</c:v>
                </c:pt>
                <c:pt idx="2">
                  <c:v>3  Um jogo de
baterias (II incluído)</c:v>
                </c:pt>
                <c:pt idx="3">
                  <c:v>4  Sem II +
um jogo de baterias</c:v>
                </c:pt>
                <c:pt idx="4">
                  <c:v>Referência EUA
(preço EUA US$900k
posto no Brasil)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4">
                  <c:v>899.9999999999999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Referência EUA: frete + seguro</c:v>
                </c:pt>
              </c:strCache>
            </c:strRef>
          </c:tx>
          <c:spPr>
            <a:solidFill>
              <a:srgbClr val="00847E"/>
            </a:solidFill>
          </c:spPr>
          <c:cat>
            <c:strRef>
              <c:f>Sheet1!$A$2:$A$6</c:f>
              <c:strCache>
                <c:ptCount val="5"/>
                <c:pt idx="0">
                  <c:v>1  Base
(2 jogos de baterias,
II incluído)</c:v>
                </c:pt>
                <c:pt idx="1">
                  <c:v>2  Sem imposto de
importação (II = 0)</c:v>
                </c:pt>
                <c:pt idx="2">
                  <c:v>3  Um jogo de
baterias (II incluído)</c:v>
                </c:pt>
                <c:pt idx="3">
                  <c:v>4  Sem II +
um jogo de baterias</c:v>
                </c:pt>
                <c:pt idx="4">
                  <c:v>Referência EUA
(preço EUA US$900k
posto no Brasil)</c:v>
                </c:pt>
              </c:strCache>
            </c:strRef>
          </c:cat>
          <c:val>
            <c:numRef>
              <c:f>Sheet1!$E$2:$E$6</c:f>
              <c:numCache>
                <c:formatCode>General</c:formatCode>
                <c:ptCount val="5"/>
                <c:pt idx="4">
                  <c:v>80.49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Referência EUA: despesas aduaneiras</c:v>
                </c:pt>
              </c:strCache>
            </c:strRef>
          </c:tx>
          <c:spPr>
            <a:solidFill>
              <a:srgbClr val="FFAB18"/>
            </a:solidFill>
          </c:spPr>
          <c:cat>
            <c:strRef>
              <c:f>Sheet1!$A$2:$A$6</c:f>
              <c:strCache>
                <c:ptCount val="5"/>
                <c:pt idx="0">
                  <c:v>1  Base
(2 jogos de baterias,
II incluído)</c:v>
                </c:pt>
                <c:pt idx="1">
                  <c:v>2  Sem imposto de
importação (II = 0)</c:v>
                </c:pt>
                <c:pt idx="2">
                  <c:v>3  Um jogo de
baterias (II incluído)</c:v>
                </c:pt>
                <c:pt idx="3">
                  <c:v>4  Sem II +
um jogo de baterias</c:v>
                </c:pt>
                <c:pt idx="4">
                  <c:v>Referência EUA
(preço EUA US$900k
posto no Brasil)</c:v>
                </c:pt>
              </c:strCache>
            </c:strRef>
          </c:cat>
          <c:val>
            <c:numRef>
              <c:f>Sheet1!$F$2:$F$6</c:f>
              <c:numCache>
                <c:formatCode>General</c:formatCode>
                <c:ptCount val="5"/>
                <c:pt idx="4">
                  <c:v>16.842856601941747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Referência EUA: todos os impostos de importação</c:v>
                </c:pt>
              </c:strCache>
            </c:strRef>
          </c:tx>
          <c:spPr>
            <a:solidFill>
              <a:srgbClr val="3685C0"/>
            </a:solidFill>
          </c:spPr>
          <c:dLbls>
            <c:numFmt formatCode="&quot;US$&quot;0&quot;k&quot;" sourceLinked="0"/>
            <c:txPr>
              <a:bodyPr/>
              <a:lstStyle/>
              <a:p>
                <a:pPr>
                  <a:defRPr sz="1200" b="1">
                    <a:solidFill>
                      <a:srgbClr val="FFFFFF"/>
                    </a:solidFill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1  Base
(2 jogos de baterias,
II incluído)</c:v>
                </c:pt>
                <c:pt idx="1">
                  <c:v>2  Sem imposto de
importação (II = 0)</c:v>
                </c:pt>
                <c:pt idx="2">
                  <c:v>3  Um jogo de
baterias (II incluído)</c:v>
                </c:pt>
                <c:pt idx="3">
                  <c:v>4  Sem II +
um jogo de baterias</c:v>
                </c:pt>
                <c:pt idx="4">
                  <c:v>Referência EUA
(preço EUA US$900k
posto no Brasil)</c:v>
                </c:pt>
              </c:strCache>
            </c:strRef>
          </c:cat>
          <c:val>
            <c:numRef>
              <c:f>Sheet1!$G$2:$G$6</c:f>
              <c:numCache>
                <c:formatCode>General</c:formatCode>
                <c:ptCount val="5"/>
                <c:pt idx="4">
                  <c:v>715.6979140243899</c:v>
                </c:pt>
              </c:numCache>
            </c:numRef>
          </c:val>
        </c:ser>
        <c:gapWidth val="55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757588"/>
            </a:solidFill>
          </a:ln>
        </c:spPr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900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b"/>
      <c:legendEntry>
        <c:idx val="2"/>
        <c:delete val="1"/>
      </c:legendEntry>
      <c:legendEntry>
        <c:idx val="3"/>
        <c:delete val="1"/>
      </c:legendEntry>
      <c:legendEntry>
        <c:idx val="4"/>
        <c:delete val="1"/>
      </c:legendEntry>
      <c:legendEntry>
        <c:idx val="5"/>
        <c:delete val="1"/>
      </c:legendEntry>
      <c:overlay val="0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100">
          <a:solidFill>
            <a:srgbClr val="2B2A2F"/>
          </a:solidFill>
          <a:latin typeface="Aptos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274320"/>
            <a:ext cx="82296" cy="731520"/>
          </a:xfrm>
          <a:prstGeom prst="rect">
            <a:avLst/>
          </a:prstGeom>
          <a:solidFill>
            <a:srgbClr val="D70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74320"/>
            <a:ext cx="11247120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600" b="1">
                <a:solidFill>
                  <a:srgbClr val="2B2A2F"/>
                </a:solidFill>
                <a:latin typeface="Aptos Display"/>
              </a:rPr>
              <a:t>Even with zero import duty and one battery set, local taxes keep the Pathfinder expensive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11480" y="1143000"/>
          <a:ext cx="704088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ectangle 4"/>
          <p:cNvSpPr/>
          <p:nvPr/>
        </p:nvSpPr>
        <p:spPr>
          <a:xfrm>
            <a:off x="654893" y="1679204"/>
            <a:ext cx="1005840" cy="42062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wrap="square" lIns="0" tIns="0" rIns="0" bIns="18288"/>
          <a:lstStyle/>
          <a:p>
            <a:pPr algn="ctr"/>
            <a:r>
              <a:rPr sz="1400" b="1">
                <a:solidFill>
                  <a:srgbClr val="2B2A2F"/>
                </a:solidFill>
                <a:latin typeface="Aptos Display"/>
              </a:rPr>
              <a:t>US$1,406k</a:t>
            </a:r>
          </a:p>
        </p:txBody>
      </p:sp>
      <p:sp>
        <p:nvSpPr>
          <p:cNvPr id="6" name="Rectangle 5"/>
          <p:cNvSpPr/>
          <p:nvPr/>
        </p:nvSpPr>
        <p:spPr>
          <a:xfrm>
            <a:off x="1725107" y="1868513"/>
            <a:ext cx="1005840" cy="42062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wrap="square" lIns="0" tIns="0" rIns="0" bIns="18288"/>
          <a:lstStyle/>
          <a:p>
            <a:pPr algn="ctr"/>
            <a:r>
              <a:rPr sz="1400" b="1">
                <a:solidFill>
                  <a:srgbClr val="2B2A2F"/>
                </a:solidFill>
                <a:latin typeface="Aptos Display"/>
              </a:rPr>
              <a:t>US$1,257k</a:t>
            </a:r>
          </a:p>
        </p:txBody>
      </p:sp>
      <p:sp>
        <p:nvSpPr>
          <p:cNvPr id="7" name="Rectangle 6"/>
          <p:cNvSpPr/>
          <p:nvPr/>
        </p:nvSpPr>
        <p:spPr>
          <a:xfrm>
            <a:off x="2795320" y="1750354"/>
            <a:ext cx="1005840" cy="42062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wrap="square" lIns="0" tIns="0" rIns="0" bIns="18288"/>
          <a:lstStyle/>
          <a:p>
            <a:pPr algn="ctr"/>
            <a:r>
              <a:rPr sz="1400" b="1">
                <a:solidFill>
                  <a:srgbClr val="2B2A2F"/>
                </a:solidFill>
                <a:latin typeface="Aptos Display"/>
              </a:rPr>
              <a:t>US$1,350k</a:t>
            </a:r>
          </a:p>
        </p:txBody>
      </p:sp>
      <p:sp>
        <p:nvSpPr>
          <p:cNvPr id="8" name="Rectangle 7"/>
          <p:cNvSpPr/>
          <p:nvPr/>
        </p:nvSpPr>
        <p:spPr>
          <a:xfrm>
            <a:off x="3865534" y="1928228"/>
            <a:ext cx="1005840" cy="42062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wrap="square" lIns="0" tIns="0" rIns="0" bIns="18288"/>
          <a:lstStyle/>
          <a:p>
            <a:pPr algn="ctr"/>
            <a:r>
              <a:rPr sz="1400" b="1">
                <a:solidFill>
                  <a:srgbClr val="2B2A2F"/>
                </a:solidFill>
                <a:latin typeface="Aptos Display"/>
              </a:rPr>
              <a:t>US$1,210k</a:t>
            </a:r>
          </a:p>
        </p:txBody>
      </p:sp>
      <p:sp>
        <p:nvSpPr>
          <p:cNvPr id="9" name="Rectangle 8"/>
          <p:cNvSpPr/>
          <p:nvPr/>
        </p:nvSpPr>
        <p:spPr>
          <a:xfrm>
            <a:off x="4935748" y="1289149"/>
            <a:ext cx="1005840" cy="42062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wrap="square" lIns="0" tIns="0" rIns="0" bIns="18288"/>
          <a:lstStyle/>
          <a:p>
            <a:pPr algn="ctr"/>
            <a:r>
              <a:rPr sz="1400" b="1">
                <a:solidFill>
                  <a:srgbClr val="2B2A2F"/>
                </a:solidFill>
                <a:latin typeface="Aptos Display"/>
              </a:rPr>
              <a:t>US$1,713k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83898" y="2708318"/>
            <a:ext cx="265176" cy="18288"/>
          </a:xfrm>
          <a:prstGeom prst="rect">
            <a:avLst/>
          </a:prstGeom>
          <a:solidFill>
            <a:srgbClr val="0084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49074" y="1188720"/>
            <a:ext cx="1631885" cy="310896"/>
          </a:xfrm>
          <a:prstGeom prst="rect">
            <a:avLst/>
          </a:prstGeom>
          <a:solidFill>
            <a:srgbClr val="0031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rIns="73152" bIns="27432"/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How the US$900k becomes US$1,713k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49074" y="1517904"/>
            <a:ext cx="82296" cy="384048"/>
          </a:xfrm>
          <a:prstGeom prst="rect">
            <a:avLst/>
          </a:prstGeom>
          <a:solidFill>
            <a:srgbClr val="7575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31370" y="1517904"/>
            <a:ext cx="1549589" cy="384048"/>
          </a:xfrm>
          <a:prstGeom prst="rect">
            <a:avLst/>
          </a:prstGeom>
          <a:solidFill>
            <a:srgbClr val="F8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tIns="27432" rIns="54864" bIns="18288"/>
          <a:lstStyle/>
          <a:p>
            <a:pPr algn="l"/>
            <a:r>
              <a:rPr sz="1200" b="1">
                <a:solidFill>
                  <a:srgbClr val="2B2A2F"/>
                </a:solidFill>
                <a:latin typeface="Aptos Display"/>
              </a:rPr>
              <a:t>US$900k</a:t>
            </a:r>
          </a:p>
          <a:p>
            <a:pPr algn="l"/>
            <a:r>
              <a:rPr sz="800" b="0">
                <a:solidFill>
                  <a:srgbClr val="2B2A2F"/>
                </a:solidFill>
                <a:latin typeface="Aptos"/>
              </a:rPr>
              <a:t>US price (product, unchanged)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49074" y="1920240"/>
            <a:ext cx="82296" cy="384048"/>
          </a:xfrm>
          <a:prstGeom prst="rect">
            <a:avLst/>
          </a:prstGeom>
          <a:solidFill>
            <a:srgbClr val="0084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31370" y="1920240"/>
            <a:ext cx="1549589" cy="384048"/>
          </a:xfrm>
          <a:prstGeom prst="rect">
            <a:avLst/>
          </a:prstGeom>
          <a:solidFill>
            <a:srgbClr val="F8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tIns="27432" rIns="54864" bIns="18288"/>
          <a:lstStyle/>
          <a:p>
            <a:pPr algn="l"/>
            <a:r>
              <a:rPr sz="1200" b="1">
                <a:solidFill>
                  <a:srgbClr val="2B2A2F"/>
                </a:solidFill>
                <a:latin typeface="Aptos Display"/>
              </a:rPr>
              <a:t>US$80k</a:t>
            </a:r>
          </a:p>
          <a:p>
            <a:pPr algn="l"/>
            <a:r>
              <a:rPr sz="800" b="0">
                <a:solidFill>
                  <a:srgbClr val="2B2A2F"/>
                </a:solidFill>
                <a:latin typeface="Aptos"/>
              </a:rPr>
              <a:t>+ Freight + insurance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49074" y="2322576"/>
            <a:ext cx="82296" cy="420624"/>
          </a:xfrm>
          <a:prstGeom prst="rect">
            <a:avLst/>
          </a:prstGeom>
          <a:solidFill>
            <a:srgbClr val="FFAB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31370" y="2322576"/>
            <a:ext cx="1549589" cy="420624"/>
          </a:xfrm>
          <a:prstGeom prst="rect">
            <a:avLst/>
          </a:prstGeom>
          <a:solidFill>
            <a:srgbClr val="F8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tIns="27432" rIns="54864" bIns="18288"/>
          <a:lstStyle/>
          <a:p>
            <a:pPr algn="l"/>
            <a:r>
              <a:rPr sz="1200" b="1">
                <a:solidFill>
                  <a:srgbClr val="2B2A2F"/>
                </a:solidFill>
                <a:latin typeface="Aptos Display"/>
              </a:rPr>
              <a:t>US$17k</a:t>
            </a:r>
          </a:p>
          <a:p>
            <a:pPr algn="l"/>
            <a:r>
              <a:rPr sz="800" b="0">
                <a:solidFill>
                  <a:srgbClr val="2B2A2F"/>
                </a:solidFill>
                <a:latin typeface="Aptos"/>
              </a:rPr>
              <a:t>+ Customs / import expenses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49074" y="2761488"/>
            <a:ext cx="82296" cy="603504"/>
          </a:xfrm>
          <a:prstGeom prst="rect">
            <a:avLst/>
          </a:prstGeom>
          <a:solidFill>
            <a:srgbClr val="368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31370" y="2761488"/>
            <a:ext cx="1549589" cy="603504"/>
          </a:xfrm>
          <a:prstGeom prst="rect">
            <a:avLst/>
          </a:prstGeom>
          <a:solidFill>
            <a:srgbClr val="F8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tIns="27432" rIns="54864" bIns="18288"/>
          <a:lstStyle/>
          <a:p>
            <a:pPr algn="l"/>
            <a:r>
              <a:rPr sz="1200" b="1">
                <a:solidFill>
                  <a:srgbClr val="2B2A2F"/>
                </a:solidFill>
                <a:latin typeface="Aptos Display"/>
              </a:rPr>
              <a:t>US$716k</a:t>
            </a:r>
          </a:p>
          <a:p>
            <a:pPr algn="l"/>
            <a:r>
              <a:rPr sz="800" b="0">
                <a:solidFill>
                  <a:srgbClr val="2B2A2F"/>
                </a:solidFill>
                <a:latin typeface="Aptos"/>
              </a:rPr>
              <a:t>+ All import taxes (II, IPI, PIS/COFINS, ICMS)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49074" y="3383280"/>
            <a:ext cx="1631885" cy="365760"/>
          </a:xfrm>
          <a:prstGeom prst="rect">
            <a:avLst/>
          </a:prstGeom>
          <a:noFill/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 rIns="54864" bIns="18288"/>
          <a:lstStyle/>
          <a:p>
            <a:pPr algn="l"/>
            <a:r>
              <a:rPr sz="1200" b="1">
                <a:solidFill>
                  <a:srgbClr val="2B2A2F"/>
                </a:solidFill>
                <a:latin typeface="Aptos Display"/>
              </a:rPr>
              <a:t>US$1,713k  </a:t>
            </a:r>
            <a:r>
              <a:rPr sz="800" b="0">
                <a:solidFill>
                  <a:srgbClr val="757588"/>
                </a:solidFill>
                <a:latin typeface="Aptos"/>
              </a:rPr>
              <a:t>= Landed in Brazil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26679" y="1143000"/>
            <a:ext cx="73152" cy="1078992"/>
          </a:xfrm>
          <a:prstGeom prst="rect">
            <a:avLst/>
          </a:prstGeom>
          <a:solidFill>
            <a:srgbClr val="368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99831" y="1143000"/>
            <a:ext cx="3977639" cy="1078992"/>
          </a:xfrm>
          <a:prstGeom prst="rect">
            <a:avLst/>
          </a:prstGeom>
          <a:solidFill>
            <a:srgbClr val="F8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36576" rIns="109728" bIns="36576"/>
          <a:lstStyle/>
          <a:p>
            <a:pPr algn="l"/>
            <a:r>
              <a:rPr sz="3000" b="1">
                <a:solidFill>
                  <a:srgbClr val="2B2A2F"/>
                </a:solidFill>
                <a:latin typeface="Aptos Display"/>
              </a:rPr>
              <a:t>US$149k</a:t>
            </a:r>
          </a:p>
          <a:p>
            <a:pPr algn="l"/>
            <a:r>
              <a:rPr sz="1200" b="0">
                <a:solidFill>
                  <a:srgbClr val="2B2A2F"/>
                </a:solidFill>
                <a:latin typeface="Aptos"/>
              </a:rPr>
              <a:t>Effect of removing ALL import duty (II) on the final client price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26679" y="2340864"/>
            <a:ext cx="73152" cy="1078992"/>
          </a:xfrm>
          <a:prstGeom prst="rect">
            <a:avLst/>
          </a:prstGeom>
          <a:solidFill>
            <a:srgbClr val="D70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799831" y="2340864"/>
            <a:ext cx="3977639" cy="1078992"/>
          </a:xfrm>
          <a:prstGeom prst="rect">
            <a:avLst/>
          </a:prstGeom>
          <a:solidFill>
            <a:srgbClr val="F8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36576" rIns="109728" bIns="36576"/>
          <a:lstStyle/>
          <a:p>
            <a:pPr algn="l"/>
            <a:r>
              <a:rPr sz="3000" b="1">
                <a:solidFill>
                  <a:srgbClr val="2B2A2F"/>
                </a:solidFill>
                <a:latin typeface="Aptos Display"/>
              </a:rPr>
              <a:t>US$461k</a:t>
            </a:r>
          </a:p>
          <a:p>
            <a:pPr algn="l"/>
            <a:r>
              <a:rPr sz="1200" b="0">
                <a:solidFill>
                  <a:srgbClr val="2B2A2F"/>
                </a:solidFill>
                <a:latin typeface="Aptos"/>
              </a:rPr>
              <a:t>Local taxes on top of our net price in the base case = 3.1x the II effect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26679" y="3538728"/>
            <a:ext cx="73152" cy="1078992"/>
          </a:xfrm>
          <a:prstGeom prst="rect">
            <a:avLst/>
          </a:prstGeom>
          <a:solidFill>
            <a:srgbClr val="368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799831" y="3538728"/>
            <a:ext cx="3977639" cy="1078992"/>
          </a:xfrm>
          <a:prstGeom prst="rect">
            <a:avLst/>
          </a:prstGeom>
          <a:solidFill>
            <a:srgbClr val="F8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36576" rIns="109728" bIns="36576"/>
          <a:lstStyle/>
          <a:p>
            <a:pPr algn="l"/>
            <a:r>
              <a:rPr sz="3000" b="1">
                <a:solidFill>
                  <a:srgbClr val="2B2A2F"/>
                </a:solidFill>
                <a:latin typeface="Aptos Display"/>
              </a:rPr>
              <a:t>US$1,713k</a:t>
            </a:r>
          </a:p>
          <a:p>
            <a:pPr algn="l"/>
            <a:r>
              <a:rPr sz="1200" b="0">
                <a:solidFill>
                  <a:srgbClr val="2B2A2F"/>
                </a:solidFill>
                <a:latin typeface="Aptos"/>
              </a:rPr>
              <a:t>US$900k US price + US$80k freight/insurance + US$17k import expenses + US$716k import taxes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4937760"/>
            <a:ext cx="11365992" cy="777240"/>
          </a:xfrm>
          <a:prstGeom prst="rect">
            <a:avLst/>
          </a:prstGeom>
          <a:solidFill>
            <a:srgbClr val="0031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Removing all import duty and using one battery set still leaves a final price of US$1,210k. What makes the Pathfinder expensive for MRS is the local Brazilian taxes, not the import duty.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" y="5779008"/>
            <a:ext cx="11365992" cy="914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tIns="0" rIns="0" bIns="0"/>
          <a:lstStyle/>
          <a:p>
            <a:pPr algn="l"/>
            <a:r>
              <a:rPr sz="1000" b="0">
                <a:solidFill>
                  <a:srgbClr val="2B2A2F"/>
                </a:solidFill>
                <a:latin typeface="Aptos"/>
              </a:rPr>
              <a:t>II matters more than its face value because it sits inside the cost: it is multiplied by the margin (1/(1-45%)) and by the local tax cascade (~2.7x), and local taxes still outweigh it.</a:t>
            </a:r>
          </a:p>
          <a:p>
            <a:pPr algn="l"/>
            <a:r>
              <a:rPr sz="1000" b="0">
                <a:solidFill>
                  <a:srgbClr val="757588"/>
                </a:solidFill>
                <a:latin typeface="Aptos"/>
              </a:rPr>
              <a:t>Assumptions (scenarios): TDM 45%; FX 5.10 BRL/USD; II 17.96% blended (only 6 of 47 imported items have a confirmed NCM, the rest at a worst-case 18%); PIS/COFINS 10.06%, ICMS 18%, IPI 9.69% passed through to MRS; Supermetal refurbishment included, no ISS; 27 items still without a quote are excluded. US landed reference: complete import-cost workbook ('Pathfinder Pronto' sheet), FX 5.15 BRL/USD, product US$900k + freight/insurance US$80.5k + import expenses US$16.8k + all import taxes US$715.7k = US$1,713.0k; not the same scope as the scenario estimates.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274320"/>
            <a:ext cx="82296" cy="731520"/>
          </a:xfrm>
          <a:prstGeom prst="rect">
            <a:avLst/>
          </a:prstGeom>
          <a:solidFill>
            <a:srgbClr val="D70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74320"/>
            <a:ext cx="11247120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600" b="1">
                <a:solidFill>
                  <a:srgbClr val="2B2A2F"/>
                </a:solidFill>
                <a:latin typeface="Aptos Display"/>
              </a:rPr>
              <a:t>Mesmo sem II, os impostos locais encarecem o Pathfinder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11480" y="1143000"/>
          <a:ext cx="704088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ectangle 4"/>
          <p:cNvSpPr/>
          <p:nvPr/>
        </p:nvSpPr>
        <p:spPr>
          <a:xfrm>
            <a:off x="654893" y="1679204"/>
            <a:ext cx="1005840" cy="42062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wrap="square" lIns="0" tIns="0" rIns="0" bIns="18288"/>
          <a:lstStyle/>
          <a:p>
            <a:pPr algn="ctr"/>
            <a:r>
              <a:rPr sz="1400" b="1">
                <a:solidFill>
                  <a:srgbClr val="2B2A2F"/>
                </a:solidFill>
                <a:latin typeface="Aptos Display"/>
              </a:rPr>
              <a:t>US$1.406k</a:t>
            </a:r>
          </a:p>
        </p:txBody>
      </p:sp>
      <p:sp>
        <p:nvSpPr>
          <p:cNvPr id="6" name="Rectangle 5"/>
          <p:cNvSpPr/>
          <p:nvPr/>
        </p:nvSpPr>
        <p:spPr>
          <a:xfrm>
            <a:off x="1725107" y="1868513"/>
            <a:ext cx="1005840" cy="42062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wrap="square" lIns="0" tIns="0" rIns="0" bIns="18288"/>
          <a:lstStyle/>
          <a:p>
            <a:pPr algn="ctr"/>
            <a:r>
              <a:rPr sz="1400" b="1">
                <a:solidFill>
                  <a:srgbClr val="2B2A2F"/>
                </a:solidFill>
                <a:latin typeface="Aptos Display"/>
              </a:rPr>
              <a:t>US$1.257k</a:t>
            </a:r>
          </a:p>
        </p:txBody>
      </p:sp>
      <p:sp>
        <p:nvSpPr>
          <p:cNvPr id="7" name="Rectangle 6"/>
          <p:cNvSpPr/>
          <p:nvPr/>
        </p:nvSpPr>
        <p:spPr>
          <a:xfrm>
            <a:off x="2795320" y="1750354"/>
            <a:ext cx="1005840" cy="42062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wrap="square" lIns="0" tIns="0" rIns="0" bIns="18288"/>
          <a:lstStyle/>
          <a:p>
            <a:pPr algn="ctr"/>
            <a:r>
              <a:rPr sz="1400" b="1">
                <a:solidFill>
                  <a:srgbClr val="2B2A2F"/>
                </a:solidFill>
                <a:latin typeface="Aptos Display"/>
              </a:rPr>
              <a:t>US$1.350k</a:t>
            </a:r>
          </a:p>
        </p:txBody>
      </p:sp>
      <p:sp>
        <p:nvSpPr>
          <p:cNvPr id="8" name="Rectangle 7"/>
          <p:cNvSpPr/>
          <p:nvPr/>
        </p:nvSpPr>
        <p:spPr>
          <a:xfrm>
            <a:off x="3865534" y="1928228"/>
            <a:ext cx="1005840" cy="42062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wrap="square" lIns="0" tIns="0" rIns="0" bIns="18288"/>
          <a:lstStyle/>
          <a:p>
            <a:pPr algn="ctr"/>
            <a:r>
              <a:rPr sz="1400" b="1">
                <a:solidFill>
                  <a:srgbClr val="2B2A2F"/>
                </a:solidFill>
                <a:latin typeface="Aptos Display"/>
              </a:rPr>
              <a:t>US$1.210k</a:t>
            </a:r>
          </a:p>
        </p:txBody>
      </p:sp>
      <p:sp>
        <p:nvSpPr>
          <p:cNvPr id="9" name="Rectangle 8"/>
          <p:cNvSpPr/>
          <p:nvPr/>
        </p:nvSpPr>
        <p:spPr>
          <a:xfrm>
            <a:off x="4935748" y="1289149"/>
            <a:ext cx="1005840" cy="42062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wrap="square" lIns="0" tIns="0" rIns="0" bIns="18288"/>
          <a:lstStyle/>
          <a:p>
            <a:pPr algn="ctr"/>
            <a:r>
              <a:rPr sz="1400" b="1">
                <a:solidFill>
                  <a:srgbClr val="2B2A2F"/>
                </a:solidFill>
                <a:latin typeface="Aptos Display"/>
              </a:rPr>
              <a:t>US$1.713k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83898" y="2708318"/>
            <a:ext cx="265176" cy="18288"/>
          </a:xfrm>
          <a:prstGeom prst="rect">
            <a:avLst/>
          </a:prstGeom>
          <a:solidFill>
            <a:srgbClr val="0084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49074" y="1188720"/>
            <a:ext cx="1631885" cy="310896"/>
          </a:xfrm>
          <a:prstGeom prst="rect">
            <a:avLst/>
          </a:prstGeom>
          <a:solidFill>
            <a:srgbClr val="0031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rIns="73152" bIns="27432"/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Como os US$900k viram US$1.713k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49074" y="1517904"/>
            <a:ext cx="82296" cy="384048"/>
          </a:xfrm>
          <a:prstGeom prst="rect">
            <a:avLst/>
          </a:prstGeom>
          <a:solidFill>
            <a:srgbClr val="7575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31370" y="1517904"/>
            <a:ext cx="1549589" cy="384048"/>
          </a:xfrm>
          <a:prstGeom prst="rect">
            <a:avLst/>
          </a:prstGeom>
          <a:solidFill>
            <a:srgbClr val="F8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tIns="27432" rIns="54864" bIns="18288"/>
          <a:lstStyle/>
          <a:p>
            <a:pPr algn="l"/>
            <a:r>
              <a:rPr sz="1200" b="1">
                <a:solidFill>
                  <a:srgbClr val="2B2A2F"/>
                </a:solidFill>
                <a:latin typeface="Aptos Display"/>
              </a:rPr>
              <a:t>US$900k</a:t>
            </a:r>
          </a:p>
          <a:p>
            <a:pPr algn="l"/>
            <a:r>
              <a:rPr sz="800" b="0">
                <a:solidFill>
                  <a:srgbClr val="2B2A2F"/>
                </a:solidFill>
                <a:latin typeface="Aptos"/>
              </a:rPr>
              <a:t>Preço EUA (produto, inalterado)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49074" y="1920240"/>
            <a:ext cx="82296" cy="384048"/>
          </a:xfrm>
          <a:prstGeom prst="rect">
            <a:avLst/>
          </a:prstGeom>
          <a:solidFill>
            <a:srgbClr val="0084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31370" y="1920240"/>
            <a:ext cx="1549589" cy="384048"/>
          </a:xfrm>
          <a:prstGeom prst="rect">
            <a:avLst/>
          </a:prstGeom>
          <a:solidFill>
            <a:srgbClr val="F8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tIns="27432" rIns="54864" bIns="18288"/>
          <a:lstStyle/>
          <a:p>
            <a:pPr algn="l"/>
            <a:r>
              <a:rPr sz="1200" b="1">
                <a:solidFill>
                  <a:srgbClr val="2B2A2F"/>
                </a:solidFill>
                <a:latin typeface="Aptos Display"/>
              </a:rPr>
              <a:t>US$80k</a:t>
            </a:r>
          </a:p>
          <a:p>
            <a:pPr algn="l"/>
            <a:r>
              <a:rPr sz="800" b="0">
                <a:solidFill>
                  <a:srgbClr val="2B2A2F"/>
                </a:solidFill>
                <a:latin typeface="Aptos"/>
              </a:rPr>
              <a:t>+ Frete + seguro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49074" y="2322576"/>
            <a:ext cx="82296" cy="420624"/>
          </a:xfrm>
          <a:prstGeom prst="rect">
            <a:avLst/>
          </a:prstGeom>
          <a:solidFill>
            <a:srgbClr val="FFAB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31370" y="2322576"/>
            <a:ext cx="1549589" cy="420624"/>
          </a:xfrm>
          <a:prstGeom prst="rect">
            <a:avLst/>
          </a:prstGeom>
          <a:solidFill>
            <a:srgbClr val="F8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tIns="27432" rIns="54864" bIns="18288"/>
          <a:lstStyle/>
          <a:p>
            <a:pPr algn="l"/>
            <a:r>
              <a:rPr sz="1200" b="1">
                <a:solidFill>
                  <a:srgbClr val="2B2A2F"/>
                </a:solidFill>
                <a:latin typeface="Aptos Display"/>
              </a:rPr>
              <a:t>US$17k</a:t>
            </a:r>
          </a:p>
          <a:p>
            <a:pPr algn="l"/>
            <a:r>
              <a:rPr sz="800" b="0">
                <a:solidFill>
                  <a:srgbClr val="2B2A2F"/>
                </a:solidFill>
                <a:latin typeface="Aptos"/>
              </a:rPr>
              <a:t>+ Despesas aduaneiras / importação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49074" y="2761488"/>
            <a:ext cx="82296" cy="603504"/>
          </a:xfrm>
          <a:prstGeom prst="rect">
            <a:avLst/>
          </a:prstGeom>
          <a:solidFill>
            <a:srgbClr val="368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31370" y="2761488"/>
            <a:ext cx="1549589" cy="603504"/>
          </a:xfrm>
          <a:prstGeom prst="rect">
            <a:avLst/>
          </a:prstGeom>
          <a:solidFill>
            <a:srgbClr val="F8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tIns="27432" rIns="54864" bIns="18288"/>
          <a:lstStyle/>
          <a:p>
            <a:pPr algn="l"/>
            <a:r>
              <a:rPr sz="1200" b="1">
                <a:solidFill>
                  <a:srgbClr val="2B2A2F"/>
                </a:solidFill>
                <a:latin typeface="Aptos Display"/>
              </a:rPr>
              <a:t>US$716k</a:t>
            </a:r>
          </a:p>
          <a:p>
            <a:pPr algn="l"/>
            <a:r>
              <a:rPr sz="800" b="0">
                <a:solidFill>
                  <a:srgbClr val="2B2A2F"/>
                </a:solidFill>
                <a:latin typeface="Aptos"/>
              </a:rPr>
              <a:t>+ Todos os impostos de importação (II, IPI, PIS/COFINS, ICMS)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49074" y="3383280"/>
            <a:ext cx="1631885" cy="365760"/>
          </a:xfrm>
          <a:prstGeom prst="rect">
            <a:avLst/>
          </a:prstGeom>
          <a:noFill/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 rIns="54864" bIns="18288"/>
          <a:lstStyle/>
          <a:p>
            <a:pPr algn="l"/>
            <a:r>
              <a:rPr sz="1200" b="1">
                <a:solidFill>
                  <a:srgbClr val="2B2A2F"/>
                </a:solidFill>
                <a:latin typeface="Aptos Display"/>
              </a:rPr>
              <a:t>US$1.713k  </a:t>
            </a:r>
            <a:r>
              <a:rPr sz="800" b="0">
                <a:solidFill>
                  <a:srgbClr val="757588"/>
                </a:solidFill>
                <a:latin typeface="Aptos"/>
              </a:rPr>
              <a:t>= Posto no Brasil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26679" y="1143000"/>
            <a:ext cx="73152" cy="1078992"/>
          </a:xfrm>
          <a:prstGeom prst="rect">
            <a:avLst/>
          </a:prstGeom>
          <a:solidFill>
            <a:srgbClr val="368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99831" y="1143000"/>
            <a:ext cx="3977639" cy="1078992"/>
          </a:xfrm>
          <a:prstGeom prst="rect">
            <a:avLst/>
          </a:prstGeom>
          <a:solidFill>
            <a:srgbClr val="F8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36576" rIns="109728" bIns="36576"/>
          <a:lstStyle/>
          <a:p>
            <a:pPr algn="l"/>
            <a:r>
              <a:rPr sz="3000" b="1">
                <a:solidFill>
                  <a:srgbClr val="2B2A2F"/>
                </a:solidFill>
                <a:latin typeface="Aptos Display"/>
              </a:rPr>
              <a:t>US$149k</a:t>
            </a:r>
          </a:p>
          <a:p>
            <a:pPr algn="l"/>
            <a:r>
              <a:rPr sz="1200" b="0">
                <a:solidFill>
                  <a:srgbClr val="2B2A2F"/>
                </a:solidFill>
                <a:latin typeface="Aptos"/>
              </a:rPr>
              <a:t>Efeito de zerar TODO o imposto de importação (II) no preço final ao cliente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26679" y="2340864"/>
            <a:ext cx="73152" cy="1078992"/>
          </a:xfrm>
          <a:prstGeom prst="rect">
            <a:avLst/>
          </a:prstGeom>
          <a:solidFill>
            <a:srgbClr val="D70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799831" y="2340864"/>
            <a:ext cx="3977639" cy="1078992"/>
          </a:xfrm>
          <a:prstGeom prst="rect">
            <a:avLst/>
          </a:prstGeom>
          <a:solidFill>
            <a:srgbClr val="F8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36576" rIns="109728" bIns="36576"/>
          <a:lstStyle/>
          <a:p>
            <a:pPr algn="l"/>
            <a:r>
              <a:rPr sz="3000" b="1">
                <a:solidFill>
                  <a:srgbClr val="2B2A2F"/>
                </a:solidFill>
                <a:latin typeface="Aptos Display"/>
              </a:rPr>
              <a:t>US$461k</a:t>
            </a:r>
          </a:p>
          <a:p>
            <a:pPr algn="l"/>
            <a:r>
              <a:rPr sz="1200" b="0">
                <a:solidFill>
                  <a:srgbClr val="2B2A2F"/>
                </a:solidFill>
                <a:latin typeface="Aptos"/>
              </a:rPr>
              <a:t>Impostos locais sobre o nosso preço líquido no caso base = 3,1x o efeito do II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26679" y="3538728"/>
            <a:ext cx="73152" cy="1078992"/>
          </a:xfrm>
          <a:prstGeom prst="rect">
            <a:avLst/>
          </a:prstGeom>
          <a:solidFill>
            <a:srgbClr val="368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799831" y="3538728"/>
            <a:ext cx="3977639" cy="1078992"/>
          </a:xfrm>
          <a:prstGeom prst="rect">
            <a:avLst/>
          </a:prstGeom>
          <a:solidFill>
            <a:srgbClr val="F8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36576" rIns="109728" bIns="36576"/>
          <a:lstStyle/>
          <a:p>
            <a:pPr algn="l"/>
            <a:r>
              <a:rPr sz="3000" b="1">
                <a:solidFill>
                  <a:srgbClr val="2B2A2F"/>
                </a:solidFill>
                <a:latin typeface="Aptos Display"/>
              </a:rPr>
              <a:t>US$1.713k</a:t>
            </a:r>
          </a:p>
          <a:p>
            <a:pPr algn="l"/>
            <a:r>
              <a:rPr sz="1200" b="0">
                <a:solidFill>
                  <a:srgbClr val="2B2A2F"/>
                </a:solidFill>
                <a:latin typeface="Aptos"/>
              </a:rPr>
              <a:t>Preço EUA US$900k + US$80k frete/seguro + US$17k despesas + US$716k impostos de importação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4937760"/>
            <a:ext cx="11365992" cy="777240"/>
          </a:xfrm>
          <a:prstGeom prst="rect">
            <a:avLst/>
          </a:prstGeom>
          <a:solidFill>
            <a:srgbClr val="0031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Zerar todo o imposto de importação e usar um só jogo de baterias ainda deixa o preço final em US$1.210k. O que encarece o Pathfinder para a MRS são os impostos locais brasileiros, não o imposto de importação.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" y="5779008"/>
            <a:ext cx="11365992" cy="914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tIns="0" rIns="0" bIns="0"/>
          <a:lstStyle/>
          <a:p>
            <a:pPr algn="l"/>
            <a:r>
              <a:rPr sz="1000" b="0">
                <a:solidFill>
                  <a:srgbClr val="2B2A2F"/>
                </a:solidFill>
                <a:latin typeface="Aptos"/>
              </a:rPr>
              <a:t>O II pesa mais que o seu valor nominal porque está dentro do custo: é multiplicado pela margem (1/(1-45%)) e pela cascata de impostos locais (~2,7x), e mesmo assim os impostos locais pesam mais.</a:t>
            </a:r>
          </a:p>
          <a:p>
            <a:pPr algn="l"/>
            <a:r>
              <a:rPr sz="1000" b="0">
                <a:solidFill>
                  <a:srgbClr val="757588"/>
                </a:solidFill>
                <a:latin typeface="Aptos"/>
              </a:rPr>
              <a:t>Premissas (cenários): TDM 45%; câmbio 5,10 BRL/USD; II 17,96% médio (só 6 de 47 itens importados têm NCM confirmada, o restante a 18% pior caso); PIS/COFINS 10,06%, ICMS 18%, IPI 9,69% repassados à MRS; reforma da Supermetal incluída, sem ISS; 27 itens ainda sem cotação excluídos. Referência EUA posta: planilha completa de importação (aba 'Pathfinder Pronto'), câmbio 5,15 BRL/USD, produto US$900k + frete/seguro US$80,5k + despesas de importação US$16,8k + todos os impostos de importação US$715,7k = US$1.713,0k; escopo diferente das simulações.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