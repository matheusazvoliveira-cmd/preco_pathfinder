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ayout>
        <c:manualLayout>
          <c:layoutTarget val="inner"/>
          <c:xMode val="edge"/>
          <c:yMode val="edge"/>
          <c:x val="0.03"/>
          <c:y val="0.1"/>
          <c:w val="0.76"/>
          <c:h val="0.66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Our price (net, before local taxes)</c:v>
                </c:pt>
              </c:strCache>
            </c:strRef>
          </c:tx>
          <c:spPr>
            <a:solidFill>
              <a:srgbClr val="D70010"/>
            </a:solidFill>
          </c:spPr>
          <c:dLbls>
            <c:numFmt formatCode="&quot;US$&quot;0&quot;k&quot;" sourceLinked="0"/>
            <c:txPr>
              <a:bodyPr/>
              <a:lstStyle/>
              <a:p>
                <a:pPr>
                  <a:defRPr sz="14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1  Base
(2 battery sets,
import duty in)</c:v>
                </c:pt>
                <c:pt idx="1">
                  <c:v>2  No import
duty (II = 0)</c:v>
                </c:pt>
                <c:pt idx="2">
                  <c:v>3  One battery
set (II in)</c:v>
                </c:pt>
                <c:pt idx="3">
                  <c:v>4  No II +
one battery set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945</c:v>
                </c:pt>
                <c:pt idx="1">
                  <c:v>845</c:v>
                </c:pt>
                <c:pt idx="2">
                  <c:v>908</c:v>
                </c:pt>
                <c:pt idx="3">
                  <c:v>813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Local taxes (PIS/COFINS + ICMS + IPI)</c:v>
                </c:pt>
              </c:strCache>
            </c:strRef>
          </c:tx>
          <c:spPr>
            <a:solidFill>
              <a:srgbClr val="3685C0"/>
            </a:solidFill>
          </c:spPr>
          <c:dLbls>
            <c:numFmt formatCode="&quot;US$&quot;0&quot;k&quot;" sourceLinked="0"/>
            <c:txPr>
              <a:bodyPr/>
              <a:lstStyle/>
              <a:p>
                <a:pPr>
                  <a:defRPr sz="14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1  Base
(2 battery sets,
import duty in)</c:v>
                </c:pt>
                <c:pt idx="1">
                  <c:v>2  No import
duty (II = 0)</c:v>
                </c:pt>
                <c:pt idx="2">
                  <c:v>3  One battery
set (II in)</c:v>
                </c:pt>
                <c:pt idx="3">
                  <c:v>4  No II +
one battery set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461</c:v>
                </c:pt>
                <c:pt idx="1">
                  <c:v>412</c:v>
                </c:pt>
                <c:pt idx="2">
                  <c:v>442</c:v>
                </c:pt>
                <c:pt idx="3">
                  <c:v>396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57588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2B2A2F"/>
          </a:solidFill>
          <a:latin typeface="Apto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ayout>
        <c:manualLayout>
          <c:layoutTarget val="inner"/>
          <c:xMode val="edge"/>
          <c:yMode val="edge"/>
          <c:x val="0.03"/>
          <c:y val="0.1"/>
          <c:w val="0.76"/>
          <c:h val="0.66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Nosso preço (líquido, antes dos impostos locais)</c:v>
                </c:pt>
              </c:strCache>
            </c:strRef>
          </c:tx>
          <c:spPr>
            <a:solidFill>
              <a:srgbClr val="D70010"/>
            </a:solidFill>
          </c:spPr>
          <c:dLbls>
            <c:numFmt formatCode="&quot;US$&quot;0&quot;k&quot;" sourceLinked="0"/>
            <c:txPr>
              <a:bodyPr/>
              <a:lstStyle/>
              <a:p>
                <a:pPr>
                  <a:defRPr sz="14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1  Base
(2 jogos de baterias,
II incluído)</c:v>
                </c:pt>
                <c:pt idx="1">
                  <c:v>2  Sem imposto de
importação (II = 0)</c:v>
                </c:pt>
                <c:pt idx="2">
                  <c:v>3  Um jogo de
baterias (II incluído)</c:v>
                </c:pt>
                <c:pt idx="3">
                  <c:v>4  Sem II +
um jogo de baterias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945</c:v>
                </c:pt>
                <c:pt idx="1">
                  <c:v>845</c:v>
                </c:pt>
                <c:pt idx="2">
                  <c:v>908</c:v>
                </c:pt>
                <c:pt idx="3">
                  <c:v>813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Impostos locais (PIS/COFINS + ICMS + IPI)</c:v>
                </c:pt>
              </c:strCache>
            </c:strRef>
          </c:tx>
          <c:spPr>
            <a:solidFill>
              <a:srgbClr val="3685C0"/>
            </a:solidFill>
          </c:spPr>
          <c:dLbls>
            <c:numFmt formatCode="&quot;US$&quot;0&quot;k&quot;" sourceLinked="0"/>
            <c:txPr>
              <a:bodyPr/>
              <a:lstStyle/>
              <a:p>
                <a:pPr>
                  <a:defRPr sz="14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1  Base
(2 jogos de baterias,
II incluído)</c:v>
                </c:pt>
                <c:pt idx="1">
                  <c:v>2  Sem imposto de
importação (II = 0)</c:v>
                </c:pt>
                <c:pt idx="2">
                  <c:v>3  Um jogo de
baterias (II incluído)</c:v>
                </c:pt>
                <c:pt idx="3">
                  <c:v>4  Sem II +
um jogo de baterias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461</c:v>
                </c:pt>
                <c:pt idx="1">
                  <c:v>412</c:v>
                </c:pt>
                <c:pt idx="2">
                  <c:v>442</c:v>
                </c:pt>
                <c:pt idx="3">
                  <c:v>396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57588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2B2A2F"/>
          </a:solidFill>
          <a:latin typeface="Apto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74320"/>
            <a:ext cx="82296" cy="731520"/>
          </a:xfrm>
          <a:prstGeom prst="rect">
            <a:avLst/>
          </a:prstGeom>
          <a:solidFill>
            <a:srgbClr val="D70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"/>
            <a:ext cx="1124712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2B2A2F"/>
                </a:solidFill>
                <a:latin typeface="Aptos Display"/>
              </a:rPr>
              <a:t>Even with zero import duty and one battery set, local taxes keep the Pathfinder expensive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11480" y="1143000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560070" y="1344259"/>
            <a:ext cx="14630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600" b="1">
                <a:solidFill>
                  <a:srgbClr val="2B2A2F"/>
                </a:solidFill>
                <a:latin typeface="Aptos Display"/>
              </a:rPr>
              <a:t>US$1,406k</a:t>
            </a:r>
          </a:p>
        </p:txBody>
      </p:sp>
      <p:sp>
        <p:nvSpPr>
          <p:cNvPr id="6" name="Rectangle 5"/>
          <p:cNvSpPr/>
          <p:nvPr/>
        </p:nvSpPr>
        <p:spPr>
          <a:xfrm>
            <a:off x="1897837" y="1569064"/>
            <a:ext cx="14630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600" b="1">
                <a:solidFill>
                  <a:srgbClr val="2B2A2F"/>
                </a:solidFill>
                <a:latin typeface="Aptos Display"/>
              </a:rPr>
              <a:t>US$1,257k</a:t>
            </a:r>
          </a:p>
        </p:txBody>
      </p:sp>
      <p:sp>
        <p:nvSpPr>
          <p:cNvPr id="7" name="Rectangle 6"/>
          <p:cNvSpPr/>
          <p:nvPr/>
        </p:nvSpPr>
        <p:spPr>
          <a:xfrm>
            <a:off x="3235604" y="1428750"/>
            <a:ext cx="14630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600" b="1">
                <a:solidFill>
                  <a:srgbClr val="2B2A2F"/>
                </a:solidFill>
                <a:latin typeface="Aptos Display"/>
              </a:rPr>
              <a:t>US$1,350k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3371" y="1639976"/>
            <a:ext cx="14630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600" b="1">
                <a:solidFill>
                  <a:srgbClr val="2B2A2F"/>
                </a:solidFill>
                <a:latin typeface="Aptos Display"/>
              </a:rPr>
              <a:t>US$1,210k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2706" y="2564891"/>
            <a:ext cx="5488229" cy="0"/>
          </a:xfrm>
          <a:prstGeom prst="line">
            <a:avLst/>
          </a:prstGeom>
          <a:ln w="22225">
            <a:solidFill>
              <a:srgbClr val="2B2A2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138367" y="2199132"/>
            <a:ext cx="1313992" cy="731520"/>
          </a:xfrm>
          <a:prstGeom prst="rect">
            <a:avLst/>
          </a:prstGeom>
          <a:solidFill>
            <a:srgbClr val="F8F8F8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27432" rIns="36576" bIns="27432"/>
          <a:lstStyle/>
          <a:p>
            <a:pPr algn="l"/>
            <a:r>
              <a:rPr sz="1100" b="1">
                <a:solidFill>
                  <a:srgbClr val="2B2A2F"/>
                </a:solidFill>
                <a:latin typeface="Aptos"/>
              </a:rPr>
              <a:t>US domestic reference US$900k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79" y="1143000"/>
            <a:ext cx="73152" cy="1078992"/>
          </a:xfrm>
          <a:prstGeom prst="rect">
            <a:avLst/>
          </a:prstGeom>
          <a:solidFill>
            <a:srgbClr val="368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1" y="1143000"/>
            <a:ext cx="3977639" cy="1078992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36576" rIns="109728" bIns="36576"/>
          <a:lstStyle/>
          <a:p>
            <a:pPr algn="l"/>
            <a:r>
              <a:rPr sz="3000" b="1">
                <a:solidFill>
                  <a:srgbClr val="2B2A2F"/>
                </a:solidFill>
                <a:latin typeface="Aptos Display"/>
              </a:rPr>
              <a:t>US$149k</a:t>
            </a:r>
          </a:p>
          <a:p>
            <a:pPr algn="l"/>
            <a:r>
              <a:rPr sz="1200" b="0">
                <a:solidFill>
                  <a:srgbClr val="2B2A2F"/>
                </a:solidFill>
                <a:latin typeface="Aptos"/>
              </a:rPr>
              <a:t>Effect of removing ALL import duty (II) on the final client price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26679" y="2340864"/>
            <a:ext cx="73152" cy="1078992"/>
          </a:xfrm>
          <a:prstGeom prst="rect">
            <a:avLst/>
          </a:prstGeom>
          <a:solidFill>
            <a:srgbClr val="D70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99831" y="2340864"/>
            <a:ext cx="3977639" cy="1078992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36576" rIns="109728" bIns="36576"/>
          <a:lstStyle/>
          <a:p>
            <a:pPr algn="l"/>
            <a:r>
              <a:rPr sz="3000" b="1">
                <a:solidFill>
                  <a:srgbClr val="2B2A2F"/>
                </a:solidFill>
                <a:latin typeface="Aptos Display"/>
              </a:rPr>
              <a:t>US$461k</a:t>
            </a:r>
          </a:p>
          <a:p>
            <a:pPr algn="l"/>
            <a:r>
              <a:rPr sz="1200" b="0">
                <a:solidFill>
                  <a:srgbClr val="2B2A2F"/>
                </a:solidFill>
                <a:latin typeface="Aptos"/>
              </a:rPr>
              <a:t>Local taxes on top of our net price in the base case = 3.1x the II effect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79" y="3538728"/>
            <a:ext cx="73152" cy="1078992"/>
          </a:xfrm>
          <a:prstGeom prst="rect">
            <a:avLst/>
          </a:prstGeom>
          <a:solidFill>
            <a:srgbClr val="368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99831" y="3538728"/>
            <a:ext cx="3977639" cy="1078992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36576" rIns="109728" bIns="36576"/>
          <a:lstStyle/>
          <a:p>
            <a:pPr algn="l"/>
            <a:r>
              <a:rPr sz="3000" b="1">
                <a:solidFill>
                  <a:srgbClr val="2B2A2F"/>
                </a:solidFill>
                <a:latin typeface="Aptos Display"/>
              </a:rPr>
              <a:t>+34%</a:t>
            </a:r>
          </a:p>
          <a:p>
            <a:pPr algn="l"/>
            <a:r>
              <a:rPr sz="1200" b="0">
                <a:solidFill>
                  <a:srgbClr val="2B2A2F"/>
                </a:solidFill>
                <a:latin typeface="Aptos"/>
              </a:rPr>
              <a:t>Scenario 4 final price (US$1,210k) is still above the US$900k US reference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937760"/>
            <a:ext cx="11365992" cy="777240"/>
          </a:xfrm>
          <a:prstGeom prst="rect">
            <a:avLst/>
          </a:prstGeom>
          <a:solidFill>
            <a:srgbClr val="003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Removing all import duty and using one battery set still leaves a final price of US$1,210k. What makes the Pathfinder expensive for MRS is the local Brazilian taxes, not the import duty.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779008"/>
            <a:ext cx="11365992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0" rIns="0" bIns="0"/>
          <a:lstStyle/>
          <a:p>
            <a:pPr algn="l"/>
            <a:r>
              <a:rPr sz="1000" b="0">
                <a:solidFill>
                  <a:srgbClr val="2B2A2F"/>
                </a:solidFill>
                <a:latin typeface="Aptos"/>
              </a:rPr>
              <a:t>II matters more than its face value because it sits inside the cost: it is multiplied by the margin (1/(1-45%)) and by the local tax cascade (~2.7x), and local taxes still outweigh it.</a:t>
            </a:r>
          </a:p>
          <a:p>
            <a:pPr algn="l"/>
            <a:r>
              <a:rPr sz="1000" b="0">
                <a:solidFill>
                  <a:srgbClr val="757588"/>
                </a:solidFill>
                <a:latin typeface="Aptos"/>
              </a:rPr>
              <a:t>Assumptions: TDM 45%; FX 5.10 BRL/USD; II 17.96% blended (only 6 of 47 imported items have a confirmed NCM, the rest at a worst-case 18%); PIS/COFINS 10.06%, ICMS 18%, IPI 9.69% passed through to MRS; Supermetal refurbishment included, no ISS; 27 items still without a quote are excluded. Source: workbook tab Simulation.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74320"/>
            <a:ext cx="82296" cy="731520"/>
          </a:xfrm>
          <a:prstGeom prst="rect">
            <a:avLst/>
          </a:prstGeom>
          <a:solidFill>
            <a:srgbClr val="D70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"/>
            <a:ext cx="1124712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600" b="1">
                <a:solidFill>
                  <a:srgbClr val="2B2A2F"/>
                </a:solidFill>
                <a:latin typeface="Aptos Display"/>
              </a:rPr>
              <a:t>Sem importação, o Pathfinder segue caro: são os impostos locais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11480" y="1143000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560070" y="1344259"/>
            <a:ext cx="14630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600" b="1">
                <a:solidFill>
                  <a:srgbClr val="2B2A2F"/>
                </a:solidFill>
                <a:latin typeface="Aptos Display"/>
              </a:rPr>
              <a:t>US$1.406k</a:t>
            </a:r>
          </a:p>
        </p:txBody>
      </p:sp>
      <p:sp>
        <p:nvSpPr>
          <p:cNvPr id="6" name="Rectangle 5"/>
          <p:cNvSpPr/>
          <p:nvPr/>
        </p:nvSpPr>
        <p:spPr>
          <a:xfrm>
            <a:off x="1897837" y="1569064"/>
            <a:ext cx="14630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600" b="1">
                <a:solidFill>
                  <a:srgbClr val="2B2A2F"/>
                </a:solidFill>
                <a:latin typeface="Aptos Display"/>
              </a:rPr>
              <a:t>US$1.257k</a:t>
            </a:r>
          </a:p>
        </p:txBody>
      </p:sp>
      <p:sp>
        <p:nvSpPr>
          <p:cNvPr id="7" name="Rectangle 6"/>
          <p:cNvSpPr/>
          <p:nvPr/>
        </p:nvSpPr>
        <p:spPr>
          <a:xfrm>
            <a:off x="3235604" y="1428750"/>
            <a:ext cx="14630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600" b="1">
                <a:solidFill>
                  <a:srgbClr val="2B2A2F"/>
                </a:solidFill>
                <a:latin typeface="Aptos Display"/>
              </a:rPr>
              <a:t>US$1.350k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3371" y="1639976"/>
            <a:ext cx="1463040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0" tIns="0" rIns="0" bIns="18288"/>
          <a:lstStyle/>
          <a:p>
            <a:pPr algn="ctr"/>
            <a:r>
              <a:rPr sz="1600" b="1">
                <a:solidFill>
                  <a:srgbClr val="2B2A2F"/>
                </a:solidFill>
                <a:latin typeface="Aptos Display"/>
              </a:rPr>
              <a:t>US$1.210k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2706" y="2564891"/>
            <a:ext cx="5488229" cy="0"/>
          </a:xfrm>
          <a:prstGeom prst="line">
            <a:avLst/>
          </a:prstGeom>
          <a:ln w="22225">
            <a:solidFill>
              <a:srgbClr val="2B2A2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138367" y="2199132"/>
            <a:ext cx="1313992" cy="731520"/>
          </a:xfrm>
          <a:prstGeom prst="rect">
            <a:avLst/>
          </a:prstGeom>
          <a:solidFill>
            <a:srgbClr val="F8F8F8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tIns="27432" rIns="36576" bIns="27432"/>
          <a:lstStyle/>
          <a:p>
            <a:pPr algn="l"/>
            <a:r>
              <a:rPr sz="1100" b="1">
                <a:solidFill>
                  <a:srgbClr val="2B2A2F"/>
                </a:solidFill>
                <a:latin typeface="Aptos"/>
              </a:rPr>
              <a:t>Referência doméstica EUA US$900k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79" y="1143000"/>
            <a:ext cx="73152" cy="1078992"/>
          </a:xfrm>
          <a:prstGeom prst="rect">
            <a:avLst/>
          </a:prstGeom>
          <a:solidFill>
            <a:srgbClr val="368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1" y="1143000"/>
            <a:ext cx="3977639" cy="1078992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36576" rIns="109728" bIns="36576"/>
          <a:lstStyle/>
          <a:p>
            <a:pPr algn="l"/>
            <a:r>
              <a:rPr sz="3000" b="1">
                <a:solidFill>
                  <a:srgbClr val="2B2A2F"/>
                </a:solidFill>
                <a:latin typeface="Aptos Display"/>
              </a:rPr>
              <a:t>US$149k</a:t>
            </a:r>
          </a:p>
          <a:p>
            <a:pPr algn="l"/>
            <a:r>
              <a:rPr sz="1200" b="0">
                <a:solidFill>
                  <a:srgbClr val="2B2A2F"/>
                </a:solidFill>
                <a:latin typeface="Aptos"/>
              </a:rPr>
              <a:t>Efeito de zerar TODO o imposto de importação (II) no preço final ao cliente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26679" y="2340864"/>
            <a:ext cx="73152" cy="1078992"/>
          </a:xfrm>
          <a:prstGeom prst="rect">
            <a:avLst/>
          </a:prstGeom>
          <a:solidFill>
            <a:srgbClr val="D70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99831" y="2340864"/>
            <a:ext cx="3977639" cy="1078992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36576" rIns="109728" bIns="36576"/>
          <a:lstStyle/>
          <a:p>
            <a:pPr algn="l"/>
            <a:r>
              <a:rPr sz="3000" b="1">
                <a:solidFill>
                  <a:srgbClr val="2B2A2F"/>
                </a:solidFill>
                <a:latin typeface="Aptos Display"/>
              </a:rPr>
              <a:t>US$461k</a:t>
            </a:r>
          </a:p>
          <a:p>
            <a:pPr algn="l"/>
            <a:r>
              <a:rPr sz="1200" b="0">
                <a:solidFill>
                  <a:srgbClr val="2B2A2F"/>
                </a:solidFill>
                <a:latin typeface="Aptos"/>
              </a:rPr>
              <a:t>Impostos locais sobre o nosso preço líquido no caso base = 3,1x o efeito do II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79" y="3538728"/>
            <a:ext cx="73152" cy="1078992"/>
          </a:xfrm>
          <a:prstGeom prst="rect">
            <a:avLst/>
          </a:prstGeom>
          <a:solidFill>
            <a:srgbClr val="368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99831" y="3538728"/>
            <a:ext cx="3977639" cy="1078992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36576" rIns="109728" bIns="36576"/>
          <a:lstStyle/>
          <a:p>
            <a:pPr algn="l"/>
            <a:r>
              <a:rPr sz="3000" b="1">
                <a:solidFill>
                  <a:srgbClr val="2B2A2F"/>
                </a:solidFill>
                <a:latin typeface="Aptos Display"/>
              </a:rPr>
              <a:t>+34%</a:t>
            </a:r>
          </a:p>
          <a:p>
            <a:pPr algn="l"/>
            <a:r>
              <a:rPr sz="1200" b="0">
                <a:solidFill>
                  <a:srgbClr val="2B2A2F"/>
                </a:solidFill>
                <a:latin typeface="Aptos"/>
              </a:rPr>
              <a:t>O preço final do cenário 4 (US$1.210k) ainda fica acima da referência EUA de US$900k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937760"/>
            <a:ext cx="11365992" cy="777240"/>
          </a:xfrm>
          <a:prstGeom prst="rect">
            <a:avLst/>
          </a:prstGeom>
          <a:solidFill>
            <a:srgbClr val="003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Zerar todo o imposto de importação e usar um só jogo de baterias ainda deixa o preço final em US$1.210k. O que encarece o Pathfinder para a MRS são os impostos locais brasileiros, não o imposto de importação.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779008"/>
            <a:ext cx="11365992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tIns="0" rIns="0" bIns="0"/>
          <a:lstStyle/>
          <a:p>
            <a:pPr algn="l"/>
            <a:r>
              <a:rPr sz="1000" b="0">
                <a:solidFill>
                  <a:srgbClr val="2B2A2F"/>
                </a:solidFill>
                <a:latin typeface="Aptos"/>
              </a:rPr>
              <a:t>O II pesa mais que o seu valor nominal porque está dentro do custo: é multiplicado pela margem (1/(1-45%)) e pela cascata de impostos locais (~2,7x), e mesmo assim os impostos locais pesam mais.</a:t>
            </a:r>
          </a:p>
          <a:p>
            <a:pPr algn="l"/>
            <a:r>
              <a:rPr sz="1000" b="0">
                <a:solidFill>
                  <a:srgbClr val="757588"/>
                </a:solidFill>
                <a:latin typeface="Aptos"/>
              </a:rPr>
              <a:t>Premissas: TDM 45%; câmbio 5,10 BRL/USD; II 17,96% médio (só 6 de 47 itens importados têm NCM confirmada, o restante a 18% pior caso); PIS/COFINS 10,06%, ICMS 18%, IPI 9,69% repassados à MRS; reforma da Supermetal incluída, sem ISS; 27 itens ainda sem cotação excluídos. Fonte: aba Simulação da planilha.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