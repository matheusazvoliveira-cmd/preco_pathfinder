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C4B"/>
                </a:solidFill>
                <a:latin typeface="Aptos"/>
              </a:rPr>
              <a:t>MRS PATHFINDER GDT — DEAL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C6874"/>
                </a:solidFill>
                <a:latin typeface="Aptos"/>
              </a:rPr>
              <a:t>Ownership, component flow, industrialization and final sale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2304288"/>
            <a:ext cx="2057400" cy="1188720"/>
          </a:xfrm>
          <a:prstGeom prst="roundRect">
            <a:avLst/>
          </a:prstGeom>
          <a:solidFill>
            <a:srgbClr val="EBF2FB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366AC"/>
                </a:solidFill>
                <a:latin typeface="Aptos Display"/>
              </a:rPr>
              <a:t>Wabtec Digital USA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PN supplier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Sells components to Digital Brazil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4069080"/>
            <a:ext cx="2468880" cy="1463040"/>
          </a:xfrm>
          <a:prstGeom prst="roundRect">
            <a:avLst/>
          </a:prstGeom>
          <a:solidFill>
            <a:srgbClr val="E7F8F7"/>
          </a:solidFill>
          <a:ln w="2032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8C96"/>
                </a:solidFill>
                <a:latin typeface="Aptos Display"/>
              </a:rPr>
              <a:t>Wabtec Digital Brazil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Buys components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Importer of record in Brazil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Coordinates industrialization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Sells completed GDT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170432"/>
            <a:ext cx="2468880" cy="1463040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E7E22"/>
                </a:solidFill>
                <a:latin typeface="Aptos Display"/>
              </a:rPr>
              <a:t>Supermetal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Receives railcar + components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Industrializes and integrates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Returns completed GDT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Cost + Supermetal 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069080"/>
            <a:ext cx="3429000" cy="1463040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D874F"/>
                </a:solidFill>
                <a:latin typeface="Aptos Display"/>
              </a:rPr>
              <a:t>MRS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Railcar owner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Sends under remittance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Buys and receives completed GDT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67712" y="2971800"/>
            <a:ext cx="795528" cy="1252728"/>
          </a:xfrm>
          <a:prstGeom prst="line">
            <a:avLst/>
          </a:prstGeom>
          <a:ln w="30480">
            <a:solidFill>
              <a:srgbClr val="23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48840" y="3154680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2366AC"/>
                </a:solidFill>
                <a:latin typeface="Aptos"/>
              </a:rPr>
              <a:t>PN purchase + TP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321808" y="4370832"/>
            <a:ext cx="2953512" cy="0"/>
          </a:xfrm>
          <a:prstGeom prst="line">
            <a:avLst/>
          </a:prstGeom>
          <a:ln w="30480">
            <a:solidFill>
              <a:srgbClr val="2D8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89320" y="3822191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2D874F"/>
                </a:solidFill>
                <a:latin typeface="Aptos"/>
              </a:rPr>
              <a:t>Railcar remittance
no sale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1808" y="5184648"/>
            <a:ext cx="2953512" cy="0"/>
          </a:xfrm>
          <a:prstGeom prst="line">
            <a:avLst/>
          </a:prstGeom>
          <a:ln w="3048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97880" y="5285232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008C96"/>
                </a:solidFill>
                <a:latin typeface="Aptos"/>
              </a:rPr>
              <a:t>Sale of completed GDT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251960" y="2660904"/>
            <a:ext cx="1234440" cy="1408176"/>
          </a:xfrm>
          <a:prstGeom prst="line">
            <a:avLst/>
          </a:prstGeom>
          <a:ln w="30480">
            <a:solidFill>
              <a:srgbClr val="DE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60" y="3154680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DE7E22"/>
                </a:solidFill>
                <a:latin typeface="Aptos"/>
              </a:rPr>
              <a:t>Railcar + components
for industrialization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767328" y="2176272"/>
            <a:ext cx="1124712" cy="1892808"/>
          </a:xfrm>
          <a:prstGeom prst="line">
            <a:avLst/>
          </a:prstGeom>
          <a:ln w="30480">
            <a:solidFill>
              <a:srgbClr val="BA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487168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A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BA3434"/>
                </a:solidFill>
                <a:latin typeface="Aptos"/>
              </a:rPr>
              <a:t>Industrialized GDT
Supermetal cost + 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024128"/>
            <a:ext cx="4343400" cy="960120"/>
          </a:xfrm>
          <a:prstGeom prst="roundRect">
            <a:avLst/>
          </a:prstGeom>
          <a:solidFill>
            <a:srgbClr val="E7F0FA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366AC"/>
                </a:solidFill>
                <a:latin typeface="Aptos Display"/>
              </a:rPr>
              <a:t>IMPORT</a:t>
            </a:r>
          </a:p>
          <a:p>
            <a:pPr>
              <a:spcAft>
                <a:spcPts val="200"/>
              </a:spcAft>
            </a:pPr>
            <a:r>
              <a:rPr sz="830">
                <a:solidFill>
                  <a:srgbClr val="142C4B"/>
                </a:solidFill>
                <a:latin typeface="Aptos"/>
              </a:rPr>
              <a:t>II, import PIS/COFINS, IPI, ICMS-import and customs costs</a:t>
            </a:r>
          </a:p>
          <a:p>
            <a:pPr>
              <a:spcAft>
                <a:spcPts val="200"/>
              </a:spcAft>
            </a:pPr>
            <a:r>
              <a:rPr sz="830">
                <a:solidFill>
                  <a:srgbClr val="142C4B"/>
                </a:solidFill>
                <a:latin typeface="Aptos"/>
              </a:rPr>
              <a:t>Digital Brazil = importer of record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504688"/>
            <a:ext cx="3794760" cy="804672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DE7E22"/>
                </a:solidFill>
                <a:latin typeface="Aptos Display"/>
              </a:rPr>
              <a:t>INDUSTRIALIZATION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42C4B"/>
                </a:solidFill>
                <a:latin typeface="Aptos"/>
              </a:rPr>
              <a:t>Separate remitted materials, applied materials, labor and service/TP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42C4B"/>
                </a:solidFill>
                <a:latin typeface="Aptos"/>
              </a:rPr>
              <a:t>Validate CFOP, ICMS, IPI and ISS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5504688"/>
            <a:ext cx="3429000" cy="804672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D874F"/>
                </a:solidFill>
                <a:latin typeface="Aptos Display"/>
              </a:rPr>
              <a:t>SALE TO MRS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42C4B"/>
                </a:solidFill>
                <a:latin typeface="Aptos"/>
              </a:rPr>
              <a:t>Final price = Supermetal cost + Digital margin + output taxes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172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BA3434"/>
                </a:solidFill>
                <a:latin typeface="Aptos"/>
              </a:rPr>
              <a:t>The remittance is not a sale of the railcar. Final tax treatment depends on entity, ownership, CFOP and tax classification.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C4B"/>
                </a:solidFill>
                <a:latin typeface="Aptos"/>
              </a:rPr>
              <a:t>ESTRUTURA DO NEGÓCIO — VAGÃO PATHFINDER GDT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C6874"/>
                </a:solidFill>
                <a:latin typeface="Aptos"/>
              </a:rPr>
              <a:t>Fluxo de propriedade, componentes, industrialização e venda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2304288"/>
            <a:ext cx="2057400" cy="1188720"/>
          </a:xfrm>
          <a:prstGeom prst="roundRect">
            <a:avLst/>
          </a:prstGeom>
          <a:solidFill>
            <a:srgbClr val="EBF2FB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366AC"/>
                </a:solidFill>
                <a:latin typeface="Aptos Display"/>
              </a:rPr>
              <a:t>Wabtec Digital USA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Fornecedor dos PNs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Vende componentes para Digital Brazil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4069080"/>
            <a:ext cx="2468880" cy="1463040"/>
          </a:xfrm>
          <a:prstGeom prst="roundRect">
            <a:avLst/>
          </a:prstGeom>
          <a:solidFill>
            <a:srgbClr val="E7F8F7"/>
          </a:solidFill>
          <a:ln w="2032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8C96"/>
                </a:solidFill>
                <a:latin typeface="Aptos Display"/>
              </a:rPr>
              <a:t>Wabtec Digital Brazil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Compra componentes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Importador oficial no Brasil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Coordena industrialização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Vende GDT finalizado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170432"/>
            <a:ext cx="2468880" cy="1463040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E7E22"/>
                </a:solidFill>
                <a:latin typeface="Aptos Display"/>
              </a:rPr>
              <a:t>Supermetal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Recebe vagão + componentes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Industrializa e integra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Devolve GDT pronto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Custo + TP Supermetal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069080"/>
            <a:ext cx="3429000" cy="1463040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D874F"/>
                </a:solidFill>
                <a:latin typeface="Aptos Display"/>
              </a:rPr>
              <a:t>MRS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Proprietária do vagão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Envia em remessa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42C4B"/>
                </a:solidFill>
                <a:latin typeface="Aptos"/>
              </a:rPr>
              <a:t>Compra e recebe o GDT pronto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67712" y="2971800"/>
            <a:ext cx="795528" cy="1252728"/>
          </a:xfrm>
          <a:prstGeom prst="line">
            <a:avLst/>
          </a:prstGeom>
          <a:ln w="30480">
            <a:solidFill>
              <a:srgbClr val="23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48840" y="3154680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2366AC"/>
                </a:solidFill>
                <a:latin typeface="Aptos"/>
              </a:rPr>
              <a:t>Compra dos PNs + TP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321808" y="4370832"/>
            <a:ext cx="2953512" cy="0"/>
          </a:xfrm>
          <a:prstGeom prst="line">
            <a:avLst/>
          </a:prstGeom>
          <a:ln w="30480">
            <a:solidFill>
              <a:srgbClr val="2D8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89320" y="3822191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2D874F"/>
                </a:solidFill>
                <a:latin typeface="Aptos"/>
              </a:rPr>
              <a:t>Remessa do vagão
sem venda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1808" y="5184648"/>
            <a:ext cx="2953512" cy="0"/>
          </a:xfrm>
          <a:prstGeom prst="line">
            <a:avLst/>
          </a:prstGeom>
          <a:ln w="3048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97880" y="5285232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008C96"/>
                </a:solidFill>
                <a:latin typeface="Aptos"/>
              </a:rPr>
              <a:t>Venda do GDT pronto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251960" y="2660904"/>
            <a:ext cx="1234440" cy="1408176"/>
          </a:xfrm>
          <a:prstGeom prst="line">
            <a:avLst/>
          </a:prstGeom>
          <a:ln w="30480">
            <a:solidFill>
              <a:srgbClr val="DE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60" y="3154680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DE7E22"/>
                </a:solidFill>
                <a:latin typeface="Aptos"/>
              </a:rPr>
              <a:t>Vagão + componentes
para industrialização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767328" y="2176272"/>
            <a:ext cx="1124712" cy="1892808"/>
          </a:xfrm>
          <a:prstGeom prst="line">
            <a:avLst/>
          </a:prstGeom>
          <a:ln w="30480">
            <a:solidFill>
              <a:srgbClr val="BA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487168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A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40" b="1">
                <a:solidFill>
                  <a:srgbClr val="BA3434"/>
                </a:solidFill>
                <a:latin typeface="Aptos"/>
              </a:rPr>
              <a:t>GDT industrializado
Custo + TP Supermetal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024128"/>
            <a:ext cx="4343400" cy="960120"/>
          </a:xfrm>
          <a:prstGeom prst="roundRect">
            <a:avLst/>
          </a:prstGeom>
          <a:solidFill>
            <a:srgbClr val="E7F0FA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366AC"/>
                </a:solidFill>
                <a:latin typeface="Aptos Display"/>
              </a:rPr>
              <a:t>IMPORTAÇÃO</a:t>
            </a:r>
          </a:p>
          <a:p>
            <a:pPr>
              <a:spcAft>
                <a:spcPts val="200"/>
              </a:spcAft>
            </a:pPr>
            <a:r>
              <a:rPr sz="830">
                <a:solidFill>
                  <a:srgbClr val="142C4B"/>
                </a:solidFill>
                <a:latin typeface="Aptos"/>
              </a:rPr>
              <a:t>II, PIS/COFINS, IPI, ICMS-import e custos aduaneiros</a:t>
            </a:r>
          </a:p>
          <a:p>
            <a:pPr>
              <a:spcAft>
                <a:spcPts val="200"/>
              </a:spcAft>
            </a:pPr>
            <a:r>
              <a:rPr sz="830">
                <a:solidFill>
                  <a:srgbClr val="142C4B"/>
                </a:solidFill>
                <a:latin typeface="Aptos"/>
              </a:rPr>
              <a:t>Digital Brazil = importador oficial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504688"/>
            <a:ext cx="3794760" cy="804672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DE7E22"/>
                </a:solidFill>
                <a:latin typeface="Aptos Display"/>
              </a:rPr>
              <a:t>INDUSTRIALIZAÇÃO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42C4B"/>
                </a:solidFill>
                <a:latin typeface="Aptos"/>
              </a:rPr>
              <a:t>Separar remessa, materiais aplicados, mão de obra e serviço/TP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42C4B"/>
                </a:solidFill>
                <a:latin typeface="Aptos"/>
              </a:rPr>
              <a:t>Validar CFOP, ICMS, IPI e ISS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5504688"/>
            <a:ext cx="3429000" cy="804672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D874F"/>
                </a:solidFill>
                <a:latin typeface="Aptos Display"/>
              </a:rPr>
              <a:t>VENDA À MRS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42C4B"/>
                </a:solidFill>
                <a:latin typeface="Aptos"/>
              </a:rPr>
              <a:t>Preço final = custo Supermetal + margem Digital + impostos de saída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172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BA3434"/>
                </a:solidFill>
                <a:latin typeface="Aptos"/>
              </a:rPr>
              <a:t>A remessa não é uma venda do vagão. O tratamento fiscal final depende da entidade, propriedade, CFOP e classificação tributária.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