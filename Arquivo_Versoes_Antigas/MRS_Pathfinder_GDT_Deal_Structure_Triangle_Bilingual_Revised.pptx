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7E1969-5C5C-4F25-97A5-6DBFD50ECB91}" v="1" dt="2026-09-23T18:18:06.3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14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 Oliveira, Matheus" userId="75ec6f19-e37f-415c-92ed-eea7c1bbd873" providerId="ADAL" clId="{EFA83D1C-CDF1-4DDA-8C66-ADA85A8717E7}"/>
    <pc:docChg chg="mod modSld modMainMaster">
      <pc:chgData name="de Oliveira, Matheus" userId="75ec6f19-e37f-415c-92ed-eea7c1bbd873" providerId="ADAL" clId="{EFA83D1C-CDF1-4DDA-8C66-ADA85A8717E7}" dt="2026-09-23T18:18:35.207" v="112" actId="1076"/>
      <pc:docMkLst>
        <pc:docMk/>
      </pc:docMkLst>
      <pc:sldChg chg="addSp modSp mod">
        <pc:chgData name="de Oliveira, Matheus" userId="75ec6f19-e37f-415c-92ed-eea7c1bbd873" providerId="ADAL" clId="{EFA83D1C-CDF1-4DDA-8C66-ADA85A8717E7}" dt="2026-09-23T18:18:35.207" v="112" actId="1076"/>
        <pc:sldMkLst>
          <pc:docMk/>
          <pc:sldMk cId="0" sldId="256"/>
        </pc:sldMkLst>
        <pc:spChg chg="mod">
          <ac:chgData name="de Oliveira, Matheus" userId="75ec6f19-e37f-415c-92ed-eea7c1bbd873" providerId="ADAL" clId="{EFA83D1C-CDF1-4DDA-8C66-ADA85A8717E7}" dt="2026-09-23T18:10:10.795" v="7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de Oliveira, Matheus" userId="75ec6f19-e37f-415c-92ed-eea7c1bbd873" providerId="ADAL" clId="{EFA83D1C-CDF1-4DDA-8C66-ADA85A8717E7}" dt="2026-09-23T18:11:25.991" v="22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de Oliveira, Matheus" userId="75ec6f19-e37f-415c-92ed-eea7c1bbd873" providerId="ADAL" clId="{EFA83D1C-CDF1-4DDA-8C66-ADA85A8717E7}" dt="2026-09-23T18:10:19.753" v="8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de Oliveira, Matheus" userId="75ec6f19-e37f-415c-92ed-eea7c1bbd873" providerId="ADAL" clId="{EFA83D1C-CDF1-4DDA-8C66-ADA85A8717E7}" dt="2026-09-23T18:11:13.067" v="21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de Oliveira, Matheus" userId="75ec6f19-e37f-415c-92ed-eea7c1bbd873" providerId="ADAL" clId="{EFA83D1C-CDF1-4DDA-8C66-ADA85A8717E7}" dt="2026-09-23T18:13:03.771" v="59" actId="20577"/>
          <ac:spMkLst>
            <pc:docMk/>
            <pc:sldMk cId="0" sldId="256"/>
            <ac:spMk id="11" creationId="{00000000-0000-0000-0000-000000000000}"/>
          </ac:spMkLst>
        </pc:spChg>
        <pc:spChg chg="mod">
          <ac:chgData name="de Oliveira, Matheus" userId="75ec6f19-e37f-415c-92ed-eea7c1bbd873" providerId="ADAL" clId="{EFA83D1C-CDF1-4DDA-8C66-ADA85A8717E7}" dt="2026-09-23T18:12:56.761" v="53" actId="20577"/>
          <ac:spMkLst>
            <pc:docMk/>
            <pc:sldMk cId="0" sldId="256"/>
            <ac:spMk id="13" creationId="{00000000-0000-0000-0000-000000000000}"/>
          </ac:spMkLst>
        </pc:spChg>
        <pc:spChg chg="add mod">
          <ac:chgData name="de Oliveira, Matheus" userId="75ec6f19-e37f-415c-92ed-eea7c1bbd873" providerId="ADAL" clId="{EFA83D1C-CDF1-4DDA-8C66-ADA85A8717E7}" dt="2026-09-23T18:18:35.207" v="112" actId="1076"/>
          <ac:spMkLst>
            <pc:docMk/>
            <pc:sldMk cId="0" sldId="256"/>
            <ac:spMk id="38" creationId="{E836772C-EB77-F912-C474-C188513203EB}"/>
          </ac:spMkLst>
        </pc:spChg>
        <pc:spChg chg="add mod">
          <ac:chgData name="de Oliveira, Matheus" userId="75ec6f19-e37f-415c-92ed-eea7c1bbd873" providerId="ADAL" clId="{EFA83D1C-CDF1-4DDA-8C66-ADA85A8717E7}" dt="2026-09-23T18:18:30.315" v="111" actId="14100"/>
          <ac:spMkLst>
            <pc:docMk/>
            <pc:sldMk cId="0" sldId="256"/>
            <ac:spMk id="40" creationId="{B271108C-3449-978A-DBF4-40896F14900D}"/>
          </ac:spMkLst>
        </pc:spChg>
        <pc:cxnChg chg="mod">
          <ac:chgData name="de Oliveira, Matheus" userId="75ec6f19-e37f-415c-92ed-eea7c1bbd873" providerId="ADAL" clId="{EFA83D1C-CDF1-4DDA-8C66-ADA85A8717E7}" dt="2026-09-23T18:17:54.509" v="87" actId="692"/>
          <ac:cxnSpMkLst>
            <pc:docMk/>
            <pc:sldMk cId="0" sldId="256"/>
            <ac:cxnSpMk id="8" creationId="{00000000-0000-0000-0000-000000000000}"/>
          </ac:cxnSpMkLst>
        </pc:cxnChg>
        <pc:cxnChg chg="mod">
          <ac:chgData name="de Oliveira, Matheus" userId="75ec6f19-e37f-415c-92ed-eea7c1bbd873" providerId="ADAL" clId="{EFA83D1C-CDF1-4DDA-8C66-ADA85A8717E7}" dt="2026-09-23T18:13:26.326" v="62" actId="692"/>
          <ac:cxnSpMkLst>
            <pc:docMk/>
            <pc:sldMk cId="0" sldId="256"/>
            <ac:cxnSpMk id="10" creationId="{00000000-0000-0000-0000-000000000000}"/>
          </ac:cxnSpMkLst>
        </pc:cxnChg>
        <pc:cxnChg chg="mod">
          <ac:chgData name="de Oliveira, Matheus" userId="75ec6f19-e37f-415c-92ed-eea7c1bbd873" providerId="ADAL" clId="{EFA83D1C-CDF1-4DDA-8C66-ADA85A8717E7}" dt="2026-09-23T18:13:33.563" v="65" actId="692"/>
          <ac:cxnSpMkLst>
            <pc:docMk/>
            <pc:sldMk cId="0" sldId="256"/>
            <ac:cxnSpMk id="12" creationId="{00000000-0000-0000-0000-000000000000}"/>
          </ac:cxnSpMkLst>
        </pc:cxnChg>
        <pc:cxnChg chg="mod">
          <ac:chgData name="de Oliveira, Matheus" userId="75ec6f19-e37f-415c-92ed-eea7c1bbd873" providerId="ADAL" clId="{EFA83D1C-CDF1-4DDA-8C66-ADA85A8717E7}" dt="2026-09-23T18:17:47.869" v="84" actId="692"/>
          <ac:cxnSpMkLst>
            <pc:docMk/>
            <pc:sldMk cId="0" sldId="256"/>
            <ac:cxnSpMk id="14" creationId="{00000000-0000-0000-0000-000000000000}"/>
          </ac:cxnSpMkLst>
        </pc:cxnChg>
        <pc:cxnChg chg="mod">
          <ac:chgData name="de Oliveira, Matheus" userId="75ec6f19-e37f-415c-92ed-eea7c1bbd873" providerId="ADAL" clId="{EFA83D1C-CDF1-4DDA-8C66-ADA85A8717E7}" dt="2026-09-23T18:16:14.108" v="80" actId="692"/>
          <ac:cxnSpMkLst>
            <pc:docMk/>
            <pc:sldMk cId="0" sldId="256"/>
            <ac:cxnSpMk id="15" creationId="{00000000-0000-0000-0000-000000000000}"/>
          </ac:cxnSpMkLst>
        </pc:cxnChg>
      </pc:sldChg>
      <pc:sldMasterChg chg="addSp mod">
        <pc:chgData name="de Oliveira, Matheus" userId="75ec6f19-e37f-415c-92ed-eea7c1bbd873" providerId="ADAL" clId="{EFA83D1C-CDF1-4DDA-8C66-ADA85A8717E7}" dt="2026-09-23T18:09:52.378" v="3" actId="33475"/>
        <pc:sldMasterMkLst>
          <pc:docMk/>
          <pc:sldMasterMk cId="2209977519" sldId="2147483648"/>
        </pc:sldMasterMkLst>
        <pc:spChg chg="add">
          <ac:chgData name="de Oliveira, Matheus" userId="75ec6f19-e37f-415c-92ed-eea7c1bbd873" providerId="ADAL" clId="{EFA83D1C-CDF1-4DDA-8C66-ADA85A8717E7}" dt="2026-09-23T18:09:52.378" v="3" actId="33475"/>
          <ac:spMkLst>
            <pc:docMk/>
            <pc:sldMasterMk cId="2209977519" sldId="2147483648"/>
            <ac:spMk id="8" creationId="{F5A21636-A714-89D3-6C3A-ACEA468BB361}"/>
          </ac:spMkLst>
        </pc:sp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A21636-A714-89D3-6C3A-ACEA468BB36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339513" y="63500"/>
            <a:ext cx="806450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7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1 - General Business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430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42C4B"/>
                </a:solidFill>
                <a:latin typeface="Aptos"/>
              </a:rPr>
              <a:t>MRS PATHFINDER GDT — DEAL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5C6874"/>
                </a:solidFill>
                <a:latin typeface="Aptos"/>
              </a:rPr>
              <a:t>Ownership, component flow, industrialization and final sale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2916936"/>
            <a:ext cx="2606040" cy="1170432"/>
          </a:xfrm>
          <a:prstGeom prst="roundRect">
            <a:avLst/>
          </a:prstGeom>
          <a:solidFill>
            <a:srgbClr val="EBF2FB"/>
          </a:solidFill>
          <a:ln w="20320">
            <a:solidFill>
              <a:srgbClr val="23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>
              <a:spcAft>
                <a:spcPts val="400"/>
              </a:spcAft>
            </a:pPr>
            <a:r>
              <a:rPr sz="1400" b="1" dirty="0">
                <a:solidFill>
                  <a:srgbClr val="2366AC"/>
                </a:solidFill>
                <a:latin typeface="Aptos Display"/>
              </a:rPr>
              <a:t>Wabtec Digital USA</a:t>
            </a:r>
          </a:p>
          <a:p>
            <a:pPr>
              <a:spcAft>
                <a:spcPts val="200"/>
              </a:spcAft>
            </a:pPr>
            <a:r>
              <a:rPr sz="900" dirty="0">
                <a:solidFill>
                  <a:srgbClr val="142C4B"/>
                </a:solidFill>
                <a:latin typeface="Aptos"/>
              </a:rPr>
              <a:t>PN supplier</a:t>
            </a:r>
          </a:p>
          <a:p>
            <a:pPr>
              <a:spcAft>
                <a:spcPts val="200"/>
              </a:spcAft>
            </a:pPr>
            <a:r>
              <a:rPr sz="900" dirty="0">
                <a:solidFill>
                  <a:srgbClr val="142C4B"/>
                </a:solidFill>
                <a:latin typeface="Aptos"/>
              </a:rPr>
              <a:t>Sells components to Digital Brazil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77740" y="905256"/>
            <a:ext cx="2606040" cy="1170432"/>
          </a:xfrm>
          <a:prstGeom prst="roundRect">
            <a:avLst/>
          </a:prstGeom>
          <a:solidFill>
            <a:srgbClr val="FFF3E2"/>
          </a:solidFill>
          <a:ln w="20320">
            <a:solidFill>
              <a:srgbClr val="DE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DE7E22"/>
                </a:solidFill>
                <a:latin typeface="Aptos Display"/>
              </a:rPr>
              <a:t>Supermetal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142C4B"/>
                </a:solidFill>
                <a:latin typeface="Aptos"/>
              </a:rPr>
              <a:t>Receives railcar + components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142C4B"/>
                </a:solidFill>
                <a:latin typeface="Aptos"/>
              </a:rPr>
              <a:t>Industrializes and integrates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142C4B"/>
                </a:solidFill>
                <a:latin typeface="Aptos"/>
              </a:rPr>
              <a:t>Returns completed GDT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142C4B"/>
                </a:solidFill>
                <a:latin typeface="Aptos"/>
              </a:rPr>
              <a:t>Cost + Supermetal TP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85960" y="2889504"/>
            <a:ext cx="2606040" cy="1170432"/>
          </a:xfrm>
          <a:prstGeom prst="roundRect">
            <a:avLst/>
          </a:prstGeom>
          <a:solidFill>
            <a:srgbClr val="E7F6EB"/>
          </a:solidFill>
          <a:ln w="20320">
            <a:solidFill>
              <a:srgbClr val="2D8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>
              <a:spcAft>
                <a:spcPts val="400"/>
              </a:spcAft>
            </a:pPr>
            <a:r>
              <a:rPr sz="1400" b="1" dirty="0">
                <a:solidFill>
                  <a:srgbClr val="2D874F"/>
                </a:solidFill>
                <a:latin typeface="Aptos Display"/>
              </a:rPr>
              <a:t>MRS</a:t>
            </a:r>
          </a:p>
          <a:p>
            <a:pPr>
              <a:spcAft>
                <a:spcPts val="200"/>
              </a:spcAft>
            </a:pPr>
            <a:r>
              <a:rPr sz="900" dirty="0">
                <a:solidFill>
                  <a:srgbClr val="142C4B"/>
                </a:solidFill>
                <a:latin typeface="Aptos"/>
              </a:rPr>
              <a:t>Railcar owner</a:t>
            </a:r>
          </a:p>
          <a:p>
            <a:pPr>
              <a:spcAft>
                <a:spcPts val="200"/>
              </a:spcAft>
            </a:pPr>
            <a:r>
              <a:rPr sz="900" dirty="0">
                <a:solidFill>
                  <a:srgbClr val="142C4B"/>
                </a:solidFill>
                <a:latin typeface="Aptos"/>
              </a:rPr>
              <a:t>Sends under remittance</a:t>
            </a:r>
          </a:p>
          <a:p>
            <a:pPr>
              <a:spcAft>
                <a:spcPts val="200"/>
              </a:spcAft>
            </a:pPr>
            <a:r>
              <a:rPr sz="900" dirty="0">
                <a:solidFill>
                  <a:srgbClr val="142C4B"/>
                </a:solidFill>
                <a:latin typeface="Aptos"/>
              </a:rPr>
              <a:t>Buys and receives completed GDT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2816352"/>
            <a:ext cx="2953512" cy="1353312"/>
          </a:xfrm>
          <a:prstGeom prst="roundRect">
            <a:avLst/>
          </a:prstGeom>
          <a:solidFill>
            <a:srgbClr val="E7F8F7"/>
          </a:solidFill>
          <a:ln w="20320">
            <a:solidFill>
              <a:srgbClr val="00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08C96"/>
                </a:solidFill>
                <a:latin typeface="Aptos Display"/>
              </a:rPr>
              <a:t>Wabtec Digital Brazil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142C4B"/>
                </a:solidFill>
                <a:latin typeface="Aptos"/>
              </a:rPr>
              <a:t>Buys components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142C4B"/>
                </a:solidFill>
                <a:latin typeface="Aptos"/>
              </a:rPr>
              <a:t>Importer of record in Brazil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142C4B"/>
                </a:solidFill>
                <a:latin typeface="Aptos"/>
              </a:rPr>
              <a:t>Coordinates industrialization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142C4B"/>
                </a:solidFill>
                <a:latin typeface="Aptos"/>
              </a:rPr>
              <a:t>Sells completed GDT</a:t>
            </a:r>
          </a:p>
        </p:txBody>
      </p:sp>
      <p:cxnSp>
        <p:nvCxnSpPr>
          <p:cNvPr id="8" name="Connector 7"/>
          <p:cNvCxnSpPr>
            <a:cxnSpLocks/>
            <a:stCxn id="4" idx="3"/>
            <a:endCxn id="7" idx="1"/>
          </p:cNvCxnSpPr>
          <p:nvPr/>
        </p:nvCxnSpPr>
        <p:spPr>
          <a:xfrm flipV="1">
            <a:off x="3017520" y="3493008"/>
            <a:ext cx="1600200" cy="9144"/>
          </a:xfrm>
          <a:prstGeom prst="line">
            <a:avLst/>
          </a:prstGeom>
          <a:ln w="30480">
            <a:solidFill>
              <a:srgbClr val="2366AC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177540" y="3163825"/>
            <a:ext cx="1143000" cy="49377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23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40" b="1">
                <a:solidFill>
                  <a:srgbClr val="2366AC"/>
                </a:solidFill>
                <a:latin typeface="Aptos"/>
              </a:rPr>
              <a:t>PN purchase + TP</a:t>
            </a:r>
          </a:p>
        </p:txBody>
      </p:sp>
      <p:cxnSp>
        <p:nvCxnSpPr>
          <p:cNvPr id="10" name="Connector 9"/>
          <p:cNvCxnSpPr>
            <a:cxnSpLocks/>
          </p:cNvCxnSpPr>
          <p:nvPr/>
        </p:nvCxnSpPr>
        <p:spPr>
          <a:xfrm flipH="1" flipV="1">
            <a:off x="7571232" y="3172969"/>
            <a:ext cx="2014728" cy="9144"/>
          </a:xfrm>
          <a:prstGeom prst="line">
            <a:avLst/>
          </a:prstGeom>
          <a:ln w="30480">
            <a:solidFill>
              <a:srgbClr val="2D874F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909560" y="2926080"/>
            <a:ext cx="1280160" cy="49377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2D8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40" b="1" dirty="0">
                <a:solidFill>
                  <a:srgbClr val="2D874F"/>
                </a:solidFill>
                <a:latin typeface="Aptos"/>
              </a:rPr>
              <a:t>Railcar</a:t>
            </a:r>
            <a:r>
              <a:rPr lang="en-US" sz="840" b="1" dirty="0">
                <a:solidFill>
                  <a:srgbClr val="2D874F"/>
                </a:solidFill>
                <a:latin typeface="Aptos"/>
              </a:rPr>
              <a:t> (GDT)</a:t>
            </a:r>
            <a:r>
              <a:rPr sz="840" b="1" dirty="0">
                <a:solidFill>
                  <a:srgbClr val="2D874F"/>
                </a:solidFill>
                <a:latin typeface="Aptos"/>
              </a:rPr>
              <a:t> remittance
no sale</a:t>
            </a:r>
          </a:p>
        </p:txBody>
      </p:sp>
      <p:cxnSp>
        <p:nvCxnSpPr>
          <p:cNvPr id="12" name="Connector 11"/>
          <p:cNvCxnSpPr>
            <a:cxnSpLocks/>
          </p:cNvCxnSpPr>
          <p:nvPr/>
        </p:nvCxnSpPr>
        <p:spPr>
          <a:xfrm>
            <a:off x="7571232" y="3762756"/>
            <a:ext cx="2014728" cy="0"/>
          </a:xfrm>
          <a:prstGeom prst="line">
            <a:avLst/>
          </a:prstGeom>
          <a:ln w="30480">
            <a:solidFill>
              <a:srgbClr val="008C96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964424" y="3515868"/>
            <a:ext cx="1170433" cy="49377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00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40" b="1" dirty="0">
                <a:solidFill>
                  <a:srgbClr val="008C96"/>
                </a:solidFill>
                <a:latin typeface="Aptos"/>
              </a:rPr>
              <a:t>Sale of completed </a:t>
            </a:r>
            <a:r>
              <a:rPr lang="en-US" sz="840" b="1" dirty="0">
                <a:solidFill>
                  <a:srgbClr val="008C96"/>
                </a:solidFill>
                <a:latin typeface="Aptos"/>
              </a:rPr>
              <a:t>Pathfinder</a:t>
            </a:r>
            <a:endParaRPr sz="840" b="1" dirty="0">
              <a:solidFill>
                <a:srgbClr val="008C96"/>
              </a:solidFill>
              <a:latin typeface="Aptos"/>
            </a:endParaRPr>
          </a:p>
        </p:txBody>
      </p:sp>
      <p:cxnSp>
        <p:nvCxnSpPr>
          <p:cNvPr id="14" name="Connector 13"/>
          <p:cNvCxnSpPr>
            <a:cxnSpLocks/>
          </p:cNvCxnSpPr>
          <p:nvPr/>
        </p:nvCxnSpPr>
        <p:spPr>
          <a:xfrm flipV="1">
            <a:off x="6578392" y="2075688"/>
            <a:ext cx="0" cy="786384"/>
          </a:xfrm>
          <a:prstGeom prst="line">
            <a:avLst/>
          </a:prstGeom>
          <a:ln w="30480">
            <a:solidFill>
              <a:srgbClr val="DE7E22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cxnSpLocks/>
          </p:cNvCxnSpPr>
          <p:nvPr/>
        </p:nvCxnSpPr>
        <p:spPr>
          <a:xfrm>
            <a:off x="5545121" y="2066544"/>
            <a:ext cx="28148" cy="740664"/>
          </a:xfrm>
          <a:prstGeom prst="line">
            <a:avLst/>
          </a:prstGeom>
          <a:ln w="30480">
            <a:solidFill>
              <a:srgbClr val="BA3434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20040" y="4370832"/>
            <a:ext cx="11521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5C6874"/>
                </a:solidFill>
                <a:latin typeface="Aptos"/>
              </a:rPr>
              <a:t>SEVEN DEAL POINTS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4645152"/>
            <a:ext cx="1572768" cy="5669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3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30" b="1">
                <a:solidFill>
                  <a:srgbClr val="142C4B"/>
                </a:solidFill>
                <a:latin typeface="Aptos"/>
              </a:rPr>
              <a:t>1  USA sells PNs + TP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75104" y="4645152"/>
            <a:ext cx="1572768" cy="5669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3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30" b="1">
                <a:solidFill>
                  <a:srgbClr val="142C4B"/>
                </a:solidFill>
                <a:latin typeface="Aptos"/>
              </a:rPr>
              <a:t>2  Digital Brazil imports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30168" y="4645152"/>
            <a:ext cx="1572768" cy="5669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D8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30" b="1">
                <a:solidFill>
                  <a:srgbClr val="142C4B"/>
                </a:solidFill>
                <a:latin typeface="Aptos"/>
              </a:rPr>
              <a:t>3  MRS owns the railcar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85232" y="4645152"/>
            <a:ext cx="1572768" cy="5669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D8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30" b="1">
                <a:solidFill>
                  <a:srgbClr val="142C4B"/>
                </a:solidFill>
                <a:latin typeface="Aptos"/>
              </a:rPr>
              <a:t>4  Remittance is not a sale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0296" y="4645152"/>
            <a:ext cx="1572768" cy="5669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30" b="1">
                <a:solidFill>
                  <a:srgbClr val="142C4B"/>
                </a:solidFill>
                <a:latin typeface="Aptos"/>
              </a:rPr>
              <a:t>5  Brazil sends railcar + components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95360" y="4645152"/>
            <a:ext cx="1572768" cy="5669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E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30" b="1">
                <a:solidFill>
                  <a:srgbClr val="142C4B"/>
                </a:solidFill>
                <a:latin typeface="Aptos"/>
              </a:rPr>
              <a:t>6  Supermetal returns GDT + cost/TP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50424" y="4645152"/>
            <a:ext cx="1572768" cy="5669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30" b="1">
                <a:solidFill>
                  <a:srgbClr val="142C4B"/>
                </a:solidFill>
                <a:latin typeface="Aptos"/>
              </a:rPr>
              <a:t>7  Brazil sells completed GDT to MRS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5413248"/>
            <a:ext cx="3730752" cy="713232"/>
          </a:xfrm>
          <a:prstGeom prst="roundRect">
            <a:avLst/>
          </a:prstGeom>
          <a:solidFill>
            <a:srgbClr val="E7F0FA"/>
          </a:solidFill>
          <a:ln w="20320">
            <a:solidFill>
              <a:srgbClr val="23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>
              <a:spcAft>
                <a:spcPts val="400"/>
              </a:spcAft>
            </a:pPr>
            <a:r>
              <a:rPr sz="940" b="1">
                <a:solidFill>
                  <a:srgbClr val="2366AC"/>
                </a:solidFill>
                <a:latin typeface="Aptos Display"/>
              </a:rPr>
              <a:t>IMPORT</a:t>
            </a:r>
          </a:p>
          <a:p>
            <a:pPr>
              <a:spcAft>
                <a:spcPts val="200"/>
              </a:spcAft>
            </a:pPr>
            <a:r>
              <a:rPr sz="700">
                <a:solidFill>
                  <a:srgbClr val="142C4B"/>
                </a:solidFill>
                <a:latin typeface="Aptos"/>
              </a:rPr>
              <a:t>II, import PIS/COFINS, IPI, ICMS-import and customs costs</a:t>
            </a:r>
          </a:p>
          <a:p>
            <a:pPr>
              <a:spcAft>
                <a:spcPts val="200"/>
              </a:spcAft>
            </a:pPr>
            <a:r>
              <a:rPr sz="700">
                <a:solidFill>
                  <a:srgbClr val="142C4B"/>
                </a:solidFill>
                <a:latin typeface="Aptos"/>
              </a:rPr>
              <a:t>Digital Brazil = importer of record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33672" y="5413248"/>
            <a:ext cx="3730752" cy="713232"/>
          </a:xfrm>
          <a:prstGeom prst="roundRect">
            <a:avLst/>
          </a:prstGeom>
          <a:solidFill>
            <a:srgbClr val="FFF3E2"/>
          </a:solidFill>
          <a:ln w="20320">
            <a:solidFill>
              <a:srgbClr val="DE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>
              <a:spcAft>
                <a:spcPts val="400"/>
              </a:spcAft>
            </a:pPr>
            <a:r>
              <a:rPr sz="940" b="1" dirty="0">
                <a:solidFill>
                  <a:srgbClr val="DE7E22"/>
                </a:solidFill>
                <a:latin typeface="Aptos Display"/>
              </a:rPr>
              <a:t>INDUSTRIALIZATION</a:t>
            </a:r>
          </a:p>
          <a:p>
            <a:pPr>
              <a:spcAft>
                <a:spcPts val="200"/>
              </a:spcAft>
            </a:pPr>
            <a:r>
              <a:rPr sz="700" dirty="0">
                <a:solidFill>
                  <a:srgbClr val="142C4B"/>
                </a:solidFill>
                <a:latin typeface="Aptos"/>
              </a:rPr>
              <a:t>Separate remitted materials, applied materials, labor and service/TP</a:t>
            </a:r>
          </a:p>
          <a:p>
            <a:pPr>
              <a:spcAft>
                <a:spcPts val="200"/>
              </a:spcAft>
            </a:pPr>
            <a:r>
              <a:rPr sz="700" dirty="0">
                <a:solidFill>
                  <a:srgbClr val="142C4B"/>
                </a:solidFill>
                <a:latin typeface="Aptos"/>
              </a:rPr>
              <a:t>Validate CFOP, ICMS, IPI and ISS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47304" y="5413248"/>
            <a:ext cx="3730752" cy="713232"/>
          </a:xfrm>
          <a:prstGeom prst="roundRect">
            <a:avLst/>
          </a:prstGeom>
          <a:solidFill>
            <a:srgbClr val="E7F6EB"/>
          </a:solidFill>
          <a:ln w="20320">
            <a:solidFill>
              <a:srgbClr val="2D8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>
              <a:spcAft>
                <a:spcPts val="400"/>
              </a:spcAft>
            </a:pPr>
            <a:r>
              <a:rPr sz="940" b="1">
                <a:solidFill>
                  <a:srgbClr val="2D874F"/>
                </a:solidFill>
                <a:latin typeface="Aptos Display"/>
              </a:rPr>
              <a:t>SALE TO MRS</a:t>
            </a:r>
          </a:p>
          <a:p>
            <a:pPr>
              <a:spcAft>
                <a:spcPts val="200"/>
              </a:spcAft>
            </a:pPr>
            <a:r>
              <a:rPr sz="700">
                <a:solidFill>
                  <a:srgbClr val="142C4B"/>
                </a:solidFill>
                <a:latin typeface="Aptos"/>
              </a:rPr>
              <a:t>Final price = Supermetal cost + Digital margin + output taxes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272784"/>
            <a:ext cx="11521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40" b="1">
                <a:solidFill>
                  <a:srgbClr val="BA3434"/>
                </a:solidFill>
                <a:latin typeface="Aptos"/>
              </a:rPr>
              <a:t>The remittance is not a sale of the railcar. Final tax treatment depends on entity, ownership, CFOP and tax classification.</a:t>
            </a:r>
          </a:p>
        </p:txBody>
      </p:sp>
      <p:sp>
        <p:nvSpPr>
          <p:cNvPr id="38" name="Rounded Rectangle 14">
            <a:extLst>
              <a:ext uri="{FF2B5EF4-FFF2-40B4-BE49-F238E27FC236}">
                <a16:creationId xmlns:a16="http://schemas.microsoft.com/office/drawing/2014/main" id="{E836772C-EB77-F912-C474-C188513203EB}"/>
              </a:ext>
            </a:extLst>
          </p:cNvPr>
          <p:cNvSpPr/>
          <p:nvPr/>
        </p:nvSpPr>
        <p:spPr>
          <a:xfrm>
            <a:off x="6161556" y="2267713"/>
            <a:ext cx="1033272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dirty="0">
                <a:solidFill>
                  <a:srgbClr val="DE7E22"/>
                </a:solidFill>
                <a:latin typeface="Aptos"/>
              </a:rPr>
              <a:t>Railcar + components</a:t>
            </a:r>
          </a:p>
        </p:txBody>
      </p:sp>
      <p:sp>
        <p:nvSpPr>
          <p:cNvPr id="40" name="Rounded Rectangle 16">
            <a:extLst>
              <a:ext uri="{FF2B5EF4-FFF2-40B4-BE49-F238E27FC236}">
                <a16:creationId xmlns:a16="http://schemas.microsoft.com/office/drawing/2014/main" id="{B271108C-3449-978A-DBF4-40896F14900D}"/>
              </a:ext>
            </a:extLst>
          </p:cNvPr>
          <p:cNvSpPr/>
          <p:nvPr/>
        </p:nvSpPr>
        <p:spPr>
          <a:xfrm>
            <a:off x="4682837" y="2277179"/>
            <a:ext cx="1360632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dirty="0">
                <a:solidFill>
                  <a:srgbClr val="BA3434"/>
                </a:solidFill>
                <a:latin typeface="Aptos"/>
              </a:rPr>
              <a:t>Industrialized 
</a:t>
            </a:r>
            <a:r>
              <a:rPr lang="en-US" sz="900" b="1" dirty="0">
                <a:solidFill>
                  <a:srgbClr val="BA3434"/>
                </a:solidFill>
                <a:latin typeface="Aptos"/>
              </a:rPr>
              <a:t>GDT = Pathfinder</a:t>
            </a:r>
            <a:r>
              <a:rPr sz="900" b="1" dirty="0">
                <a:solidFill>
                  <a:srgbClr val="BA3434"/>
                </a:solidFill>
                <a:latin typeface="Aptos"/>
              </a:rPr>
              <a:t> + TP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430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42C4B"/>
                </a:solidFill>
                <a:latin typeface="Aptos"/>
              </a:rPr>
              <a:t>ESTRUTURA DO NEGÓCIO — VAGÃO PATHFINDER GDT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5C6874"/>
                </a:solidFill>
                <a:latin typeface="Aptos"/>
              </a:rPr>
              <a:t>Fluxo de propriedade, componentes, industrialização e venda final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170432"/>
            <a:ext cx="2606040" cy="1170432"/>
          </a:xfrm>
          <a:prstGeom prst="roundRect">
            <a:avLst/>
          </a:prstGeom>
          <a:solidFill>
            <a:srgbClr val="EBF2FB"/>
          </a:solidFill>
          <a:ln w="20320">
            <a:solidFill>
              <a:srgbClr val="23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2366AC"/>
                </a:solidFill>
                <a:latin typeface="Aptos Display"/>
              </a:rPr>
              <a:t>Wabtec Digital USA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142C4B"/>
                </a:solidFill>
                <a:latin typeface="Aptos"/>
              </a:rPr>
              <a:t>Fornecedor dos PNs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142C4B"/>
                </a:solidFill>
                <a:latin typeface="Aptos"/>
              </a:rPr>
              <a:t>Vende componentes para Digital Brazil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91456" y="1170432"/>
            <a:ext cx="2606040" cy="1170432"/>
          </a:xfrm>
          <a:prstGeom prst="roundRect">
            <a:avLst/>
          </a:prstGeom>
          <a:solidFill>
            <a:srgbClr val="FFF3E2"/>
          </a:solidFill>
          <a:ln w="20320">
            <a:solidFill>
              <a:srgbClr val="DE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DE7E22"/>
                </a:solidFill>
                <a:latin typeface="Aptos Display"/>
              </a:rPr>
              <a:t>Supermetal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142C4B"/>
                </a:solidFill>
                <a:latin typeface="Aptos"/>
              </a:rPr>
              <a:t>Recebe vagão + componentes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142C4B"/>
                </a:solidFill>
                <a:latin typeface="Aptos"/>
              </a:rPr>
              <a:t>Industrializa e integra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142C4B"/>
                </a:solidFill>
                <a:latin typeface="Aptos"/>
              </a:rPr>
              <a:t>Devolve GDT pronto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142C4B"/>
                </a:solidFill>
                <a:latin typeface="Aptos"/>
              </a:rPr>
              <a:t>Custo + TP Supermetal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62872" y="1170432"/>
            <a:ext cx="2606040" cy="1170432"/>
          </a:xfrm>
          <a:prstGeom prst="roundRect">
            <a:avLst/>
          </a:prstGeom>
          <a:solidFill>
            <a:srgbClr val="E7F6EB"/>
          </a:solidFill>
          <a:ln w="20320">
            <a:solidFill>
              <a:srgbClr val="2D8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2D874F"/>
                </a:solidFill>
                <a:latin typeface="Aptos Display"/>
              </a:rPr>
              <a:t>MRS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142C4B"/>
                </a:solidFill>
                <a:latin typeface="Aptos"/>
              </a:rPr>
              <a:t>Proprietária do vagão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142C4B"/>
                </a:solidFill>
                <a:latin typeface="Aptos"/>
              </a:rPr>
              <a:t>Envia em remessa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142C4B"/>
                </a:solidFill>
                <a:latin typeface="Aptos"/>
              </a:rPr>
              <a:t>Compra e recebe o GDT pronto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2816352"/>
            <a:ext cx="2953512" cy="1353312"/>
          </a:xfrm>
          <a:prstGeom prst="roundRect">
            <a:avLst/>
          </a:prstGeom>
          <a:solidFill>
            <a:srgbClr val="E7F8F7"/>
          </a:solidFill>
          <a:ln w="20320">
            <a:solidFill>
              <a:srgbClr val="00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08C96"/>
                </a:solidFill>
                <a:latin typeface="Aptos Display"/>
              </a:rPr>
              <a:t>Wabtec Digital Brazil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142C4B"/>
                </a:solidFill>
                <a:latin typeface="Aptos"/>
              </a:rPr>
              <a:t>Compra componentes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142C4B"/>
                </a:solidFill>
                <a:latin typeface="Aptos"/>
              </a:rPr>
              <a:t>Importador oficial no Brasil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142C4B"/>
                </a:solidFill>
                <a:latin typeface="Aptos"/>
              </a:rPr>
              <a:t>Coordena industrialização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142C4B"/>
                </a:solidFill>
                <a:latin typeface="Aptos"/>
              </a:rPr>
              <a:t>Vende GDT finalizado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26080" y="1755648"/>
            <a:ext cx="1691640" cy="1399032"/>
          </a:xfrm>
          <a:prstGeom prst="line">
            <a:avLst/>
          </a:prstGeom>
          <a:ln w="30480">
            <a:solidFill>
              <a:srgbClr val="2366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090672" y="2121408"/>
            <a:ext cx="2240280" cy="49377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23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40" b="1">
                <a:solidFill>
                  <a:srgbClr val="2366AC"/>
                </a:solidFill>
                <a:latin typeface="Aptos"/>
              </a:rPr>
              <a:t>Compra dos PNs + TP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7571231" y="1847088"/>
            <a:ext cx="1691641" cy="1307592"/>
          </a:xfrm>
          <a:prstGeom prst="line">
            <a:avLst/>
          </a:prstGeom>
          <a:ln w="30480">
            <a:solidFill>
              <a:srgbClr val="2D8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818120" y="2103120"/>
            <a:ext cx="2240280" cy="49377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2D8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40" b="1">
                <a:solidFill>
                  <a:srgbClr val="2D874F"/>
                </a:solidFill>
                <a:latin typeface="Aptos"/>
              </a:rPr>
              <a:t>Remessa do vagão
sem venda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7571231" y="1993392"/>
            <a:ext cx="1691641" cy="1161288"/>
          </a:xfrm>
          <a:prstGeom prst="line">
            <a:avLst/>
          </a:prstGeom>
          <a:ln w="30480">
            <a:solidFill>
              <a:srgbClr val="008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26679" y="2743200"/>
            <a:ext cx="2240280" cy="49377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00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40" b="1">
                <a:solidFill>
                  <a:srgbClr val="008C96"/>
                </a:solidFill>
                <a:latin typeface="Aptos"/>
              </a:rPr>
              <a:t>Venda do GDT pronto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6099048" y="2340864"/>
            <a:ext cx="0" cy="475488"/>
          </a:xfrm>
          <a:prstGeom prst="line">
            <a:avLst/>
          </a:prstGeom>
          <a:ln w="30480">
            <a:solidFill>
              <a:srgbClr val="DE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99048" y="2340864"/>
            <a:ext cx="0" cy="475488"/>
          </a:xfrm>
          <a:prstGeom prst="line">
            <a:avLst/>
          </a:prstGeom>
          <a:ln w="30480">
            <a:solidFill>
              <a:srgbClr val="BA3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20040" y="4370832"/>
            <a:ext cx="11521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5C6874"/>
                </a:solidFill>
                <a:latin typeface="Aptos"/>
              </a:rPr>
              <a:t>SETE PONTOS DO NEGÓCIO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4645152"/>
            <a:ext cx="1572768" cy="5669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3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30" b="1">
                <a:solidFill>
                  <a:srgbClr val="142C4B"/>
                </a:solidFill>
                <a:latin typeface="Aptos"/>
              </a:rPr>
              <a:t>1  USA vende PNs + TP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75104" y="4645152"/>
            <a:ext cx="1572768" cy="5669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3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30" b="1">
                <a:solidFill>
                  <a:srgbClr val="142C4B"/>
                </a:solidFill>
                <a:latin typeface="Aptos"/>
              </a:rPr>
              <a:t>2  Digital Brazil importa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30168" y="4645152"/>
            <a:ext cx="1572768" cy="5669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D8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30" b="1">
                <a:solidFill>
                  <a:srgbClr val="142C4B"/>
                </a:solidFill>
                <a:latin typeface="Aptos"/>
              </a:rPr>
              <a:t>3  MRS é dona do vagão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85232" y="4645152"/>
            <a:ext cx="1572768" cy="5669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D8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30" b="1">
                <a:solidFill>
                  <a:srgbClr val="142C4B"/>
                </a:solidFill>
                <a:latin typeface="Aptos"/>
              </a:rPr>
              <a:t>4  Remessa não é venda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0296" y="4645152"/>
            <a:ext cx="1572768" cy="5669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30" b="1">
                <a:solidFill>
                  <a:srgbClr val="142C4B"/>
                </a:solidFill>
                <a:latin typeface="Aptos"/>
              </a:rPr>
              <a:t>5  Brazil envia vagão + componentes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95360" y="4645152"/>
            <a:ext cx="1572768" cy="5669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E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30" b="1">
                <a:solidFill>
                  <a:srgbClr val="142C4B"/>
                </a:solidFill>
                <a:latin typeface="Aptos"/>
              </a:rPr>
              <a:t>6  Supermetal devolve GDT + custo/TP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50424" y="4645152"/>
            <a:ext cx="1572768" cy="5669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30" b="1">
                <a:solidFill>
                  <a:srgbClr val="142C4B"/>
                </a:solidFill>
                <a:latin typeface="Aptos"/>
              </a:rPr>
              <a:t>7  Brazil vende GDT pronto à MRS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5413248"/>
            <a:ext cx="3730752" cy="713232"/>
          </a:xfrm>
          <a:prstGeom prst="roundRect">
            <a:avLst/>
          </a:prstGeom>
          <a:solidFill>
            <a:srgbClr val="E7F0FA"/>
          </a:solidFill>
          <a:ln w="20320">
            <a:solidFill>
              <a:srgbClr val="23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>
              <a:spcAft>
                <a:spcPts val="400"/>
              </a:spcAft>
            </a:pPr>
            <a:r>
              <a:rPr sz="940" b="1">
                <a:solidFill>
                  <a:srgbClr val="2366AC"/>
                </a:solidFill>
                <a:latin typeface="Aptos Display"/>
              </a:rPr>
              <a:t>IMPORTAÇÃO</a:t>
            </a:r>
          </a:p>
          <a:p>
            <a:pPr>
              <a:spcAft>
                <a:spcPts val="200"/>
              </a:spcAft>
            </a:pPr>
            <a:r>
              <a:rPr sz="700">
                <a:solidFill>
                  <a:srgbClr val="142C4B"/>
                </a:solidFill>
                <a:latin typeface="Aptos"/>
              </a:rPr>
              <a:t>II, PIS/COFINS, IPI, ICMS-import e custos aduaneiros</a:t>
            </a:r>
          </a:p>
          <a:p>
            <a:pPr>
              <a:spcAft>
                <a:spcPts val="200"/>
              </a:spcAft>
            </a:pPr>
            <a:r>
              <a:rPr sz="700">
                <a:solidFill>
                  <a:srgbClr val="142C4B"/>
                </a:solidFill>
                <a:latin typeface="Aptos"/>
              </a:rPr>
              <a:t>Digital Brazil = importador oficial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33672" y="5413248"/>
            <a:ext cx="3730752" cy="713232"/>
          </a:xfrm>
          <a:prstGeom prst="roundRect">
            <a:avLst/>
          </a:prstGeom>
          <a:solidFill>
            <a:srgbClr val="FFF3E2"/>
          </a:solidFill>
          <a:ln w="20320">
            <a:solidFill>
              <a:srgbClr val="DE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>
              <a:spcAft>
                <a:spcPts val="400"/>
              </a:spcAft>
            </a:pPr>
            <a:r>
              <a:rPr sz="940" b="1">
                <a:solidFill>
                  <a:srgbClr val="DE7E22"/>
                </a:solidFill>
                <a:latin typeface="Aptos Display"/>
              </a:rPr>
              <a:t>INDUSTRIALIZAÇÃO</a:t>
            </a:r>
          </a:p>
          <a:p>
            <a:pPr>
              <a:spcAft>
                <a:spcPts val="200"/>
              </a:spcAft>
            </a:pPr>
            <a:r>
              <a:rPr sz="700">
                <a:solidFill>
                  <a:srgbClr val="142C4B"/>
                </a:solidFill>
                <a:latin typeface="Aptos"/>
              </a:rPr>
              <a:t>Separar remessa, materiais aplicados, mão de obra e serviço/TP</a:t>
            </a:r>
          </a:p>
          <a:p>
            <a:pPr>
              <a:spcAft>
                <a:spcPts val="200"/>
              </a:spcAft>
            </a:pPr>
            <a:r>
              <a:rPr sz="700">
                <a:solidFill>
                  <a:srgbClr val="142C4B"/>
                </a:solidFill>
                <a:latin typeface="Aptos"/>
              </a:rPr>
              <a:t>Validar CFOP, ICMS, IPI e ISS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47304" y="5413248"/>
            <a:ext cx="3730752" cy="713232"/>
          </a:xfrm>
          <a:prstGeom prst="roundRect">
            <a:avLst/>
          </a:prstGeom>
          <a:solidFill>
            <a:srgbClr val="E7F6EB"/>
          </a:solidFill>
          <a:ln w="20320">
            <a:solidFill>
              <a:srgbClr val="2D8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>
              <a:spcAft>
                <a:spcPts val="400"/>
              </a:spcAft>
            </a:pPr>
            <a:r>
              <a:rPr sz="940" b="1">
                <a:solidFill>
                  <a:srgbClr val="2D874F"/>
                </a:solidFill>
                <a:latin typeface="Aptos Display"/>
              </a:rPr>
              <a:t>VENDA À MRS</a:t>
            </a:r>
          </a:p>
          <a:p>
            <a:pPr>
              <a:spcAft>
                <a:spcPts val="200"/>
              </a:spcAft>
            </a:pPr>
            <a:r>
              <a:rPr sz="700">
                <a:solidFill>
                  <a:srgbClr val="142C4B"/>
                </a:solidFill>
                <a:latin typeface="Aptos"/>
              </a:rPr>
              <a:t>Preço final = custo Supermetal + margem Digital + impostos de saída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272784"/>
            <a:ext cx="11521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40" b="1">
                <a:solidFill>
                  <a:srgbClr val="BA3434"/>
                </a:solidFill>
                <a:latin typeface="Aptos"/>
              </a:rPr>
              <a:t>A remessa não é uma venda do vagão. O tratamento fiscal final depende da entidade, propriedade, CFOP e classificação tributária.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426</Words>
  <Application>Microsoft Office PowerPoint</Application>
  <PresentationFormat>Widescreen</PresentationFormat>
  <Paragraphs>80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 Oliveira, Matheus</cp:lastModifiedBy>
  <cp:revision>1</cp:revision>
  <dcterms:created xsi:type="dcterms:W3CDTF">2013-01-27T09:14:16Z</dcterms:created>
  <dcterms:modified xsi:type="dcterms:W3CDTF">2026-09-23T18:18:42Z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7903732-8a6f-4e0e-952b-fe0b250d49cc_Enabled">
    <vt:lpwstr>true</vt:lpwstr>
  </property>
  <property fmtid="{D5CDD505-2E9C-101B-9397-08002B2CF9AE}" pid="3" name="MSIP_Label_57903732-8a6f-4e0e-952b-fe0b250d49cc_SetDate">
    <vt:lpwstr>2026-09-23T18:09:52Z</vt:lpwstr>
  </property>
  <property fmtid="{D5CDD505-2E9C-101B-9397-08002B2CF9AE}" pid="4" name="MSIP_Label_57903732-8a6f-4e0e-952b-fe0b250d49cc_Method">
    <vt:lpwstr>Standard</vt:lpwstr>
  </property>
  <property fmtid="{D5CDD505-2E9C-101B-9397-08002B2CF9AE}" pid="5" name="MSIP_Label_57903732-8a6f-4e0e-952b-fe0b250d49cc_Name">
    <vt:lpwstr>1- General Business</vt:lpwstr>
  </property>
  <property fmtid="{D5CDD505-2E9C-101B-9397-08002B2CF9AE}" pid="6" name="MSIP_Label_57903732-8a6f-4e0e-952b-fe0b250d49cc_SiteId">
    <vt:lpwstr>90f1aac4-c661-46a9-83fd-e021705adcc9</vt:lpwstr>
  </property>
  <property fmtid="{D5CDD505-2E9C-101B-9397-08002B2CF9AE}" pid="7" name="MSIP_Label_57903732-8a6f-4e0e-952b-fe0b250d49cc_ActionId">
    <vt:lpwstr>d47d6781-e928-44d5-8863-22beac18fec8</vt:lpwstr>
  </property>
  <property fmtid="{D5CDD505-2E9C-101B-9397-08002B2CF9AE}" pid="8" name="MSIP_Label_57903732-8a6f-4e0e-952b-fe0b250d49cc_ContentBits">
    <vt:lpwstr>1</vt:lpwstr>
  </property>
  <property fmtid="{D5CDD505-2E9C-101B-9397-08002B2CF9AE}" pid="9" name="MSIP_Label_57903732-8a6f-4e0e-952b-fe0b250d49cc_Tag">
    <vt:lpwstr>10, 3, 0, 1</vt:lpwstr>
  </property>
  <property fmtid="{D5CDD505-2E9C-101B-9397-08002B2CF9AE}" pid="10" name="ClassificationContentMarkingHeaderLocations">
    <vt:lpwstr>Office Theme:8</vt:lpwstr>
  </property>
  <property fmtid="{D5CDD505-2E9C-101B-9397-08002B2CF9AE}" pid="11" name="ClassificationContentMarkingHeaderText">
    <vt:lpwstr>1 - General Business</vt:lpwstr>
  </property>
</Properties>
</file>