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7"/>
  </p:notesMasterIdLst>
  <p:handoutMasterIdLst>
    <p:handoutMasterId r:id="rId18"/>
  </p:handoutMasterIdLst>
  <p:sldIdLst>
    <p:sldId id="285" r:id="rId5"/>
    <p:sldId id="2146847596" r:id="rId6"/>
    <p:sldId id="1448944952" r:id="rId7"/>
    <p:sldId id="321" r:id="rId8"/>
    <p:sldId id="322" r:id="rId9"/>
    <p:sldId id="2146847597" r:id="rId10"/>
    <p:sldId id="291" r:id="rId11"/>
    <p:sldId id="314" r:id="rId12"/>
    <p:sldId id="307" r:id="rId13"/>
    <p:sldId id="309" r:id="rId14"/>
    <p:sldId id="320" r:id="rId15"/>
    <p:sldId id="1448944945" r:id="rId16"/>
  </p:sldIdLst>
  <p:sldSz cx="12161838" cy="6858000"/>
  <p:notesSz cx="6858000" cy="9144000"/>
  <p:defaultTextStyle>
    <a:defPPr>
      <a:defRPr lang="en-US"/>
    </a:defPPr>
    <a:lvl1pPr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1pPr>
    <a:lvl2pPr marL="608013" indent="-150813"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2pPr>
    <a:lvl3pPr marL="1216025" indent="-3016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3pPr>
    <a:lvl4pPr marL="1825625" indent="-454025"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4pPr>
    <a:lvl5pPr marL="2433638" indent="-604838" algn="l" defTabSz="608013" rtl="0" fontAlgn="base">
      <a:spcBef>
        <a:spcPct val="0"/>
      </a:spcBef>
      <a:spcAft>
        <a:spcPct val="0"/>
      </a:spcAft>
      <a:defRPr sz="2400" kern="1200">
        <a:solidFill>
          <a:schemeClr val="tx1"/>
        </a:solidFill>
        <a:latin typeface="Tahoma" charset="0"/>
        <a:ea typeface="ＭＳ Ｐゴシック" charset="0"/>
        <a:cs typeface="ＭＳ Ｐゴシック" charset="0"/>
      </a:defRPr>
    </a:lvl5pPr>
    <a:lvl6pPr marL="2286000" algn="l" defTabSz="457200" rtl="0" eaLnBrk="1" latinLnBrk="0" hangingPunct="1">
      <a:defRPr sz="2400" kern="1200">
        <a:solidFill>
          <a:schemeClr val="tx1"/>
        </a:solidFill>
        <a:latin typeface="Tahoma" charset="0"/>
        <a:ea typeface="ＭＳ Ｐゴシック" charset="0"/>
        <a:cs typeface="ＭＳ Ｐゴシック" charset="0"/>
      </a:defRPr>
    </a:lvl6pPr>
    <a:lvl7pPr marL="2743200" algn="l" defTabSz="457200" rtl="0" eaLnBrk="1" latinLnBrk="0" hangingPunct="1">
      <a:defRPr sz="2400" kern="1200">
        <a:solidFill>
          <a:schemeClr val="tx1"/>
        </a:solidFill>
        <a:latin typeface="Tahoma" charset="0"/>
        <a:ea typeface="ＭＳ Ｐゴシック" charset="0"/>
        <a:cs typeface="ＭＳ Ｐゴシック" charset="0"/>
      </a:defRPr>
    </a:lvl7pPr>
    <a:lvl8pPr marL="3200400" algn="l" defTabSz="457200" rtl="0" eaLnBrk="1" latinLnBrk="0" hangingPunct="1">
      <a:defRPr sz="2400" kern="1200">
        <a:solidFill>
          <a:schemeClr val="tx1"/>
        </a:solidFill>
        <a:latin typeface="Tahoma" charset="0"/>
        <a:ea typeface="ＭＳ Ｐゴシック" charset="0"/>
        <a:cs typeface="ＭＳ Ｐゴシック" charset="0"/>
      </a:defRPr>
    </a:lvl8pPr>
    <a:lvl9pPr marL="3657600" algn="l" defTabSz="457200" rtl="0" eaLnBrk="1" latinLnBrk="0" hangingPunct="1">
      <a:defRPr sz="2400" kern="1200">
        <a:solidFill>
          <a:schemeClr val="tx1"/>
        </a:solidFill>
        <a:latin typeface="Tahoma" charset="0"/>
        <a:ea typeface="ＭＳ Ｐゴシック" charset="0"/>
        <a:cs typeface="ＭＳ Ｐゴシック" charset="0"/>
      </a:defRPr>
    </a:lvl9pPr>
  </p:defaultTextStyle>
  <p:extLst>
    <p:ext uri="{521415D9-36F7-43E2-AB2F-B90AF26B5E84}">
      <p14:sectionLst xmlns:p14="http://schemas.microsoft.com/office/powerpoint/2010/main">
        <p14:section name="Seção Padrão" id="{364238D5-B7C4-4EE5-B73A-9C7AD8F641C2}">
          <p14:sldIdLst>
            <p14:sldId id="285"/>
            <p14:sldId id="2146847596"/>
            <p14:sldId id="1448944952"/>
            <p14:sldId id="321"/>
          </p14:sldIdLst>
        </p14:section>
        <p14:section name="NAM" id="{E791D2C3-5CF0-4E39-AAAC-ED9FFCE7689A}">
          <p14:sldIdLst>
            <p14:sldId id="322"/>
          </p14:sldIdLst>
        </p14:section>
        <p14:section name="LatAm" id="{B6C32316-30A4-4317-8F9D-FBB2B9478825}">
          <p14:sldIdLst>
            <p14:sldId id="2146847597"/>
            <p14:sldId id="291"/>
          </p14:sldIdLst>
        </p14:section>
        <p14:section name="Post Meeting" id="{2330BAEF-10B6-4E51-AAE6-D7B6AD7C6D25}">
          <p14:sldIdLst>
            <p14:sldId id="314"/>
          </p14:sldIdLst>
        </p14:section>
        <p14:section name="If Applicable" id="{005A2EE0-2359-4961-A03E-C86E76B3A154}">
          <p14:sldIdLst>
            <p14:sldId id="307"/>
            <p14:sldId id="309"/>
            <p14:sldId id="320"/>
            <p14:sldId id="1448944945"/>
          </p14:sldIdLst>
        </p14:section>
      </p14:sectionLst>
    </p:ext>
    <p:ext uri="{EFAFB233-063F-42B5-8137-9DF3F51BA10A}">
      <p15:sldGuideLst xmlns:p15="http://schemas.microsoft.com/office/powerpoint/2012/main">
        <p15:guide id="1" orient="horz" pos="2160">
          <p15:clr>
            <a:srgbClr val="A4A3A4"/>
          </p15:clr>
        </p15:guide>
        <p15:guide id="2" pos="383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85829C1-767F-0A4F-9D7C-C4305106A993}" name="Rezende, Helena" initials="RH" userId="S::helena.rezende@wabtec.com::a07939b3-a8a0-4d91-8d0a-1aeade8eb79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BED"/>
    <a:srgbClr val="FFFF66"/>
    <a:srgbClr val="E7E8EA"/>
    <a:srgbClr val="FF0000"/>
    <a:srgbClr val="4B3569"/>
    <a:srgbClr val="2F5AA6"/>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804" y="102"/>
      </p:cViewPr>
      <p:guideLst>
        <p:guide orient="horz" pos="2160"/>
        <p:guide pos="383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za, Gabriela" userId="7d6380e6-fe97-4f89-8d07-abfbd9de957b" providerId="ADAL" clId="{5B31E457-082C-453C-BA9D-47BAE9AB8280}"/>
    <pc:docChg chg="undo redo custSel addSld delSld modSld sldOrd addSection modSection">
      <pc:chgData name="Souza, Gabriela" userId="7d6380e6-fe97-4f89-8d07-abfbd9de957b" providerId="ADAL" clId="{5B31E457-082C-453C-BA9D-47BAE9AB8280}" dt="2026-04-10T18:29:25.997" v="23" actId="17846"/>
      <pc:docMkLst>
        <pc:docMk/>
      </pc:docMkLst>
      <pc:sldChg chg="modSp mod">
        <pc:chgData name="Souza, Gabriela" userId="7d6380e6-fe97-4f89-8d07-abfbd9de957b" providerId="ADAL" clId="{5B31E457-082C-453C-BA9D-47BAE9AB8280}" dt="2026-04-10T18:28:00.821" v="9" actId="20577"/>
        <pc:sldMkLst>
          <pc:docMk/>
          <pc:sldMk cId="782148501" sldId="1448944952"/>
        </pc:sldMkLst>
        <pc:graphicFrameChg chg="modGraphic">
          <ac:chgData name="Souza, Gabriela" userId="7d6380e6-fe97-4f89-8d07-abfbd9de957b" providerId="ADAL" clId="{5B31E457-082C-453C-BA9D-47BAE9AB8280}" dt="2026-04-10T18:28:00.821" v="9" actId="20577"/>
          <ac:graphicFrameMkLst>
            <pc:docMk/>
            <pc:sldMk cId="782148501" sldId="1448944952"/>
            <ac:graphicFrameMk id="6" creationId="{44FD94BF-8143-F2DD-FBD6-A30E2F7500ED}"/>
          </ac:graphicFrameMkLst>
        </pc:graphicFrameChg>
      </pc:sldChg>
      <pc:sldChg chg="add">
        <pc:chgData name="Souza, Gabriela" userId="7d6380e6-fe97-4f89-8d07-abfbd9de957b" providerId="ADAL" clId="{5B31E457-082C-453C-BA9D-47BAE9AB8280}" dt="2026-04-10T18:29:20.198" v="21"/>
        <pc:sldMkLst>
          <pc:docMk/>
          <pc:sldMk cId="2594829583" sldId="2146847597"/>
        </pc:sldMkLst>
      </pc:sldChg>
    </pc:docChg>
  </pc:docChgLst>
  <pc:docChgLst>
    <pc:chgData name="Prucoli, Adenir" userId="233fe903-4026-4f02-8f52-5bdac5e92659" providerId="ADAL" clId="{B3A38160-BFC7-4791-8659-750009F09AFF}"/>
    <pc:docChg chg="modSld">
      <pc:chgData name="Prucoli, Adenir" userId="233fe903-4026-4f02-8f52-5bdac5e92659" providerId="ADAL" clId="{B3A38160-BFC7-4791-8659-750009F09AFF}" dt="2026-04-22T12:49:09.230" v="0" actId="1076"/>
      <pc:docMkLst>
        <pc:docMk/>
      </pc:docMkLst>
      <pc:sldChg chg="modSp mod">
        <pc:chgData name="Prucoli, Adenir" userId="233fe903-4026-4f02-8f52-5bdac5e92659" providerId="ADAL" clId="{B3A38160-BFC7-4791-8659-750009F09AFF}" dt="2026-04-22T12:49:09.230" v="0" actId="1076"/>
        <pc:sldMkLst>
          <pc:docMk/>
          <pc:sldMk cId="2804789654" sldId="2146847596"/>
        </pc:sldMkLst>
        <pc:spChg chg="mod">
          <ac:chgData name="Prucoli, Adenir" userId="233fe903-4026-4f02-8f52-5bdac5e92659" providerId="ADAL" clId="{B3A38160-BFC7-4791-8659-750009F09AFF}" dt="2026-04-22T12:49:09.230" v="0" actId="1076"/>
          <ac:spMkLst>
            <pc:docMk/>
            <pc:sldMk cId="2804789654" sldId="2146847596"/>
            <ac:spMk id="27" creationId="{664F2804-6962-9042-4A4E-61CFDC4D9CEB}"/>
          </ac:spMkLst>
        </pc:spChg>
      </pc:sldChg>
    </pc:docChg>
  </pc:docChgLst>
  <pc:docChgLst>
    <pc:chgData name="COELHO DE OLIVEIRA, CHRISTIANE" userId="1d067216-bd66-4017-94a2-8a1697e8d73b" providerId="ADAL" clId="{994FD596-BC6B-4508-957C-A5DAF3BA2136}"/>
    <pc:docChg chg="undo custSel modSld sldOrd">
      <pc:chgData name="COELHO DE OLIVEIRA, CHRISTIANE" userId="1d067216-bd66-4017-94a2-8a1697e8d73b" providerId="ADAL" clId="{994FD596-BC6B-4508-957C-A5DAF3BA2136}" dt="2026-04-13T17:10:12.274" v="2921" actId="14100"/>
      <pc:docMkLst>
        <pc:docMk/>
      </pc:docMkLst>
      <pc:sldChg chg="modSp">
        <pc:chgData name="COELHO DE OLIVEIRA, CHRISTIANE" userId="1d067216-bd66-4017-94a2-8a1697e8d73b" providerId="ADAL" clId="{994FD596-BC6B-4508-957C-A5DAF3BA2136}" dt="2026-04-13T17:09:34.653" v="2912"/>
        <pc:sldMkLst>
          <pc:docMk/>
          <pc:sldMk cId="3193683332" sldId="322"/>
        </pc:sldMkLst>
        <pc:graphicFrameChg chg="mod">
          <ac:chgData name="COELHO DE OLIVEIRA, CHRISTIANE" userId="1d067216-bd66-4017-94a2-8a1697e8d73b" providerId="ADAL" clId="{994FD596-BC6B-4508-957C-A5DAF3BA2136}" dt="2026-04-13T17:09:34.653" v="2912"/>
          <ac:graphicFrameMkLst>
            <pc:docMk/>
            <pc:sldMk cId="3193683332" sldId="322"/>
            <ac:graphicFrameMk id="9" creationId="{F8BF314A-F64B-462F-1DF7-C74231641794}"/>
          </ac:graphicFrameMkLst>
        </pc:graphicFrameChg>
      </pc:sldChg>
      <pc:sldChg chg="modSp mod ord">
        <pc:chgData name="COELHO DE OLIVEIRA, CHRISTIANE" userId="1d067216-bd66-4017-94a2-8a1697e8d73b" providerId="ADAL" clId="{994FD596-BC6B-4508-957C-A5DAF3BA2136}" dt="2026-04-13T17:06:44.425" v="2870" actId="404"/>
        <pc:sldMkLst>
          <pc:docMk/>
          <pc:sldMk cId="782148501" sldId="1448944952"/>
        </pc:sldMkLst>
        <pc:spChg chg="mod">
          <ac:chgData name="COELHO DE OLIVEIRA, CHRISTIANE" userId="1d067216-bd66-4017-94a2-8a1697e8d73b" providerId="ADAL" clId="{994FD596-BC6B-4508-957C-A5DAF3BA2136}" dt="2026-04-13T17:06:24.649" v="2811" actId="1076"/>
          <ac:spMkLst>
            <pc:docMk/>
            <pc:sldMk cId="782148501" sldId="1448944952"/>
            <ac:spMk id="9" creationId="{E13A90E0-22E8-44C2-8A7C-2E5E96998126}"/>
          </ac:spMkLst>
        </pc:spChg>
        <pc:spChg chg="mod">
          <ac:chgData name="COELHO DE OLIVEIRA, CHRISTIANE" userId="1d067216-bd66-4017-94a2-8a1697e8d73b" providerId="ADAL" clId="{994FD596-BC6B-4508-957C-A5DAF3BA2136}" dt="2026-04-13T17:06:20.216" v="2810" actId="1076"/>
          <ac:spMkLst>
            <pc:docMk/>
            <pc:sldMk cId="782148501" sldId="1448944952"/>
            <ac:spMk id="11" creationId="{961E37D0-F945-D481-B65A-38D166D99551}"/>
          </ac:spMkLst>
        </pc:spChg>
        <pc:graphicFrameChg chg="mod modGraphic">
          <ac:chgData name="COELHO DE OLIVEIRA, CHRISTIANE" userId="1d067216-bd66-4017-94a2-8a1697e8d73b" providerId="ADAL" clId="{994FD596-BC6B-4508-957C-A5DAF3BA2136}" dt="2026-04-13T17:06:44.425" v="2870" actId="404"/>
          <ac:graphicFrameMkLst>
            <pc:docMk/>
            <pc:sldMk cId="782148501" sldId="1448944952"/>
            <ac:graphicFrameMk id="6" creationId="{44FD94BF-8143-F2DD-FBD6-A30E2F7500ED}"/>
          </ac:graphicFrameMkLst>
        </pc:graphicFrameChg>
      </pc:sldChg>
      <pc:sldChg chg="addSp delSp mod">
        <pc:chgData name="COELHO DE OLIVEIRA, CHRISTIANE" userId="1d067216-bd66-4017-94a2-8a1697e8d73b" providerId="ADAL" clId="{994FD596-BC6B-4508-957C-A5DAF3BA2136}" dt="2026-04-13T17:03:52.370" v="2792" actId="22"/>
        <pc:sldMkLst>
          <pc:docMk/>
          <pc:sldMk cId="2804789654" sldId="2146847596"/>
        </pc:sldMkLst>
      </pc:sldChg>
      <pc:sldChg chg="addSp delSp modSp mod">
        <pc:chgData name="COELHO DE OLIVEIRA, CHRISTIANE" userId="1d067216-bd66-4017-94a2-8a1697e8d73b" providerId="ADAL" clId="{994FD596-BC6B-4508-957C-A5DAF3BA2136}" dt="2026-04-13T17:10:12.274" v="2921" actId="14100"/>
        <pc:sldMkLst>
          <pc:docMk/>
          <pc:sldMk cId="2594829583" sldId="2146847597"/>
        </pc:sldMkLst>
        <pc:spChg chg="mod">
          <ac:chgData name="COELHO DE OLIVEIRA, CHRISTIANE" userId="1d067216-bd66-4017-94a2-8a1697e8d73b" providerId="ADAL" clId="{994FD596-BC6B-4508-957C-A5DAF3BA2136}" dt="2026-04-13T16:58:56.955" v="2759" actId="1076"/>
          <ac:spMkLst>
            <pc:docMk/>
            <pc:sldMk cId="2594829583" sldId="2146847597"/>
            <ac:spMk id="2" creationId="{44B73109-1928-8EB2-38B7-D16208DB9978}"/>
          </ac:spMkLst>
        </pc:spChg>
        <pc:spChg chg="mod">
          <ac:chgData name="COELHO DE OLIVEIRA, CHRISTIANE" userId="1d067216-bd66-4017-94a2-8a1697e8d73b" providerId="ADAL" clId="{994FD596-BC6B-4508-957C-A5DAF3BA2136}" dt="2026-04-13T17:10:12.274" v="2921" actId="14100"/>
          <ac:spMkLst>
            <pc:docMk/>
            <pc:sldMk cId="2594829583" sldId="2146847597"/>
            <ac:spMk id="20" creationId="{9DD432A5-3B47-39CE-4BC8-7693E6C97DB4}"/>
          </ac:spMkLst>
        </pc:spChg>
        <pc:graphicFrameChg chg="mod modGraphic">
          <ac:chgData name="COELHO DE OLIVEIRA, CHRISTIANE" userId="1d067216-bd66-4017-94a2-8a1697e8d73b" providerId="ADAL" clId="{994FD596-BC6B-4508-957C-A5DAF3BA2136}" dt="2026-04-13T17:09:56.948" v="2918" actId="14100"/>
          <ac:graphicFrameMkLst>
            <pc:docMk/>
            <pc:sldMk cId="2594829583" sldId="2146847597"/>
            <ac:graphicFrameMk id="9" creationId="{226C7045-2CE2-0D89-AB98-B6753443EEE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defTabSz="608625" fontAlgn="auto">
              <a:spcBef>
                <a:spcPts val="0"/>
              </a:spcBef>
              <a:spcAft>
                <a:spcPts val="0"/>
              </a:spcAft>
              <a:defRPr sz="1200">
                <a:latin typeface="+mn-lt"/>
                <a:ea typeface="+mn-ea"/>
                <a:cs typeface="+mn-cs"/>
              </a:defRPr>
            </a:lvl1pPr>
          </a:lstStyle>
          <a:p>
            <a:pPr>
              <a:defRPr/>
            </a:pPr>
            <a:fld id="{3CF0C980-B917-E747-9C70-449C49577942}" type="datetimeFigureOut">
              <a:rPr lang="en-US"/>
              <a:pPr>
                <a:defRPr/>
              </a:pPr>
              <a:t>4/22/2026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defTabSz="608625" fontAlgn="auto">
              <a:spcBef>
                <a:spcPts val="0"/>
              </a:spcBef>
              <a:spcAft>
                <a:spcPts val="0"/>
              </a:spcAft>
              <a:defRPr sz="1200">
                <a:latin typeface="+mn-lt"/>
                <a:ea typeface="+mn-ea"/>
                <a:cs typeface="+mn-cs"/>
              </a:defRPr>
            </a:lvl1pPr>
          </a:lstStyle>
          <a:p>
            <a:pPr>
              <a:defRPr/>
            </a:pPr>
            <a:fld id="{CD4F0C37-4A3C-FE43-8F40-0DED4A3C13CA}" type="slidenum">
              <a:rPr lang="en-US"/>
              <a:pPr>
                <a:defRPr/>
              </a:pPr>
              <a:t>‹nº›</a:t>
            </a:fld>
            <a:endParaRPr lang="en-US"/>
          </a:p>
        </p:txBody>
      </p:sp>
    </p:spTree>
    <p:extLst>
      <p:ext uri="{BB962C8B-B14F-4D97-AF65-F5344CB8AC3E}">
        <p14:creationId xmlns:p14="http://schemas.microsoft.com/office/powerpoint/2010/main" val="701415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defTabSz="608625" fontAlgn="auto">
              <a:spcBef>
                <a:spcPts val="0"/>
              </a:spcBef>
              <a:spcAft>
                <a:spcPts val="0"/>
              </a:spcAft>
              <a:defRPr sz="1200">
                <a:latin typeface="+mn-lt"/>
                <a:ea typeface="+mn-ea"/>
                <a:cs typeface="+mn-cs"/>
              </a:defRPr>
            </a:lvl1pPr>
          </a:lstStyle>
          <a:p>
            <a:pPr>
              <a:defRPr/>
            </a:pPr>
            <a:fld id="{30692E0D-1821-D44A-ABB4-D9CB94DF8A83}" type="datetimeFigureOut">
              <a:rPr lang="en-US"/>
              <a:pPr>
                <a:defRPr/>
              </a:pPr>
              <a:t>4/22/2026</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608625"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defTabSz="608625" fontAlgn="auto">
              <a:spcBef>
                <a:spcPts val="0"/>
              </a:spcBef>
              <a:spcAft>
                <a:spcPts val="0"/>
              </a:spcAft>
              <a:defRPr sz="1200">
                <a:latin typeface="+mn-lt"/>
                <a:ea typeface="+mn-ea"/>
                <a:cs typeface="+mn-cs"/>
              </a:defRPr>
            </a:lvl1pPr>
          </a:lstStyle>
          <a:p>
            <a:pPr>
              <a:defRPr/>
            </a:pPr>
            <a:fld id="{405B821B-3561-7748-80B2-070A260A60C6}" type="slidenum">
              <a:rPr lang="en-US"/>
              <a:pPr>
                <a:defRPr/>
              </a:pPr>
              <a:t>‹nº›</a:t>
            </a:fld>
            <a:endParaRPr lang="en-US"/>
          </a:p>
        </p:txBody>
      </p:sp>
    </p:spTree>
    <p:extLst>
      <p:ext uri="{BB962C8B-B14F-4D97-AF65-F5344CB8AC3E}">
        <p14:creationId xmlns:p14="http://schemas.microsoft.com/office/powerpoint/2010/main" val="718859781"/>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05B821B-3561-7748-80B2-070A260A60C6}" type="slidenum">
              <a:rPr lang="en-US" smtClean="0"/>
              <a:pPr>
                <a:defRPr/>
              </a:pPr>
              <a:t>1</a:t>
            </a:fld>
            <a:endParaRPr lang="en-US"/>
          </a:p>
        </p:txBody>
      </p:sp>
    </p:spTree>
    <p:extLst>
      <p:ext uri="{BB962C8B-B14F-4D97-AF65-F5344CB8AC3E}">
        <p14:creationId xmlns:p14="http://schemas.microsoft.com/office/powerpoint/2010/main" val="3328932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a:defRPr/>
            </a:pPr>
            <a:fld id="{405B821B-3561-7748-80B2-070A260A60C6}" type="slidenum">
              <a:rPr lang="en-US" smtClean="0"/>
              <a:pPr>
                <a:defRPr/>
              </a:pPr>
              <a:t>2</a:t>
            </a:fld>
            <a:endParaRPr lang="en-US"/>
          </a:p>
        </p:txBody>
      </p:sp>
    </p:spTree>
    <p:extLst>
      <p:ext uri="{BB962C8B-B14F-4D97-AF65-F5344CB8AC3E}">
        <p14:creationId xmlns:p14="http://schemas.microsoft.com/office/powerpoint/2010/main" val="3741618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a:defRPr/>
            </a:pPr>
            <a:fld id="{405B821B-3561-7748-80B2-070A260A60C6}" type="slidenum">
              <a:rPr lang="en-US" smtClean="0"/>
              <a:pPr>
                <a:defRPr/>
              </a:pPr>
              <a:t>3</a:t>
            </a:fld>
            <a:endParaRPr lang="en-US"/>
          </a:p>
        </p:txBody>
      </p:sp>
    </p:spTree>
    <p:extLst>
      <p:ext uri="{BB962C8B-B14F-4D97-AF65-F5344CB8AC3E}">
        <p14:creationId xmlns:p14="http://schemas.microsoft.com/office/powerpoint/2010/main" val="4020624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a:defRPr/>
            </a:pPr>
            <a:fld id="{405B821B-3561-7748-80B2-070A260A60C6}" type="slidenum">
              <a:rPr lang="en-US" smtClean="0"/>
              <a:pPr>
                <a:defRPr/>
              </a:pPr>
              <a:t>4</a:t>
            </a:fld>
            <a:endParaRPr lang="en-US"/>
          </a:p>
        </p:txBody>
      </p:sp>
    </p:spTree>
    <p:extLst>
      <p:ext uri="{BB962C8B-B14F-4D97-AF65-F5344CB8AC3E}">
        <p14:creationId xmlns:p14="http://schemas.microsoft.com/office/powerpoint/2010/main" val="682817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a:defRPr/>
            </a:pPr>
            <a:fld id="{405B821B-3561-7748-80B2-070A260A60C6}" type="slidenum">
              <a:rPr lang="en-US" smtClean="0"/>
              <a:pPr>
                <a:defRPr/>
              </a:pPr>
              <a:t>5</a:t>
            </a:fld>
            <a:endParaRPr lang="en-US"/>
          </a:p>
        </p:txBody>
      </p:sp>
    </p:spTree>
    <p:extLst>
      <p:ext uri="{BB962C8B-B14F-4D97-AF65-F5344CB8AC3E}">
        <p14:creationId xmlns:p14="http://schemas.microsoft.com/office/powerpoint/2010/main" val="2130708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6B1F7-655D-5782-1B23-44239C8B462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0BBA7B-986F-B997-0FBC-72A23146A52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A9D42DF-715F-8859-3AD6-544D1B76BA69}"/>
              </a:ext>
            </a:extLst>
          </p:cNvPr>
          <p:cNvSpPr>
            <a:spLocks noGrp="1"/>
          </p:cNvSpPr>
          <p:nvPr>
            <p:ph type="body" idx="1"/>
          </p:nvPr>
        </p:nvSpPr>
        <p:spPr/>
        <p:txBody>
          <a:bodyPr/>
          <a:lstStyle/>
          <a:p>
            <a:endParaRPr lang="en-US"/>
          </a:p>
        </p:txBody>
      </p:sp>
      <p:sp>
        <p:nvSpPr>
          <p:cNvPr id="4" name="Espaço Reservado para Número de Slide 3">
            <a:extLst>
              <a:ext uri="{FF2B5EF4-FFF2-40B4-BE49-F238E27FC236}">
                <a16:creationId xmlns:a16="http://schemas.microsoft.com/office/drawing/2014/main" id="{0A96C020-B388-F3AF-4A4D-ED2E77CA0298}"/>
              </a:ext>
            </a:extLst>
          </p:cNvPr>
          <p:cNvSpPr>
            <a:spLocks noGrp="1"/>
          </p:cNvSpPr>
          <p:nvPr>
            <p:ph type="sldNum" sz="quarter" idx="5"/>
          </p:nvPr>
        </p:nvSpPr>
        <p:spPr/>
        <p:txBody>
          <a:bodyPr/>
          <a:lstStyle/>
          <a:p>
            <a:pPr>
              <a:defRPr/>
            </a:pPr>
            <a:fld id="{405B821B-3561-7748-80B2-070A260A60C6}" type="slidenum">
              <a:rPr lang="en-US" smtClean="0"/>
              <a:pPr>
                <a:defRPr/>
              </a:pPr>
              <a:t>6</a:t>
            </a:fld>
            <a:endParaRPr lang="en-US"/>
          </a:p>
        </p:txBody>
      </p:sp>
    </p:spTree>
    <p:extLst>
      <p:ext uri="{BB962C8B-B14F-4D97-AF65-F5344CB8AC3E}">
        <p14:creationId xmlns:p14="http://schemas.microsoft.com/office/powerpoint/2010/main" val="3467453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a:defRPr/>
            </a:pPr>
            <a:fld id="{405B821B-3561-7748-80B2-070A260A60C6}" type="slidenum">
              <a:rPr lang="en-US" smtClean="0"/>
              <a:pPr>
                <a:defRPr/>
              </a:pPr>
              <a:t>10</a:t>
            </a:fld>
            <a:endParaRPr lang="en-US"/>
          </a:p>
        </p:txBody>
      </p:sp>
    </p:spTree>
    <p:extLst>
      <p:ext uri="{BB962C8B-B14F-4D97-AF65-F5344CB8AC3E}">
        <p14:creationId xmlns:p14="http://schemas.microsoft.com/office/powerpoint/2010/main" val="3191614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n-US"/>
          </a:p>
        </p:txBody>
      </p:sp>
      <p:sp>
        <p:nvSpPr>
          <p:cNvPr id="4" name="Espaço Reservado para Número de Slide 3"/>
          <p:cNvSpPr>
            <a:spLocks noGrp="1"/>
          </p:cNvSpPr>
          <p:nvPr>
            <p:ph type="sldNum" sz="quarter" idx="5"/>
          </p:nvPr>
        </p:nvSpPr>
        <p:spPr/>
        <p:txBody>
          <a:bodyPr/>
          <a:lstStyle/>
          <a:p>
            <a:pPr>
              <a:defRPr/>
            </a:pPr>
            <a:fld id="{405B821B-3561-7748-80B2-070A260A60C6}" type="slidenum">
              <a:rPr lang="en-US" smtClean="0"/>
              <a:pPr>
                <a:defRPr/>
              </a:pPr>
              <a:t>11</a:t>
            </a:fld>
            <a:endParaRPr lang="en-US"/>
          </a:p>
        </p:txBody>
      </p:sp>
    </p:spTree>
    <p:extLst>
      <p:ext uri="{BB962C8B-B14F-4D97-AF65-F5344CB8AC3E}">
        <p14:creationId xmlns:p14="http://schemas.microsoft.com/office/powerpoint/2010/main" val="17259478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lide_red">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 xmlns:a14="http://schemas.microsoft.com/office/drawing/2010/main">
                <a:solidFill>
                  <a:srgbClr val="FFFFFF">
                    <a:alpha val="23137"/>
                  </a:srgbClr>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r>
              <a:rPr lang="en-US" sz="1000" i="1">
                <a:solidFill>
                  <a:srgbClr val="FF8992"/>
                </a:solidFill>
                <a:latin typeface="Arial"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solidFill>
                <a:srgbClr val="FF8992"/>
              </a:solidFill>
              <a:latin typeface="Arial"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0925"/>
            <a:ext cx="3771900" cy="2070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itle"/>
          <p:cNvSpPr>
            <a:spLocks noGrp="1"/>
          </p:cNvSpPr>
          <p:nvPr>
            <p:ph type="title"/>
          </p:nvPr>
        </p:nvSpPr>
        <p:spPr>
          <a:xfrm>
            <a:off x="1280268" y="2519812"/>
            <a:ext cx="8562090" cy="680667"/>
          </a:xfrm>
          <a:prstGeom prst="rect">
            <a:avLst/>
          </a:prstGeom>
        </p:spPr>
        <p:txBody>
          <a:bodyPr lIns="121725" tIns="60862" rIns="121725" bIns="60862"/>
          <a:lstStyle>
            <a:lvl1pPr algn="l">
              <a:defRPr sz="4800" b="1" i="0" cap="none" spc="-200" baseline="0">
                <a:solidFill>
                  <a:schemeClr val="bg1"/>
                </a:solidFill>
                <a:latin typeface="Arian"/>
                <a:cs typeface="Arian"/>
              </a:defRPr>
            </a:lvl1pPr>
          </a:lstStyle>
          <a:p>
            <a:r>
              <a:rPr lang="en-US" noProof="0"/>
              <a:t>Click to edit Master title style</a:t>
            </a:r>
          </a:p>
        </p:txBody>
      </p:sp>
      <p:sp>
        <p:nvSpPr>
          <p:cNvPr id="7" name="Subtitle"/>
          <p:cNvSpPr>
            <a:spLocks noGrp="1"/>
          </p:cNvSpPr>
          <p:nvPr>
            <p:ph type="body" sz="quarter" idx="10"/>
          </p:nvPr>
        </p:nvSpPr>
        <p:spPr>
          <a:xfrm>
            <a:off x="1280268" y="3311752"/>
            <a:ext cx="7946276" cy="918433"/>
          </a:xfrm>
          <a:prstGeom prst="rect">
            <a:avLst/>
          </a:prstGeom>
        </p:spPr>
        <p:txBody>
          <a:bodyPr lIns="121725" tIns="60862" rIns="121725" bIns="60862"/>
          <a:lstStyle>
            <a:lvl1pPr marL="0" indent="0">
              <a:buFontTx/>
              <a:buNone/>
              <a:defRPr sz="2700" b="1" i="0" spc="200">
                <a:solidFill>
                  <a:srgbClr val="FFFFFF"/>
                </a:solidFill>
                <a:latin typeface="Arian"/>
                <a:cs typeface="Arian"/>
              </a:defRPr>
            </a:lvl1pPr>
          </a:lstStyle>
          <a:p>
            <a:pPr lvl="0"/>
            <a:r>
              <a:rPr lang="en-US" noProof="0"/>
              <a:t>Edit Master text styles</a:t>
            </a:r>
          </a:p>
        </p:txBody>
      </p:sp>
    </p:spTree>
    <p:extLst>
      <p:ext uri="{BB962C8B-B14F-4D97-AF65-F5344CB8AC3E}">
        <p14:creationId xmlns:p14="http://schemas.microsoft.com/office/powerpoint/2010/main" val="2118474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_slide_grey">
    <p:spTree>
      <p:nvGrpSpPr>
        <p:cNvPr id="1" name=""/>
        <p:cNvGrpSpPr/>
        <p:nvPr/>
      </p:nvGrpSpPr>
      <p:grpSpPr>
        <a:xfrm>
          <a:off x="0" y="0"/>
          <a:ext cx="0" cy="0"/>
          <a:chOff x="0" y="0"/>
          <a:chExt cx="0" cy="0"/>
        </a:xfrm>
      </p:grpSpPr>
      <p:pic>
        <p:nvPicPr>
          <p:cNvPr id="4" name="Image 1"/>
          <p:cNvPicPr>
            <a:picLocks noChangeAspect="1"/>
          </p:cNvPicPr>
          <p:nvPr/>
        </p:nvPicPr>
        <p:blipFill>
          <a:blip r:embed="rId2">
            <a:alphaModFix amt="23000"/>
            <a:extLst>
              <a:ext uri="{28A0092B-C50C-407E-A947-70E740481C1C}">
                <a14:useLocalDpi xmlns:a14="http://schemas.microsoft.com/office/drawing/2010/main"/>
              </a:ext>
            </a:extLst>
          </a:blip>
          <a:srcRect/>
          <a:stretch>
            <a:fillRect/>
          </a:stretch>
        </p:blipFill>
        <p:spPr bwMode="auto">
          <a:xfrm>
            <a:off x="0" y="-28575"/>
            <a:ext cx="12242800" cy="6886575"/>
          </a:xfrm>
          <a:prstGeom prst="rect">
            <a:avLst/>
          </a:prstGeom>
          <a:noFill/>
          <a:ln>
            <a:noFill/>
          </a:ln>
          <a:extLst>
            <a:ext uri="{909E8E84-426E-40dd-AFC4-6F175D3DCCD1}">
              <a14:hiddenFill xmlns="" xmlns:a14="http://schemas.microsoft.com/office/drawing/2010/main">
                <a:solidFill>
                  <a:srgbClr val="FFFFFF">
                    <a:alpha val="23137"/>
                  </a:srgbClr>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2"/>
          <p:cNvSpPr>
            <a:spLocks noChangeArrowheads="1"/>
          </p:cNvSpPr>
          <p:nvPr/>
        </p:nvSpPr>
        <p:spPr bwMode="auto">
          <a:xfrm>
            <a:off x="120650" y="5929313"/>
            <a:ext cx="8175625" cy="7381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r>
              <a:rPr lang="en-US" sz="1000">
                <a:latin typeface="Arial" charset="0"/>
                <a:cs typeface="Calibri" charset="0"/>
              </a:rPr>
              <a:t>The information contained in this document may contain confidential, proprietary and/or privileged material of either Wabtec Corporation or one of its subsidiaries. Any review, retransmission, dissemination or other use of, or taking of any action in reliance upon, this information by persons or entities other than the intended recipient is prohibited unless authorized in writing. If you have received this document in error, please contact the sender and delete the material from any system and destroy any copies.</a:t>
            </a:r>
            <a:endParaRPr lang="fr-FR" sz="1000">
              <a:latin typeface="Arial" charset="0"/>
              <a:cs typeface="Calibri" charset="0"/>
            </a:endParaRPr>
          </a:p>
        </p:txBody>
      </p:sp>
      <p:pic>
        <p:nvPicPr>
          <p:cNvPr id="8" name="Picture 3" descr="Wabtec_logo.pdf"/>
          <p:cNvPicPr>
            <a:picLocks noChangeAspect="1"/>
          </p:cNvPicPr>
          <p:nvPr/>
        </p:nvPicPr>
        <p:blipFill>
          <a:blip r:embed="rId3" cstate="screen">
            <a:extLst>
              <a:ext uri="{28A0092B-C50C-407E-A947-70E740481C1C}">
                <a14:useLocalDpi xmlns:a14="http://schemas.microsoft.com/office/drawing/2010/main"/>
              </a:ext>
            </a:extLst>
          </a:blip>
          <a:srcRect b="61005"/>
          <a:stretch>
            <a:fillRect/>
          </a:stretch>
        </p:blipFill>
        <p:spPr bwMode="auto">
          <a:xfrm>
            <a:off x="8715375" y="4867275"/>
            <a:ext cx="3771900" cy="2070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itle"/>
          <p:cNvSpPr>
            <a:spLocks noGrp="1"/>
          </p:cNvSpPr>
          <p:nvPr>
            <p:ph type="title"/>
          </p:nvPr>
        </p:nvSpPr>
        <p:spPr>
          <a:xfrm>
            <a:off x="1280267" y="2519812"/>
            <a:ext cx="8503295" cy="680667"/>
          </a:xfrm>
          <a:prstGeom prst="rect">
            <a:avLst/>
          </a:prstGeom>
        </p:spPr>
        <p:txBody>
          <a:bodyPr lIns="121725" tIns="60862" rIns="121725" bIns="60862"/>
          <a:lstStyle>
            <a:lvl1pPr algn="l">
              <a:defRPr sz="4800" b="1" i="0" cap="none" spc="-200" baseline="0">
                <a:solidFill>
                  <a:schemeClr val="tx2"/>
                </a:solidFill>
                <a:latin typeface="Arian"/>
                <a:cs typeface="Arian"/>
              </a:defRPr>
            </a:lvl1pPr>
          </a:lstStyle>
          <a:p>
            <a:r>
              <a:rPr lang="en-US" noProof="0"/>
              <a:t>Click to edit Master title style</a:t>
            </a:r>
          </a:p>
        </p:txBody>
      </p:sp>
      <p:sp>
        <p:nvSpPr>
          <p:cNvPr id="7" name="Subtitle"/>
          <p:cNvSpPr>
            <a:spLocks noGrp="1"/>
          </p:cNvSpPr>
          <p:nvPr>
            <p:ph type="body" sz="quarter" idx="10"/>
          </p:nvPr>
        </p:nvSpPr>
        <p:spPr>
          <a:xfrm>
            <a:off x="1280267" y="3311752"/>
            <a:ext cx="8240253" cy="918433"/>
          </a:xfrm>
          <a:prstGeom prst="rect">
            <a:avLst/>
          </a:prstGeom>
        </p:spPr>
        <p:txBody>
          <a:bodyPr lIns="121725" tIns="60862" rIns="121725" bIns="60862"/>
          <a:lstStyle>
            <a:lvl1pPr marL="0" indent="0">
              <a:buFontTx/>
              <a:buNone/>
              <a:defRPr sz="2700" b="1" i="0" spc="200">
                <a:solidFill>
                  <a:srgbClr val="505150"/>
                </a:solidFill>
                <a:latin typeface="Arian"/>
                <a:cs typeface="Arian"/>
              </a:defRPr>
            </a:lvl1pPr>
          </a:lstStyle>
          <a:p>
            <a:pPr lvl="0"/>
            <a:r>
              <a:rPr lang="en-US" noProof="0"/>
              <a:t>Edit Master text styles</a:t>
            </a:r>
          </a:p>
        </p:txBody>
      </p:sp>
    </p:spTree>
    <p:extLst>
      <p:ext uri="{BB962C8B-B14F-4D97-AF65-F5344CB8AC3E}">
        <p14:creationId xmlns:p14="http://schemas.microsoft.com/office/powerpoint/2010/main" val="1256741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CB73CCBD-EC4F-2B4D-A3FB-34A8816A0D68}"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‹nº›</a:t>
            </a:fld>
            <a:endParaRPr lang="en-GB" sz="1100">
              <a:solidFill>
                <a:srgbClr val="FF0000"/>
              </a:solidFill>
              <a:latin typeface="Tahoma"/>
              <a:cs typeface="Tahoma"/>
            </a:endParaRPr>
          </a:p>
        </p:txBody>
      </p:sp>
      <p:sp>
        <p:nvSpPr>
          <p:cNvPr id="7"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sp>
        <p:nvSpPr>
          <p:cNvPr id="9" name="Content"/>
          <p:cNvSpPr>
            <a:spLocks noGrp="1"/>
          </p:cNvSpPr>
          <p:nvPr>
            <p:ph idx="1"/>
          </p:nvPr>
        </p:nvSpPr>
        <p:spPr>
          <a:xfrm>
            <a:off x="506613" y="1329002"/>
            <a:ext cx="11075678" cy="4966396"/>
          </a:xfrm>
          <a:prstGeom prst="rect">
            <a:avLst/>
          </a:prstGeom>
        </p:spPr>
        <p:txBody>
          <a:bodyPr lIns="121725" tIns="60862" rIns="121725" bIns="60862"/>
          <a:lstStyle>
            <a:lvl1pPr marL="274320" indent="-274320">
              <a:spcBef>
                <a:spcPts val="1200"/>
              </a:spcBef>
              <a:spcAft>
                <a:spcPts val="0"/>
              </a:spcAft>
              <a:buClrTx/>
              <a:buFont typeface="Arial"/>
              <a:buChar char="•"/>
              <a:defRPr sz="2400" b="1" i="0">
                <a:latin typeface="Tahoma (body)"/>
                <a:ea typeface="Tahoma" pitchFamily="34" charset="0"/>
                <a:cs typeface="Tahoma (body)"/>
              </a:defRPr>
            </a:lvl1pPr>
            <a:lvl2pPr marL="621792" indent="-292608">
              <a:spcBef>
                <a:spcPts val="1200"/>
              </a:spcBef>
              <a:spcAft>
                <a:spcPts val="0"/>
              </a:spcAft>
              <a:buClrTx/>
              <a:buFont typeface="Lucida Grande"/>
              <a:buChar char="-"/>
              <a:defRPr sz="2100">
                <a:latin typeface="Tahoma (body)"/>
                <a:ea typeface="Tahoma" pitchFamily="34" charset="0"/>
                <a:cs typeface="Tahoma (body)"/>
              </a:defRPr>
            </a:lvl2pPr>
            <a:lvl3pPr marL="969264" indent="-304312">
              <a:spcBef>
                <a:spcPts val="1200"/>
              </a:spcBef>
              <a:spcAft>
                <a:spcPts val="0"/>
              </a:spcAft>
              <a:buClrTx/>
              <a:buFont typeface="Lucida Grande"/>
              <a:buChar char="-"/>
              <a:defRPr sz="1900">
                <a:latin typeface="Tahoma (body)"/>
                <a:ea typeface="Tahoma" pitchFamily="34" charset="0"/>
                <a:cs typeface="Tahoma (body)"/>
              </a:defRPr>
            </a:lvl3pPr>
            <a:lvl4pPr marL="1307592" indent="-304312">
              <a:spcBef>
                <a:spcPts val="1200"/>
              </a:spcBef>
              <a:spcAft>
                <a:spcPts val="0"/>
              </a:spcAft>
              <a:buClrTx/>
              <a:buFont typeface="Lucida Grande"/>
              <a:buChar char="-"/>
              <a:defRPr sz="1900">
                <a:latin typeface="Tahoma (body)"/>
                <a:ea typeface="Tahoma" pitchFamily="34" charset="0"/>
                <a:cs typeface="Tahoma (body)"/>
              </a:defRPr>
            </a:lvl4pPr>
            <a:lvl5pPr marL="1645920" indent="-304312">
              <a:spcBef>
                <a:spcPts val="1200"/>
              </a:spcBef>
              <a:spcAft>
                <a:spcPts val="0"/>
              </a:spcAft>
              <a:buClrTx/>
              <a:buFont typeface="Lucida Grande"/>
              <a:buChar char="-"/>
              <a:defRPr sz="1900">
                <a:latin typeface="Tahoma (body)"/>
                <a:ea typeface="Tahoma" pitchFamily="34" charset="0"/>
                <a:cs typeface="Tahoma (body)"/>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rial"/>
                <a:cs typeface="Arial"/>
              </a:defRPr>
            </a:lvl1pPr>
          </a:lstStyle>
          <a:p>
            <a:r>
              <a:rPr lang="en-US" noProof="0"/>
              <a:t>Click to edit Master title style</a:t>
            </a:r>
          </a:p>
        </p:txBody>
      </p:sp>
      <p:sp>
        <p:nvSpPr>
          <p:cNvPr id="2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chemeClr val="tx1"/>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Edit Master text styles</a:t>
            </a:r>
          </a:p>
        </p:txBody>
      </p:sp>
    </p:spTree>
    <p:extLst>
      <p:ext uri="{BB962C8B-B14F-4D97-AF65-F5344CB8AC3E}">
        <p14:creationId xmlns:p14="http://schemas.microsoft.com/office/powerpoint/2010/main" val="2329954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blank">
    <p:spTree>
      <p:nvGrpSpPr>
        <p:cNvPr id="1" name=""/>
        <p:cNvGrpSpPr/>
        <p:nvPr/>
      </p:nvGrpSpPr>
      <p:grpSpPr>
        <a:xfrm>
          <a:off x="0" y="0"/>
          <a:ext cx="0" cy="0"/>
          <a:chOff x="0" y="0"/>
          <a:chExt cx="0" cy="0"/>
        </a:xfrm>
      </p:grpSpPr>
      <p:sp>
        <p:nvSpPr>
          <p:cNvPr id="4"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pic>
        <p:nvPicPr>
          <p:cNvPr id="5"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F171574E-8CE2-3540-B51F-7B17F34DC495}"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‹nº›</a:t>
            </a:fld>
            <a:endParaRPr lang="en-GB" sz="1100">
              <a:solidFill>
                <a:srgbClr val="FF0000"/>
              </a:solidFill>
              <a:latin typeface="Tahoma"/>
              <a:cs typeface="Tahoma"/>
            </a:endParaRPr>
          </a:p>
        </p:txBody>
      </p:sp>
      <p:sp>
        <p:nvSpPr>
          <p:cNvPr id="30" name="Title"/>
          <p:cNvSpPr>
            <a:spLocks noGrp="1"/>
          </p:cNvSpPr>
          <p:nvPr>
            <p:ph type="title"/>
          </p:nvPr>
        </p:nvSpPr>
        <p:spPr>
          <a:xfrm>
            <a:off x="506613" y="0"/>
            <a:ext cx="11733927" cy="815354"/>
          </a:xfrm>
          <a:prstGeom prst="rect">
            <a:avLst/>
          </a:prstGeom>
        </p:spPr>
        <p:txBody>
          <a:bodyPr lIns="121725" tIns="60862" rIns="121725" bIns="60862" anchor="b" anchorCtr="0"/>
          <a:lstStyle>
            <a:lvl1pPr marL="0" indent="0" algn="l">
              <a:defRPr sz="3600" b="1" i="0" cap="none" spc="-100" baseline="0">
                <a:solidFill>
                  <a:schemeClr val="tx1"/>
                </a:solidFill>
                <a:latin typeface="Arial"/>
                <a:cs typeface="Arial"/>
              </a:defRPr>
            </a:lvl1pPr>
          </a:lstStyle>
          <a:p>
            <a:r>
              <a:rPr lang="en-US" noProof="0"/>
              <a:t>Click to edit Master title style</a:t>
            </a:r>
          </a:p>
        </p:txBody>
      </p:sp>
      <p:sp>
        <p:nvSpPr>
          <p:cNvPr id="31" name="Subtitle"/>
          <p:cNvSpPr>
            <a:spLocks noGrp="1"/>
          </p:cNvSpPr>
          <p:nvPr>
            <p:ph type="body" sz="quarter" idx="12"/>
          </p:nvPr>
        </p:nvSpPr>
        <p:spPr>
          <a:xfrm>
            <a:off x="506613" y="680979"/>
            <a:ext cx="11267190" cy="270000"/>
          </a:xfrm>
          <a:prstGeom prst="rect">
            <a:avLst/>
          </a:prstGeom>
        </p:spPr>
        <p:txBody>
          <a:bodyPr lIns="121725" tIns="60862" rIns="121725" bIns="60862"/>
          <a:lstStyle>
            <a:lvl1pPr marL="0" indent="0">
              <a:buFontTx/>
              <a:buNone/>
              <a:defRPr sz="1900" i="0" spc="200" baseline="0">
                <a:solidFill>
                  <a:srgbClr val="505150"/>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Edit Master text styles</a:t>
            </a:r>
          </a:p>
        </p:txBody>
      </p:sp>
    </p:spTree>
    <p:extLst>
      <p:ext uri="{BB962C8B-B14F-4D97-AF65-F5344CB8AC3E}">
        <p14:creationId xmlns:p14="http://schemas.microsoft.com/office/powerpoint/2010/main" val="1239844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witout title">
    <p:spTree>
      <p:nvGrpSpPr>
        <p:cNvPr id="1" name=""/>
        <p:cNvGrpSpPr/>
        <p:nvPr/>
      </p:nvGrpSpPr>
      <p:grpSpPr>
        <a:xfrm>
          <a:off x="0" y="0"/>
          <a:ext cx="0" cy="0"/>
          <a:chOff x="0" y="0"/>
          <a:chExt cx="0" cy="0"/>
        </a:xfrm>
      </p:grpSpPr>
      <p:sp>
        <p:nvSpPr>
          <p:cNvPr id="3" name="Rectangle 3"/>
          <p:cNvSpPr>
            <a:spLocks noChangeArrowheads="1"/>
          </p:cNvSpPr>
          <p:nvPr/>
        </p:nvSpPr>
        <p:spPr bwMode="auto">
          <a:xfrm>
            <a:off x="1824038" y="6581775"/>
            <a:ext cx="8278812" cy="276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21725" tIns="60862" rIns="121725" bIns="60862">
            <a:spAutoFit/>
          </a:bodyPr>
          <a:lstStyle/>
          <a:p>
            <a:pPr algn="ctr"/>
            <a:r>
              <a:rPr lang="en-US" sz="1000">
                <a:solidFill>
                  <a:srgbClr val="505150"/>
                </a:solidFill>
                <a:cs typeface="Calibri" charset="0"/>
              </a:rPr>
              <a:t>Confidential &amp; Proprietary</a:t>
            </a:r>
            <a:endParaRPr lang="fr-FR" sz="1000">
              <a:solidFill>
                <a:srgbClr val="505150"/>
              </a:solidFill>
            </a:endParaRPr>
          </a:p>
        </p:txBody>
      </p:sp>
      <p:pic>
        <p:nvPicPr>
          <p:cNvPr id="4"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446088" y="6299200"/>
            <a:ext cx="1563687"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Page number"/>
          <p:cNvSpPr txBox="1">
            <a:spLocks/>
          </p:cNvSpPr>
          <p:nvPr/>
        </p:nvSpPr>
        <p:spPr>
          <a:xfrm>
            <a:off x="10852150" y="6535738"/>
            <a:ext cx="711200" cy="153987"/>
          </a:xfrm>
          <a:prstGeom prst="rect">
            <a:avLst/>
          </a:prstGeom>
          <a:noFill/>
          <a:ln>
            <a:noFill/>
          </a:ln>
          <a:effectLst/>
        </p:spPr>
        <p:style>
          <a:lnRef idx="1">
            <a:schemeClr val="dk1"/>
          </a:lnRef>
          <a:fillRef idx="2">
            <a:schemeClr val="dk1"/>
          </a:fillRef>
          <a:effectRef idx="1">
            <a:schemeClr val="dk1"/>
          </a:effectRef>
          <a:fontRef idx="minor">
            <a:schemeClr val="dk1"/>
          </a:fontRef>
        </p:style>
        <p:txBody>
          <a:bodyPr lIns="0" tIns="0" rIns="0" bIns="0">
            <a:spAutoFit/>
          </a:bodyPr>
          <a:lstStyle/>
          <a:p>
            <a:pPr algn="r" defTabSz="1217249" fontAlgn="auto">
              <a:spcBef>
                <a:spcPts val="0"/>
              </a:spcBef>
              <a:spcAft>
                <a:spcPts val="0"/>
              </a:spcAft>
              <a:buFont typeface="Arial" pitchFamily="34" charset="0"/>
              <a:buNone/>
              <a:defRPr/>
            </a:pPr>
            <a:fld id="{44D80DC7-73FF-5B4E-AEE5-8F1CCA53B9AB}" type="slidenum">
              <a:rPr lang="en-GB" sz="1000">
                <a:solidFill>
                  <a:srgbClr val="7F7F7F"/>
                </a:solidFill>
                <a:latin typeface="Tahoma"/>
                <a:cs typeface="Tahoma"/>
              </a:rPr>
              <a:pPr algn="r" defTabSz="1217249" fontAlgn="auto">
                <a:spcBef>
                  <a:spcPts val="0"/>
                </a:spcBef>
                <a:spcAft>
                  <a:spcPts val="0"/>
                </a:spcAft>
                <a:buFont typeface="Arial" pitchFamily="34" charset="0"/>
                <a:buNone/>
                <a:defRPr/>
              </a:pPr>
              <a:t>‹nº›</a:t>
            </a:fld>
            <a:endParaRPr lang="en-GB" sz="1100">
              <a:solidFill>
                <a:srgbClr val="FF0000"/>
              </a:solidFill>
              <a:latin typeface="Tahoma"/>
              <a:cs typeface="Tahoma"/>
            </a:endParaRPr>
          </a:p>
        </p:txBody>
      </p:sp>
      <p:sp>
        <p:nvSpPr>
          <p:cNvPr id="9" name="Content"/>
          <p:cNvSpPr>
            <a:spLocks noGrp="1"/>
          </p:cNvSpPr>
          <p:nvPr>
            <p:ph idx="1"/>
          </p:nvPr>
        </p:nvSpPr>
        <p:spPr>
          <a:xfrm>
            <a:off x="608092" y="1132771"/>
            <a:ext cx="10945654" cy="4993399"/>
          </a:xfrm>
          <a:prstGeom prst="rect">
            <a:avLst/>
          </a:prstGeom>
        </p:spPr>
        <p:txBody>
          <a:bodyPr lIns="121725" tIns="60862" rIns="121725" bIns="60862"/>
          <a:lstStyle>
            <a:lvl1pPr>
              <a:buClrTx/>
              <a:buNone/>
              <a:defRPr sz="2400" b="1" i="0">
                <a:latin typeface="Tahoma (body)"/>
                <a:ea typeface="Tahoma" pitchFamily="34" charset="0"/>
                <a:cs typeface="Tahoma (body)"/>
              </a:defRPr>
            </a:lvl1pPr>
            <a:lvl2pPr marL="347472" indent="-292608">
              <a:buClrTx/>
              <a:buFont typeface="Arial"/>
              <a:buChar char="•"/>
              <a:defRPr sz="2100">
                <a:latin typeface="Tahoma (body)"/>
                <a:ea typeface="Tahoma" pitchFamily="34" charset="0"/>
                <a:cs typeface="Tahoma (body)"/>
              </a:defRPr>
            </a:lvl2pPr>
            <a:lvl3pPr marL="694944" indent="-301752">
              <a:buClrTx/>
              <a:buFont typeface="Arial" pitchFamily="34" charset="0"/>
              <a:buChar char="−"/>
              <a:defRPr sz="1900">
                <a:latin typeface="Tahoma (body)"/>
                <a:ea typeface="Tahoma" pitchFamily="34" charset="0"/>
                <a:cs typeface="Tahoma (body)"/>
              </a:defRPr>
            </a:lvl3pPr>
            <a:lvl4pPr marL="1033272" indent="-304312">
              <a:buClrTx/>
              <a:buFont typeface="Lucida Grande"/>
              <a:buChar char="-"/>
              <a:defRPr sz="1900">
                <a:latin typeface="Tahoma (body)"/>
                <a:ea typeface="Tahoma" pitchFamily="34" charset="0"/>
                <a:cs typeface="Tahoma (body)"/>
              </a:defRPr>
            </a:lvl4pPr>
            <a:lvl5pPr marL="1371600" indent="-304312">
              <a:buClrTx/>
              <a:buFont typeface="Lucida Grande"/>
              <a:buChar char="-"/>
              <a:defRPr sz="1900">
                <a:latin typeface="Tahoma (body)"/>
                <a:ea typeface="Tahoma" pitchFamily="34" charset="0"/>
                <a:cs typeface="Tahoma (body)"/>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2073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ogo slide_white">
    <p:spTree>
      <p:nvGrpSpPr>
        <p:cNvPr id="1" name=""/>
        <p:cNvGrpSpPr/>
        <p:nvPr/>
      </p:nvGrpSpPr>
      <p:grpSpPr>
        <a:xfrm>
          <a:off x="0" y="0"/>
          <a:ext cx="0" cy="0"/>
          <a:chOff x="0" y="0"/>
          <a:chExt cx="0" cy="0"/>
        </a:xfrm>
      </p:grpSpPr>
      <p:pic>
        <p:nvPicPr>
          <p:cNvPr id="2" name="Picture 1" descr="Wabtec_logo.pdf"/>
          <p:cNvPicPr>
            <a:picLocks noChangeAspect="1"/>
          </p:cNvPicPr>
          <p:nvPr/>
        </p:nvPicPr>
        <p:blipFill>
          <a:blip r:embed="rId2" cstate="screen">
            <a:extLst>
              <a:ext uri="{28A0092B-C50C-407E-A947-70E740481C1C}">
                <a14:useLocalDpi xmlns:a14="http://schemas.microsoft.com/office/drawing/2010/main"/>
              </a:ext>
            </a:extLst>
          </a:blip>
          <a:srcRect l="17250" t="13441" r="-1193" b="65245"/>
          <a:stretch>
            <a:fillRect/>
          </a:stretch>
        </p:blipFill>
        <p:spPr bwMode="auto">
          <a:xfrm>
            <a:off x="3889375" y="2474913"/>
            <a:ext cx="5240338" cy="18732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1668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ogo_slide_red">
    <p:bg>
      <p:bgPr>
        <a:solidFill>
          <a:schemeClr val="tx2"/>
        </a:solidFill>
        <a:effectLst/>
      </p:bgPr>
    </p:bg>
    <p:spTree>
      <p:nvGrpSpPr>
        <p:cNvPr id="1" name=""/>
        <p:cNvGrpSpPr/>
        <p:nvPr/>
      </p:nvGrpSpPr>
      <p:grpSpPr>
        <a:xfrm>
          <a:off x="0" y="0"/>
          <a:ext cx="0" cy="0"/>
          <a:chOff x="0" y="0"/>
          <a:chExt cx="0" cy="0"/>
        </a:xfrm>
      </p:grpSpPr>
      <p:pic>
        <p:nvPicPr>
          <p:cNvPr id="2" name="Image 5"/>
          <p:cNvPicPr>
            <a:picLocks noChangeAspect="1"/>
          </p:cNvPicPr>
          <p:nvPr/>
        </p:nvPicPr>
        <p:blipFill>
          <a:blip r:embed="rId2" cstate="screen">
            <a:extLst>
              <a:ext uri="{28A0092B-C50C-407E-A947-70E740481C1C}">
                <a14:useLocalDpi xmlns:a14="http://schemas.microsoft.com/office/drawing/2010/main"/>
              </a:ext>
            </a:extLst>
          </a:blip>
          <a:srcRect t="81847"/>
          <a:stretch>
            <a:fillRect/>
          </a:stretch>
        </p:blipFill>
        <p:spPr bwMode="auto">
          <a:xfrm>
            <a:off x="4192588" y="2306638"/>
            <a:ext cx="3814762" cy="15033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6571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_re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rial"/>
                <a:cs typeface="Arial"/>
              </a:defRPr>
            </a:lvl1pPr>
          </a:lstStyle>
          <a:p>
            <a:r>
              <a:rPr lang="en-US" noProof="0"/>
              <a:t>Click to edit Master title style</a:t>
            </a:r>
          </a:p>
        </p:txBody>
      </p:sp>
    </p:spTree>
    <p:extLst>
      <p:ext uri="{BB962C8B-B14F-4D97-AF65-F5344CB8AC3E}">
        <p14:creationId xmlns:p14="http://schemas.microsoft.com/office/powerpoint/2010/main" val="217274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_gre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3" name="Picture 1" descr="Wabtec_logo.pdf"/>
          <p:cNvPicPr>
            <a:picLocks noChangeAspect="1"/>
          </p:cNvPicPr>
          <p:nvPr/>
        </p:nvPicPr>
        <p:blipFill>
          <a:blip r:embed="rId3" cstate="screen">
            <a:extLst>
              <a:ext uri="{28A0092B-C50C-407E-A947-70E740481C1C}">
                <a14:useLocalDpi xmlns:a14="http://schemas.microsoft.com/office/drawing/2010/main"/>
              </a:ext>
            </a:extLst>
          </a:blip>
          <a:srcRect l="17250" t="13441" r="-1193" b="65245"/>
          <a:stretch>
            <a:fillRect/>
          </a:stretch>
        </p:blipFill>
        <p:spPr bwMode="auto">
          <a:xfrm>
            <a:off x="10598150" y="6299200"/>
            <a:ext cx="1563688" cy="55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Title"/>
          <p:cNvSpPr>
            <a:spLocks noGrp="1"/>
          </p:cNvSpPr>
          <p:nvPr>
            <p:ph type="title"/>
          </p:nvPr>
        </p:nvSpPr>
        <p:spPr>
          <a:xfrm>
            <a:off x="2576183" y="3736098"/>
            <a:ext cx="9585656" cy="1731039"/>
          </a:xfrm>
          <a:prstGeom prst="rect">
            <a:avLst/>
          </a:prstGeom>
        </p:spPr>
        <p:txBody>
          <a:bodyPr lIns="121725" tIns="60862" rIns="121725" bIns="60862"/>
          <a:lstStyle>
            <a:lvl1pPr algn="l">
              <a:defRPr sz="4500" b="1" i="0" cap="none" spc="-200" baseline="0">
                <a:latin typeface="Arial"/>
                <a:cs typeface="Arial"/>
              </a:defRPr>
            </a:lvl1pPr>
          </a:lstStyle>
          <a:p>
            <a:r>
              <a:rPr lang="en-US" noProof="0"/>
              <a:t>Click to edit Master title style</a:t>
            </a:r>
          </a:p>
        </p:txBody>
      </p:sp>
    </p:spTree>
    <p:extLst>
      <p:ext uri="{BB962C8B-B14F-4D97-AF65-F5344CB8AC3E}">
        <p14:creationId xmlns:p14="http://schemas.microsoft.com/office/powerpoint/2010/main" val="2834241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leratingFutureOfTransportation">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5124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4" name="Pict"/>
          <p:cNvSpPr txBox="1">
            <a:spLocks/>
          </p:cNvSpPr>
          <p:nvPr/>
        </p:nvSpPr>
        <p:spPr>
          <a:xfrm>
            <a:off x="7061200" y="3767138"/>
            <a:ext cx="768350" cy="755650"/>
          </a:xfrm>
          <a:prstGeom prst="rect">
            <a:avLst/>
          </a:prstGeom>
        </p:spPr>
        <p:txBody>
          <a:bodyPr lIns="121725" tIns="60862" rIns="121725" bIns="60862"/>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608625" fontAlgn="auto">
              <a:spcAft>
                <a:spcPts val="0"/>
              </a:spcAft>
              <a:defRPr/>
            </a:pPr>
            <a:r>
              <a:rPr lang="fr-FR" sz="3700" b="1" spc="-200">
                <a:solidFill>
                  <a:schemeClr val="bg1"/>
                </a:solidFill>
                <a:latin typeface="Arial"/>
                <a:cs typeface="Arial"/>
              </a:rPr>
              <a:t>///</a:t>
            </a:r>
          </a:p>
        </p:txBody>
      </p:sp>
      <p:sp>
        <p:nvSpPr>
          <p:cNvPr id="10" name="Title"/>
          <p:cNvSpPr>
            <a:spLocks noGrp="1"/>
          </p:cNvSpPr>
          <p:nvPr>
            <p:ph type="title"/>
          </p:nvPr>
        </p:nvSpPr>
        <p:spPr>
          <a:xfrm>
            <a:off x="7599372" y="3762443"/>
            <a:ext cx="4384157" cy="815354"/>
          </a:xfrm>
          <a:prstGeom prst="rect">
            <a:avLst/>
          </a:prstGeom>
        </p:spPr>
        <p:txBody>
          <a:bodyPr lIns="121725" tIns="60862" rIns="121725" bIns="60862" anchor="b" anchorCtr="0"/>
          <a:lstStyle>
            <a:lvl1pPr marL="0" indent="0" algn="l">
              <a:spcBef>
                <a:spcPts val="0"/>
              </a:spcBef>
              <a:defRPr sz="3600" b="1" i="0" cap="none" spc="-100" baseline="0">
                <a:solidFill>
                  <a:schemeClr val="bg1"/>
                </a:solidFill>
                <a:latin typeface="Arial"/>
                <a:cs typeface="Arial"/>
              </a:defRPr>
            </a:lvl1pPr>
          </a:lstStyle>
          <a:p>
            <a:r>
              <a:rPr lang="en-US" noProof="0"/>
              <a:t>Click to edit Master title style</a:t>
            </a:r>
          </a:p>
        </p:txBody>
      </p:sp>
      <p:sp>
        <p:nvSpPr>
          <p:cNvPr id="11" name="Subtitle"/>
          <p:cNvSpPr>
            <a:spLocks noGrp="1"/>
          </p:cNvSpPr>
          <p:nvPr>
            <p:ph type="body" sz="quarter" idx="12"/>
          </p:nvPr>
        </p:nvSpPr>
        <p:spPr>
          <a:xfrm>
            <a:off x="7599372" y="4443422"/>
            <a:ext cx="3945470" cy="270000"/>
          </a:xfrm>
          <a:prstGeom prst="rect">
            <a:avLst/>
          </a:prstGeom>
        </p:spPr>
        <p:txBody>
          <a:bodyPr lIns="121725" tIns="60862" rIns="121725" bIns="60862"/>
          <a:lstStyle>
            <a:lvl1pPr marL="0" indent="0">
              <a:spcBef>
                <a:spcPts val="0"/>
              </a:spcBef>
              <a:buFontTx/>
              <a:buNone/>
              <a:defRPr sz="1900" i="1" spc="200" baseline="0">
                <a:solidFill>
                  <a:schemeClr val="bg1"/>
                </a:solidFill>
                <a:latin typeface="Arial"/>
                <a:cs typeface="Arial"/>
              </a:defRPr>
            </a:lvl1pPr>
            <a:lvl2pPr>
              <a:buFontTx/>
              <a:buNone/>
              <a:defRPr sz="1900" i="1" baseline="0">
                <a:latin typeface="Arial" pitchFamily="34" charset="0"/>
                <a:cs typeface="Arial" pitchFamily="34" charset="0"/>
              </a:defRPr>
            </a:lvl2pPr>
            <a:lvl3pPr>
              <a:buFontTx/>
              <a:buNone/>
              <a:defRPr sz="1900" i="1" baseline="0">
                <a:latin typeface="Arial" pitchFamily="34" charset="0"/>
                <a:cs typeface="Arial" pitchFamily="34" charset="0"/>
              </a:defRPr>
            </a:lvl3pPr>
            <a:lvl4pPr>
              <a:buFontTx/>
              <a:buNone/>
              <a:defRPr sz="1900" i="1" baseline="0">
                <a:latin typeface="Arial" pitchFamily="34" charset="0"/>
                <a:cs typeface="Arial" pitchFamily="34" charset="0"/>
              </a:defRPr>
            </a:lvl4pPr>
            <a:lvl5pPr>
              <a:buFontTx/>
              <a:buNone/>
              <a:defRPr sz="1900" i="1" baseline="0">
                <a:latin typeface="Arial" pitchFamily="34" charset="0"/>
                <a:cs typeface="Arial" pitchFamily="34" charset="0"/>
              </a:defRPr>
            </a:lvl5pPr>
          </a:lstStyle>
          <a:p>
            <a:pPr lvl="0"/>
            <a:r>
              <a:rPr lang="en-US" noProof="0"/>
              <a:t>Edit Master text styles</a:t>
            </a:r>
          </a:p>
        </p:txBody>
      </p:sp>
    </p:spTree>
    <p:extLst>
      <p:ext uri="{BB962C8B-B14F-4D97-AF65-F5344CB8AC3E}">
        <p14:creationId xmlns:p14="http://schemas.microsoft.com/office/powerpoint/2010/main" val="1092224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8719E3-ADAA-C198-CF69-921607B58848}"/>
              </a:ext>
            </a:extLst>
          </p:cNvPr>
          <p:cNvSpPr txBox="1"/>
          <p:nvPr userDrawn="1">
            <p:extLst>
              <p:ext uri="{1162E1C5-73C7-4A58-AE30-91384D911F3F}">
                <p184:classification xmlns:p184="http://schemas.microsoft.com/office/powerpoint/2018/4/main" val="hdr"/>
              </p:ext>
            </p:extLst>
          </p:nvPr>
        </p:nvSpPr>
        <p:spPr>
          <a:xfrm>
            <a:off x="11369675" y="63500"/>
            <a:ext cx="749300"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1 - General Business</a:t>
            </a:r>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9" r:id="rId8"/>
    <p:sldLayoutId id="2147483760" r:id="rId9"/>
    <p:sldLayoutId id="2147483761" r:id="rId10"/>
    <p:sldLayoutId id="2147483762" r:id="rId11"/>
  </p:sldLayoutIdLst>
  <p:txStyles>
    <p:titleStyle>
      <a:lvl1pPr algn="ctr" defTabSz="608013" rtl="0" eaLnBrk="1" fontAlgn="base" hangingPunct="1">
        <a:spcBef>
          <a:spcPct val="0"/>
        </a:spcBef>
        <a:spcAft>
          <a:spcPct val="0"/>
        </a:spcAft>
        <a:defRPr sz="5900" kern="1200">
          <a:solidFill>
            <a:schemeClr val="tx1"/>
          </a:solidFill>
          <a:latin typeface="+mj-lt"/>
          <a:ea typeface="ＭＳ Ｐゴシック" charset="0"/>
          <a:cs typeface="ＭＳ Ｐゴシック" charset="0"/>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p:titleStyle>
    <p:bodyStyle>
      <a:lvl1pPr marL="455613" indent="-455613" algn="l" defTabSz="608013" rtl="0" eaLnBrk="1" fontAlgn="base" hangingPunct="1">
        <a:spcBef>
          <a:spcPct val="20000"/>
        </a:spcBef>
        <a:spcAft>
          <a:spcPct val="0"/>
        </a:spcAft>
        <a:buFont typeface="Arial" charset="0"/>
        <a:buChar char="•"/>
        <a:defRPr sz="4300" kern="1200">
          <a:solidFill>
            <a:schemeClr val="tx1"/>
          </a:solidFill>
          <a:latin typeface="+mn-lt"/>
          <a:ea typeface="ＭＳ Ｐゴシック" charset="0"/>
          <a:cs typeface="ＭＳ Ｐゴシック" charset="0"/>
        </a:defRPr>
      </a:lvl1pPr>
      <a:lvl2pPr marL="989013" indent="-379413" algn="l" defTabSz="608013"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3213" algn="l" defTabSz="608013"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288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4pPr>
      <a:lvl5pPr marL="2738438" indent="-303213" algn="l" defTabSz="608013" rtl="0" eaLnBrk="1" fontAlgn="base" hangingPunct="1">
        <a:spcBef>
          <a:spcPct val="20000"/>
        </a:spcBef>
        <a:spcAft>
          <a:spcPct val="0"/>
        </a:spcAft>
        <a:buFont typeface="Arial" charset="0"/>
        <a:buChar char="»"/>
        <a:defRPr sz="2700" kern="1200">
          <a:solidFill>
            <a:schemeClr val="tx1"/>
          </a:solidFill>
          <a:latin typeface="+mn-lt"/>
          <a:ea typeface="ＭＳ Ｐゴシック" charset="0"/>
          <a:cs typeface="+mn-cs"/>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fr-FR"/>
      </a:defPPr>
      <a:lvl1pPr marL="0" algn="l" defTabSz="608625" rtl="0" eaLnBrk="1" latinLnBrk="0" hangingPunct="1">
        <a:defRPr sz="2400" kern="1200">
          <a:solidFill>
            <a:schemeClr val="tx1"/>
          </a:solidFill>
          <a:latin typeface="+mn-lt"/>
          <a:ea typeface="+mn-ea"/>
          <a:cs typeface="+mn-cs"/>
        </a:defRPr>
      </a:lvl1pPr>
      <a:lvl2pPr marL="608625" algn="l" defTabSz="608625" rtl="0" eaLnBrk="1" latinLnBrk="0" hangingPunct="1">
        <a:defRPr sz="2400" kern="1200">
          <a:solidFill>
            <a:schemeClr val="tx1"/>
          </a:solidFill>
          <a:latin typeface="+mn-lt"/>
          <a:ea typeface="+mn-ea"/>
          <a:cs typeface="+mn-cs"/>
        </a:defRPr>
      </a:lvl2pPr>
      <a:lvl3pPr marL="1217249" algn="l" defTabSz="608625" rtl="0" eaLnBrk="1" latinLnBrk="0" hangingPunct="1">
        <a:defRPr sz="2400" kern="1200">
          <a:solidFill>
            <a:schemeClr val="tx1"/>
          </a:solidFill>
          <a:latin typeface="+mn-lt"/>
          <a:ea typeface="+mn-ea"/>
          <a:cs typeface="+mn-cs"/>
        </a:defRPr>
      </a:lvl3pPr>
      <a:lvl4pPr marL="1825874" algn="l" defTabSz="608625" rtl="0" eaLnBrk="1" latinLnBrk="0" hangingPunct="1">
        <a:defRPr sz="2400" kern="1200">
          <a:solidFill>
            <a:schemeClr val="tx1"/>
          </a:solidFill>
          <a:latin typeface="+mn-lt"/>
          <a:ea typeface="+mn-ea"/>
          <a:cs typeface="+mn-cs"/>
        </a:defRPr>
      </a:lvl4pPr>
      <a:lvl5pPr marL="2434499" algn="l" defTabSz="608625" rtl="0" eaLnBrk="1" latinLnBrk="0" hangingPunct="1">
        <a:defRPr sz="2400" kern="1200">
          <a:solidFill>
            <a:schemeClr val="tx1"/>
          </a:solidFill>
          <a:latin typeface="+mn-lt"/>
          <a:ea typeface="+mn-ea"/>
          <a:cs typeface="+mn-cs"/>
        </a:defRPr>
      </a:lvl5pPr>
      <a:lvl6pPr marL="3043123" algn="l" defTabSz="608625" rtl="0" eaLnBrk="1" latinLnBrk="0" hangingPunct="1">
        <a:defRPr sz="2400" kern="1200">
          <a:solidFill>
            <a:schemeClr val="tx1"/>
          </a:solidFill>
          <a:latin typeface="+mn-lt"/>
          <a:ea typeface="+mn-ea"/>
          <a:cs typeface="+mn-cs"/>
        </a:defRPr>
      </a:lvl6pPr>
      <a:lvl7pPr marL="3651748" algn="l" defTabSz="608625" rtl="0" eaLnBrk="1" latinLnBrk="0" hangingPunct="1">
        <a:defRPr sz="2400" kern="1200">
          <a:solidFill>
            <a:schemeClr val="tx1"/>
          </a:solidFill>
          <a:latin typeface="+mn-lt"/>
          <a:ea typeface="+mn-ea"/>
          <a:cs typeface="+mn-cs"/>
        </a:defRPr>
      </a:lvl7pPr>
      <a:lvl8pPr marL="4260372" algn="l" defTabSz="608625" rtl="0" eaLnBrk="1" latinLnBrk="0" hangingPunct="1">
        <a:defRPr sz="2400" kern="1200">
          <a:solidFill>
            <a:schemeClr val="tx1"/>
          </a:solidFill>
          <a:latin typeface="+mn-lt"/>
          <a:ea typeface="+mn-ea"/>
          <a:cs typeface="+mn-cs"/>
        </a:defRPr>
      </a:lvl8pPr>
      <a:lvl9pPr marL="4868997" algn="l" defTabSz="60862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w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a:xfrm>
            <a:off x="609726" y="2286242"/>
            <a:ext cx="9058149" cy="814387"/>
          </a:xfrm>
        </p:spPr>
        <p:txBody>
          <a:bodyPr/>
          <a:lstStyle/>
          <a:p>
            <a:pPr defTabSz="608625" fontAlgn="auto">
              <a:spcAft>
                <a:spcPts val="0"/>
              </a:spcAft>
              <a:defRPr/>
            </a:pPr>
            <a:r>
              <a:rPr lang="pt-BR" sz="2800" spc="0">
                <a:latin typeface="Arial"/>
                <a:ea typeface="+mj-ea"/>
                <a:cs typeface="Arial"/>
              </a:rPr>
              <a:t>CUSTOMER – PROJECT NAME</a:t>
            </a:r>
            <a:br>
              <a:rPr lang="pt-BR" sz="2800" spc="0">
                <a:latin typeface="Arial"/>
                <a:ea typeface="+mj-ea"/>
                <a:cs typeface="Arial"/>
              </a:rPr>
            </a:br>
            <a:r>
              <a:rPr lang="pt-BR" sz="2000" spc="0" err="1">
                <a:latin typeface="Arial"/>
                <a:ea typeface="+mj-ea"/>
                <a:cs typeface="Arial"/>
              </a:rPr>
              <a:t>Customer</a:t>
            </a:r>
            <a:r>
              <a:rPr lang="pt-BR" sz="2000" spc="0">
                <a:latin typeface="Arial"/>
                <a:ea typeface="+mj-ea"/>
                <a:cs typeface="Arial"/>
              </a:rPr>
              <a:t> </a:t>
            </a:r>
            <a:r>
              <a:rPr lang="pt-BR" sz="2000" spc="0" err="1">
                <a:latin typeface="Arial"/>
                <a:ea typeface="+mj-ea"/>
                <a:cs typeface="Arial"/>
              </a:rPr>
              <a:t>Location</a:t>
            </a:r>
            <a:endParaRPr lang="en-US" sz="2800" spc="0">
              <a:latin typeface="Arial"/>
              <a:ea typeface="+mj-ea"/>
              <a:cs typeface="Arial"/>
            </a:endParaRPr>
          </a:p>
        </p:txBody>
      </p:sp>
      <p:sp>
        <p:nvSpPr>
          <p:cNvPr id="5" name="Espace réservé du texte 4"/>
          <p:cNvSpPr>
            <a:spLocks noGrp="1"/>
          </p:cNvSpPr>
          <p:nvPr>
            <p:ph type="body" sz="quarter" idx="10"/>
          </p:nvPr>
        </p:nvSpPr>
        <p:spPr>
          <a:xfrm>
            <a:off x="609726" y="3297790"/>
            <a:ext cx="7993063" cy="919163"/>
          </a:xfrm>
        </p:spPr>
        <p:txBody>
          <a:bodyPr/>
          <a:lstStyle/>
          <a:p>
            <a:pPr defTabSz="608625" fontAlgn="auto">
              <a:spcAft>
                <a:spcPts val="0"/>
              </a:spcAft>
              <a:defRPr/>
            </a:pPr>
            <a:r>
              <a:rPr lang="en-US" sz="2000" b="0" i="1">
                <a:solidFill>
                  <a:schemeClr val="bg1"/>
                </a:solidFill>
                <a:latin typeface="+mj-lt"/>
                <a:ea typeface="+mn-ea"/>
              </a:rPr>
              <a:t>Go/No-Go</a:t>
            </a:r>
          </a:p>
        </p:txBody>
      </p:sp>
      <p:sp>
        <p:nvSpPr>
          <p:cNvPr id="3" name="CaixaDeTexto 2">
            <a:extLst>
              <a:ext uri="{FF2B5EF4-FFF2-40B4-BE49-F238E27FC236}">
                <a16:creationId xmlns:a16="http://schemas.microsoft.com/office/drawing/2014/main" id="{7FF3DD99-66A9-0E04-6314-BFD30B744B0A}"/>
              </a:ext>
            </a:extLst>
          </p:cNvPr>
          <p:cNvSpPr txBox="1"/>
          <p:nvPr/>
        </p:nvSpPr>
        <p:spPr>
          <a:xfrm>
            <a:off x="609726" y="3885602"/>
            <a:ext cx="6248400" cy="923330"/>
          </a:xfrm>
          <a:prstGeom prst="rect">
            <a:avLst/>
          </a:prstGeom>
          <a:noFill/>
        </p:spPr>
        <p:txBody>
          <a:bodyPr wrap="square">
            <a:spAutoFit/>
          </a:bodyPr>
          <a:lstStyle/>
          <a:p>
            <a:r>
              <a:rPr lang="en-US" sz="1800">
                <a:solidFill>
                  <a:schemeClr val="bg1"/>
                </a:solidFill>
                <a:latin typeface="+mj-lt"/>
              </a:rPr>
              <a:t>Salesforce ID:</a:t>
            </a:r>
            <a:endParaRPr lang="en-US" sz="1800" b="0" i="0">
              <a:solidFill>
                <a:schemeClr val="bg1"/>
              </a:solidFill>
              <a:effectLst/>
              <a:latin typeface="+mj-lt"/>
            </a:endParaRPr>
          </a:p>
          <a:p>
            <a:r>
              <a:rPr lang="en-US" sz="1800" b="0" i="0">
                <a:solidFill>
                  <a:schemeClr val="bg1"/>
                </a:solidFill>
                <a:effectLst/>
                <a:latin typeface="+mj-lt"/>
              </a:rPr>
              <a:t>RFP No.:</a:t>
            </a:r>
            <a:endParaRPr lang="en-US" sz="1800">
              <a:solidFill>
                <a:schemeClr val="bg1"/>
              </a:solidFill>
              <a:latin typeface="+mj-lt"/>
            </a:endParaRPr>
          </a:p>
          <a:p>
            <a:r>
              <a:rPr lang="en-US" sz="1800">
                <a:solidFill>
                  <a:schemeClr val="bg1"/>
                </a:solidFill>
                <a:latin typeface="+mj-lt"/>
              </a:rPr>
              <a:t>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91966" y="-74493"/>
            <a:ext cx="11734800" cy="815975"/>
          </a:xfrm>
        </p:spPr>
        <p:txBody>
          <a:bodyPr/>
          <a:lstStyle/>
          <a:p>
            <a:pPr defTabSz="608625" fontAlgn="auto">
              <a:spcAft>
                <a:spcPts val="0"/>
              </a:spcAft>
              <a:defRPr/>
            </a:pPr>
            <a:r>
              <a:rPr lang="en-US" sz="2400">
                <a:ea typeface="+mj-ea"/>
              </a:rPr>
              <a:t>Customer - Project Name</a:t>
            </a:r>
          </a:p>
        </p:txBody>
      </p:sp>
      <p:sp>
        <p:nvSpPr>
          <p:cNvPr id="2" name="Text Placeholder 1"/>
          <p:cNvSpPr>
            <a:spLocks noGrp="1"/>
          </p:cNvSpPr>
          <p:nvPr>
            <p:ph type="body" sz="quarter" idx="12"/>
          </p:nvPr>
        </p:nvSpPr>
        <p:spPr>
          <a:xfrm>
            <a:off x="191966" y="631282"/>
            <a:ext cx="11268075" cy="269875"/>
          </a:xfrm>
        </p:spPr>
        <p:txBody>
          <a:bodyPr/>
          <a:lstStyle/>
          <a:p>
            <a:pPr defTabSz="608625" fontAlgn="auto">
              <a:spcAft>
                <a:spcPts val="0"/>
              </a:spcAft>
              <a:defRPr/>
            </a:pPr>
            <a:r>
              <a:rPr lang="en-US" sz="1400">
                <a:ea typeface="+mn-ea"/>
              </a:rPr>
              <a:t>Deal Overview</a:t>
            </a:r>
          </a:p>
        </p:txBody>
      </p:sp>
      <p:sp>
        <p:nvSpPr>
          <p:cNvPr id="9" name="TextBox 8">
            <a:extLst>
              <a:ext uri="{FF2B5EF4-FFF2-40B4-BE49-F238E27FC236}">
                <a16:creationId xmlns:a16="http://schemas.microsoft.com/office/drawing/2014/main" id="{E13A90E0-22E8-44C2-8A7C-2E5E96998126}"/>
              </a:ext>
            </a:extLst>
          </p:cNvPr>
          <p:cNvSpPr txBox="1"/>
          <p:nvPr/>
        </p:nvSpPr>
        <p:spPr>
          <a:xfrm>
            <a:off x="228725" y="1122905"/>
            <a:ext cx="1897051"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PROJECT OVERVIEW</a:t>
            </a:r>
          </a:p>
        </p:txBody>
      </p:sp>
      <p:cxnSp>
        <p:nvCxnSpPr>
          <p:cNvPr id="10" name="Straight Connector 9">
            <a:extLst>
              <a:ext uri="{FF2B5EF4-FFF2-40B4-BE49-F238E27FC236}">
                <a16:creationId xmlns:a16="http://schemas.microsoft.com/office/drawing/2014/main" id="{918F5DB8-836A-4AA0-A86D-83B13C7FAE3C}"/>
              </a:ext>
            </a:extLst>
          </p:cNvPr>
          <p:cNvCxnSpPr>
            <a:cxnSpLocks/>
          </p:cNvCxnSpPr>
          <p:nvPr/>
        </p:nvCxnSpPr>
        <p:spPr>
          <a:xfrm>
            <a:off x="322724" y="1375840"/>
            <a:ext cx="6929950" cy="0"/>
          </a:xfrm>
          <a:prstGeom prst="line">
            <a:avLst/>
          </a:prstGeom>
          <a:ln w="6350">
            <a:solidFill>
              <a:schemeClr val="bg2">
                <a:lumMod val="10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3468A5B-5C01-4710-B66B-429DC85F3FFD}"/>
              </a:ext>
            </a:extLst>
          </p:cNvPr>
          <p:cNvSpPr txBox="1"/>
          <p:nvPr/>
        </p:nvSpPr>
        <p:spPr>
          <a:xfrm>
            <a:off x="7510937" y="378949"/>
            <a:ext cx="3521342"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COMMERCIAL &amp; EVALUATION CRITERIA</a:t>
            </a:r>
          </a:p>
        </p:txBody>
      </p:sp>
      <p:sp>
        <p:nvSpPr>
          <p:cNvPr id="26" name="TextBox 25">
            <a:extLst>
              <a:ext uri="{FF2B5EF4-FFF2-40B4-BE49-F238E27FC236}">
                <a16:creationId xmlns:a16="http://schemas.microsoft.com/office/drawing/2014/main" id="{87FDF908-7149-4EF0-8B38-F5A8FA9D45DA}"/>
              </a:ext>
            </a:extLst>
          </p:cNvPr>
          <p:cNvSpPr txBox="1"/>
          <p:nvPr/>
        </p:nvSpPr>
        <p:spPr>
          <a:xfrm>
            <a:off x="7481046" y="2724690"/>
            <a:ext cx="2413346"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POTENTIAL COMPETITORS</a:t>
            </a:r>
          </a:p>
        </p:txBody>
      </p:sp>
      <p:sp>
        <p:nvSpPr>
          <p:cNvPr id="6" name="TextBox 5">
            <a:extLst>
              <a:ext uri="{FF2B5EF4-FFF2-40B4-BE49-F238E27FC236}">
                <a16:creationId xmlns:a16="http://schemas.microsoft.com/office/drawing/2014/main" id="{14B267EC-103B-46B3-8EB6-77F8CC89A235}"/>
              </a:ext>
            </a:extLst>
          </p:cNvPr>
          <p:cNvSpPr txBox="1"/>
          <p:nvPr/>
        </p:nvSpPr>
        <p:spPr>
          <a:xfrm>
            <a:off x="256414" y="1447257"/>
            <a:ext cx="3981044" cy="2539157"/>
          </a:xfrm>
          <a:prstGeom prst="rect">
            <a:avLst/>
          </a:prstGeom>
          <a:noFill/>
        </p:spPr>
        <p:txBody>
          <a:bodyPr wrap="square" rtlCol="0">
            <a:spAutoFit/>
          </a:bodyPr>
          <a:lstStyle/>
          <a:p>
            <a:pPr algn="just">
              <a:spcBef>
                <a:spcPts val="600"/>
              </a:spcBef>
            </a:pPr>
            <a:r>
              <a:rPr lang="en-US" sz="1000">
                <a:solidFill>
                  <a:srgbClr val="FF0000"/>
                </a:solidFill>
                <a:latin typeface="Tahoma (body)"/>
              </a:rPr>
              <a:t>General info about the project: Location, greenfield/brownfield, km/miles, RR type (Light Rail, Heavy-Rail, Commuter, </a:t>
            </a:r>
            <a:r>
              <a:rPr lang="en-US" sz="1000" err="1">
                <a:solidFill>
                  <a:srgbClr val="FF0000"/>
                </a:solidFill>
                <a:latin typeface="Tahoma (body)"/>
              </a:rPr>
              <a:t>etc</a:t>
            </a:r>
            <a:r>
              <a:rPr lang="en-US" sz="1000">
                <a:solidFill>
                  <a:srgbClr val="FF0000"/>
                </a:solidFill>
                <a:latin typeface="Tahoma (body)"/>
              </a:rPr>
              <a:t>), </a:t>
            </a:r>
          </a:p>
          <a:p>
            <a:pPr algn="just">
              <a:spcBef>
                <a:spcPts val="600"/>
              </a:spcBef>
            </a:pPr>
            <a:endParaRPr lang="en-US" sz="1000">
              <a:solidFill>
                <a:srgbClr val="FF0000"/>
              </a:solidFill>
              <a:latin typeface="Tahoma (body)"/>
            </a:endParaRPr>
          </a:p>
          <a:p>
            <a:pPr algn="just">
              <a:spcBef>
                <a:spcPts val="600"/>
              </a:spcBef>
            </a:pPr>
            <a:r>
              <a:rPr lang="en-US" sz="1000">
                <a:solidFill>
                  <a:srgbClr val="FF0000"/>
                </a:solidFill>
                <a:latin typeface="Tahoma (body)"/>
              </a:rPr>
              <a:t>System Type (PTC, CBTC, ATP, </a:t>
            </a:r>
            <a:r>
              <a:rPr lang="en-US" sz="1000" err="1">
                <a:solidFill>
                  <a:srgbClr val="FF0000"/>
                </a:solidFill>
                <a:latin typeface="Tahoma (body)"/>
              </a:rPr>
              <a:t>etc</a:t>
            </a:r>
            <a:r>
              <a:rPr lang="en-US" sz="1000">
                <a:solidFill>
                  <a:srgbClr val="FF0000"/>
                </a:solidFill>
                <a:latin typeface="Tahoma (body)"/>
              </a:rPr>
              <a:t>), Background info, Financial Info (funded?, how much to spent in the project vs desired scope), </a:t>
            </a:r>
            <a:r>
              <a:rPr lang="en-US" sz="1000" err="1">
                <a:solidFill>
                  <a:srgbClr val="FF0000"/>
                </a:solidFill>
                <a:latin typeface="Tahoma (body)"/>
              </a:rPr>
              <a:t>etc</a:t>
            </a:r>
            <a:r>
              <a:rPr lang="en-US" sz="1000">
                <a:solidFill>
                  <a:srgbClr val="FF0000"/>
                </a:solidFill>
                <a:latin typeface="Tahoma (body)"/>
              </a:rPr>
              <a:t>…</a:t>
            </a:r>
          </a:p>
          <a:p>
            <a:pPr algn="just">
              <a:spcBef>
                <a:spcPts val="600"/>
              </a:spcBef>
            </a:pPr>
            <a:r>
              <a:rPr lang="en-US" sz="1000" b="1"/>
              <a:t>Cyber security required? </a:t>
            </a:r>
          </a:p>
          <a:p>
            <a:pPr algn="just">
              <a:spcBef>
                <a:spcPts val="600"/>
              </a:spcBef>
            </a:pPr>
            <a:r>
              <a:rPr lang="en-US" sz="1000">
                <a:solidFill>
                  <a:srgbClr val="FF0000"/>
                </a:solidFill>
                <a:latin typeface="Tahoma (body)"/>
              </a:rPr>
              <a:t>Schedule/Project Duration/Milestones </a:t>
            </a:r>
          </a:p>
          <a:p>
            <a:pPr algn="just">
              <a:spcBef>
                <a:spcPts val="600"/>
              </a:spcBef>
            </a:pPr>
            <a:r>
              <a:rPr lang="en-US" sz="900" b="1">
                <a:solidFill>
                  <a:srgbClr val="FF0000"/>
                </a:solidFill>
                <a:latin typeface="Tahoma (body)"/>
              </a:rPr>
              <a:t>(refer to an existing schedule if available)</a:t>
            </a:r>
          </a:p>
          <a:p>
            <a:pPr algn="just">
              <a:spcBef>
                <a:spcPts val="600"/>
              </a:spcBef>
            </a:pPr>
            <a:endParaRPr lang="en-US" sz="1000">
              <a:solidFill>
                <a:srgbClr val="FF0000"/>
              </a:solidFill>
              <a:latin typeface="Tahoma (body)"/>
            </a:endParaRPr>
          </a:p>
          <a:p>
            <a:pPr algn="just">
              <a:spcBef>
                <a:spcPts val="600"/>
              </a:spcBef>
            </a:pPr>
            <a:r>
              <a:rPr lang="en-US" sz="1000" b="1"/>
              <a:t>Bid budget: Total ($); Wabtec share($)</a:t>
            </a:r>
          </a:p>
          <a:p>
            <a:pPr algn="just">
              <a:spcBef>
                <a:spcPts val="600"/>
              </a:spcBef>
            </a:pPr>
            <a:r>
              <a:rPr lang="en-US" sz="1000" b="1"/>
              <a:t>DBE/SBE Goal:</a:t>
            </a:r>
            <a:endParaRPr lang="en-US" sz="1000">
              <a:solidFill>
                <a:srgbClr val="FF0000"/>
              </a:solidFill>
              <a:latin typeface="Tahoma (body)"/>
            </a:endParaRPr>
          </a:p>
        </p:txBody>
      </p:sp>
      <p:sp>
        <p:nvSpPr>
          <p:cNvPr id="13" name="TextBox 12">
            <a:extLst>
              <a:ext uri="{FF2B5EF4-FFF2-40B4-BE49-F238E27FC236}">
                <a16:creationId xmlns:a16="http://schemas.microsoft.com/office/drawing/2014/main" id="{E6E74D0B-8DEB-46F5-9CA7-A721A893C76A}"/>
              </a:ext>
            </a:extLst>
          </p:cNvPr>
          <p:cNvSpPr txBox="1"/>
          <p:nvPr/>
        </p:nvSpPr>
        <p:spPr>
          <a:xfrm>
            <a:off x="7581595" y="3054679"/>
            <a:ext cx="2609570" cy="530915"/>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100">
                <a:solidFill>
                  <a:srgbClr val="FF0000"/>
                </a:solidFill>
              </a:rPr>
              <a:t>Competitor 1 </a:t>
            </a:r>
            <a:r>
              <a:rPr lang="en-US" sz="1100" b="1">
                <a:solidFill>
                  <a:srgbClr val="FF0000"/>
                </a:solidFill>
              </a:rPr>
              <a:t>– H/M/L</a:t>
            </a:r>
            <a:endParaRPr lang="en-US" sz="1000">
              <a:solidFill>
                <a:srgbClr val="FF0000"/>
              </a:solidFill>
            </a:endParaRPr>
          </a:p>
          <a:p>
            <a:pPr marL="285750" indent="-285750">
              <a:buFont typeface="Arial" panose="020B0604020202020204" pitchFamily="34" charset="0"/>
              <a:buChar char="•"/>
            </a:pPr>
            <a:endParaRPr lang="en-US" sz="1400"/>
          </a:p>
        </p:txBody>
      </p:sp>
      <p:sp>
        <p:nvSpPr>
          <p:cNvPr id="5" name="Rectangle 4">
            <a:extLst>
              <a:ext uri="{FF2B5EF4-FFF2-40B4-BE49-F238E27FC236}">
                <a16:creationId xmlns:a16="http://schemas.microsoft.com/office/drawing/2014/main" id="{265152A0-C339-4B7B-BD9D-C0800314F977}"/>
              </a:ext>
            </a:extLst>
          </p:cNvPr>
          <p:cNvSpPr/>
          <p:nvPr/>
        </p:nvSpPr>
        <p:spPr>
          <a:xfrm>
            <a:off x="4343172" y="1442390"/>
            <a:ext cx="2909502" cy="2280200"/>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8" name="TextBox 7">
            <a:extLst>
              <a:ext uri="{FF2B5EF4-FFF2-40B4-BE49-F238E27FC236}">
                <a16:creationId xmlns:a16="http://schemas.microsoft.com/office/drawing/2014/main" id="{68CF41DC-E219-4ADC-A73C-F34254CB16AE}"/>
              </a:ext>
            </a:extLst>
          </p:cNvPr>
          <p:cNvSpPr txBox="1"/>
          <p:nvPr/>
        </p:nvSpPr>
        <p:spPr>
          <a:xfrm>
            <a:off x="4657797" y="2259324"/>
            <a:ext cx="2303749" cy="646331"/>
          </a:xfrm>
          <a:prstGeom prst="rect">
            <a:avLst/>
          </a:prstGeom>
          <a:noFill/>
        </p:spPr>
        <p:txBody>
          <a:bodyPr wrap="square" rtlCol="0">
            <a:spAutoFit/>
          </a:bodyPr>
          <a:lstStyle/>
          <a:p>
            <a:pPr algn="ctr"/>
            <a:r>
              <a:rPr lang="pt-BR" sz="1600"/>
              <a:t>PIC/MAP/COSTUMER</a:t>
            </a:r>
          </a:p>
          <a:p>
            <a:pPr algn="ctr"/>
            <a:r>
              <a:rPr lang="pt-BR" sz="1000">
                <a:solidFill>
                  <a:srgbClr val="FF0000"/>
                </a:solidFill>
              </a:rPr>
              <a:t>Picture </a:t>
            </a:r>
            <a:r>
              <a:rPr lang="pt-BR" sz="1000" err="1">
                <a:solidFill>
                  <a:srgbClr val="FF0000"/>
                </a:solidFill>
              </a:rPr>
              <a:t>to</a:t>
            </a:r>
            <a:r>
              <a:rPr lang="pt-BR" sz="1000">
                <a:solidFill>
                  <a:srgbClr val="FF0000"/>
                </a:solidFill>
              </a:rPr>
              <a:t> </a:t>
            </a:r>
            <a:r>
              <a:rPr lang="pt-BR" sz="1000" err="1">
                <a:solidFill>
                  <a:srgbClr val="FF0000"/>
                </a:solidFill>
              </a:rPr>
              <a:t>illustrate</a:t>
            </a:r>
            <a:r>
              <a:rPr lang="pt-BR" sz="1000">
                <a:solidFill>
                  <a:srgbClr val="FF0000"/>
                </a:solidFill>
              </a:rPr>
              <a:t> </a:t>
            </a:r>
            <a:r>
              <a:rPr lang="pt-BR" sz="1000" err="1">
                <a:solidFill>
                  <a:srgbClr val="FF0000"/>
                </a:solidFill>
              </a:rPr>
              <a:t>the</a:t>
            </a:r>
            <a:r>
              <a:rPr lang="pt-BR" sz="1000">
                <a:solidFill>
                  <a:srgbClr val="FF0000"/>
                </a:solidFill>
              </a:rPr>
              <a:t> </a:t>
            </a:r>
            <a:r>
              <a:rPr lang="pt-BR" sz="1000" err="1">
                <a:solidFill>
                  <a:srgbClr val="FF0000"/>
                </a:solidFill>
              </a:rPr>
              <a:t>project</a:t>
            </a:r>
            <a:r>
              <a:rPr lang="pt-BR" sz="1000">
                <a:solidFill>
                  <a:srgbClr val="FF0000"/>
                </a:solidFill>
              </a:rPr>
              <a:t> </a:t>
            </a:r>
            <a:r>
              <a:rPr lang="pt-BR" sz="1000" err="1">
                <a:solidFill>
                  <a:srgbClr val="FF0000"/>
                </a:solidFill>
              </a:rPr>
              <a:t>and</a:t>
            </a:r>
            <a:r>
              <a:rPr lang="pt-BR" sz="1000">
                <a:solidFill>
                  <a:srgbClr val="FF0000"/>
                </a:solidFill>
              </a:rPr>
              <a:t> </a:t>
            </a:r>
            <a:r>
              <a:rPr lang="pt-BR" sz="1000" err="1">
                <a:solidFill>
                  <a:srgbClr val="FF0000"/>
                </a:solidFill>
              </a:rPr>
              <a:t>scope</a:t>
            </a:r>
            <a:endParaRPr lang="en-US" sz="1000">
              <a:solidFill>
                <a:srgbClr val="FF0000"/>
              </a:solidFill>
            </a:endParaRPr>
          </a:p>
        </p:txBody>
      </p:sp>
      <p:sp>
        <p:nvSpPr>
          <p:cNvPr id="24" name="TextBox 23">
            <a:extLst>
              <a:ext uri="{FF2B5EF4-FFF2-40B4-BE49-F238E27FC236}">
                <a16:creationId xmlns:a16="http://schemas.microsoft.com/office/drawing/2014/main" id="{6BCF1BA3-7503-4F29-AC90-AB6691E4F157}"/>
              </a:ext>
            </a:extLst>
          </p:cNvPr>
          <p:cNvSpPr txBox="1"/>
          <p:nvPr/>
        </p:nvSpPr>
        <p:spPr>
          <a:xfrm>
            <a:off x="7481046" y="3811439"/>
            <a:ext cx="1915453"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WINNING STRATEGY</a:t>
            </a:r>
          </a:p>
        </p:txBody>
      </p:sp>
      <p:sp>
        <p:nvSpPr>
          <p:cNvPr id="29" name="Rectangle 28">
            <a:extLst>
              <a:ext uri="{FF2B5EF4-FFF2-40B4-BE49-F238E27FC236}">
                <a16:creationId xmlns:a16="http://schemas.microsoft.com/office/drawing/2014/main" id="{4D38555D-047E-4889-AEF1-7C93F0DBB172}"/>
              </a:ext>
            </a:extLst>
          </p:cNvPr>
          <p:cNvSpPr/>
          <p:nvPr/>
        </p:nvSpPr>
        <p:spPr>
          <a:xfrm>
            <a:off x="7587299" y="4056042"/>
            <a:ext cx="4164296" cy="2064896"/>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19" name="Rectangle 18">
            <a:extLst>
              <a:ext uri="{FF2B5EF4-FFF2-40B4-BE49-F238E27FC236}">
                <a16:creationId xmlns:a16="http://schemas.microsoft.com/office/drawing/2014/main" id="{68B42A07-5009-4B3B-A1B9-2F4FA4D024FD}"/>
              </a:ext>
            </a:extLst>
          </p:cNvPr>
          <p:cNvSpPr/>
          <p:nvPr/>
        </p:nvSpPr>
        <p:spPr>
          <a:xfrm>
            <a:off x="7580208" y="631281"/>
            <a:ext cx="4171387" cy="1897638"/>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20" name="Rectangle 19">
            <a:extLst>
              <a:ext uri="{FF2B5EF4-FFF2-40B4-BE49-F238E27FC236}">
                <a16:creationId xmlns:a16="http://schemas.microsoft.com/office/drawing/2014/main" id="{09AC7A60-8DCD-4D38-9135-61E38F271D90}"/>
              </a:ext>
            </a:extLst>
          </p:cNvPr>
          <p:cNvSpPr/>
          <p:nvPr/>
        </p:nvSpPr>
        <p:spPr>
          <a:xfrm>
            <a:off x="7580208" y="2975323"/>
            <a:ext cx="4171387" cy="686667"/>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27" name="CaixaDeTexto 26">
            <a:extLst>
              <a:ext uri="{FF2B5EF4-FFF2-40B4-BE49-F238E27FC236}">
                <a16:creationId xmlns:a16="http://schemas.microsoft.com/office/drawing/2014/main" id="{664F2804-6962-9042-4A4E-61CFDC4D9CEB}"/>
              </a:ext>
            </a:extLst>
          </p:cNvPr>
          <p:cNvSpPr txBox="1"/>
          <p:nvPr/>
        </p:nvSpPr>
        <p:spPr>
          <a:xfrm>
            <a:off x="292549" y="4835891"/>
            <a:ext cx="6960125" cy="1200329"/>
          </a:xfrm>
          <a:prstGeom prst="rect">
            <a:avLst/>
          </a:prstGeom>
          <a:noFill/>
        </p:spPr>
        <p:txBody>
          <a:bodyPr wrap="square" rtlCol="0">
            <a:spAutoFit/>
          </a:bodyPr>
          <a:lstStyle/>
          <a:p>
            <a:pPr marL="0" marR="0" lvl="0" indent="0" algn="just" defTabSz="608013" rtl="0" eaLnBrk="1" fontAlgn="base" latinLnBrk="0" hangingPunct="1">
              <a:lnSpc>
                <a:spcPct val="100000"/>
              </a:lnSpc>
              <a:spcBef>
                <a:spcPts val="600"/>
              </a:spcBef>
              <a:spcAft>
                <a:spcPct val="0"/>
              </a:spcAft>
              <a:buClrTx/>
              <a:buSzTx/>
              <a:buFontTx/>
              <a:buNone/>
              <a:tabLst/>
              <a:defRPr/>
            </a:pPr>
            <a:r>
              <a:rPr kumimoji="0" lang="en-US" sz="1100" b="1" i="0" u="none" strike="noStrike" kern="1200" cap="none" spc="0" normalizeH="0" baseline="0" noProof="0" dirty="0">
                <a:ln>
                  <a:noFill/>
                </a:ln>
                <a:solidFill>
                  <a:srgbClr val="63666A"/>
                </a:solidFill>
                <a:effectLst/>
                <a:uLnTx/>
                <a:uFillTx/>
                <a:latin typeface="Tahoma" charset="0"/>
                <a:ea typeface="ＭＳ Ｐゴシック" charset="0"/>
              </a:rPr>
              <a:t>SCOPE SUMMARY </a:t>
            </a:r>
          </a:p>
          <a:p>
            <a:pPr marL="0" marR="0" lvl="0" indent="0" algn="just" defTabSz="608013" rtl="0" eaLnBrk="1" fontAlgn="base" latinLnBrk="0" hangingPunct="1">
              <a:lnSpc>
                <a:spcPct val="100000"/>
              </a:lnSpc>
              <a:spcBef>
                <a:spcPts val="600"/>
              </a:spcBef>
              <a:spcAft>
                <a:spcPct val="0"/>
              </a:spcAft>
              <a:buClrTx/>
              <a:buSzTx/>
              <a:buFontTx/>
              <a:buNone/>
              <a:tabLst/>
              <a:defRPr/>
            </a:pPr>
            <a:r>
              <a:rPr kumimoji="0" lang="en-US" sz="1000" b="0" i="0" u="none" strike="noStrike" kern="1200" cap="none" spc="0" normalizeH="0" baseline="0" noProof="0" dirty="0">
                <a:ln>
                  <a:noFill/>
                </a:ln>
                <a:solidFill>
                  <a:srgbClr val="FF0000"/>
                </a:solidFill>
                <a:effectLst/>
                <a:uLnTx/>
                <a:uFillTx/>
                <a:latin typeface="Tahoma (body)"/>
              </a:rPr>
              <a:t>Relevant info on the scope, </a:t>
            </a:r>
            <a:r>
              <a:rPr kumimoji="0" lang="en-US" sz="1000" b="1" i="0" u="none" strike="noStrike" kern="1200" cap="none" spc="0" normalizeH="0" baseline="0" noProof="0" dirty="0">
                <a:ln>
                  <a:noFill/>
                </a:ln>
                <a:solidFill>
                  <a:srgbClr val="FF0000"/>
                </a:solidFill>
                <a:effectLst/>
                <a:uLnTx/>
                <a:uFillTx/>
                <a:latin typeface="Tahoma (body)"/>
              </a:rPr>
              <a:t>potential desired scope</a:t>
            </a:r>
            <a:r>
              <a:rPr kumimoji="0" lang="en-US" sz="1000" b="0" i="0" u="none" strike="noStrike" kern="1200" cap="none" spc="0" normalizeH="0" baseline="0" noProof="0" dirty="0">
                <a:ln>
                  <a:noFill/>
                </a:ln>
                <a:solidFill>
                  <a:srgbClr val="FF0000"/>
                </a:solidFill>
                <a:effectLst/>
                <a:uLnTx/>
                <a:uFillTx/>
                <a:latin typeface="Tahoma (body)"/>
              </a:rPr>
              <a:t>, packages, </a:t>
            </a:r>
            <a:r>
              <a:rPr kumimoji="0" lang="en-US" sz="1000" b="0" i="0" u="none" strike="noStrike" kern="1200" cap="none" spc="0" normalizeH="0" baseline="0" noProof="0" dirty="0" err="1">
                <a:ln>
                  <a:noFill/>
                </a:ln>
                <a:solidFill>
                  <a:srgbClr val="FF0000"/>
                </a:solidFill>
                <a:effectLst/>
                <a:uLnTx/>
                <a:uFillTx/>
                <a:latin typeface="Tahoma (body)"/>
              </a:rPr>
              <a:t>etc</a:t>
            </a:r>
            <a:r>
              <a:rPr kumimoji="0" lang="en-US" sz="1000" b="0" i="0" u="none" strike="noStrike" kern="1200" cap="none" spc="0" normalizeH="0" baseline="0" noProof="0" dirty="0">
                <a:ln>
                  <a:noFill/>
                </a:ln>
                <a:solidFill>
                  <a:srgbClr val="FF0000"/>
                </a:solidFill>
                <a:effectLst/>
                <a:uLnTx/>
                <a:uFillTx/>
                <a:latin typeface="Tahoma (body)"/>
              </a:rPr>
              <a:t>…</a:t>
            </a:r>
          </a:p>
          <a:p>
            <a:pPr marL="0" marR="0" lvl="0" indent="0" algn="just" defTabSz="608013" rtl="0" eaLnBrk="1" fontAlgn="base" latinLnBrk="0" hangingPunct="1">
              <a:lnSpc>
                <a:spcPct val="100000"/>
              </a:lnSpc>
              <a:spcBef>
                <a:spcPts val="600"/>
              </a:spcBef>
              <a:spcAft>
                <a:spcPct val="0"/>
              </a:spcAft>
              <a:buClrTx/>
              <a:buSzTx/>
              <a:buFontTx/>
              <a:buNone/>
              <a:tabLst/>
              <a:defRPr/>
            </a:pPr>
            <a:r>
              <a:rPr kumimoji="0" lang="en-US" sz="1000" b="0" i="0" u="none" strike="noStrike" kern="1200" cap="none" spc="0" normalizeH="0" baseline="0" noProof="0" dirty="0">
                <a:ln>
                  <a:noFill/>
                </a:ln>
                <a:solidFill>
                  <a:srgbClr val="FF0000"/>
                </a:solidFill>
                <a:effectLst/>
                <a:uLnTx/>
                <a:uFillTx/>
                <a:latin typeface="Tahoma (body)"/>
              </a:rPr>
              <a:t>Historical relevant info: existing system/supplier in place, </a:t>
            </a:r>
            <a:r>
              <a:rPr kumimoji="0" lang="en-US" sz="1000" b="0" i="0" u="none" strike="noStrike" kern="1200" cap="none" spc="0" normalizeH="0" baseline="0" noProof="0" dirty="0" err="1">
                <a:ln>
                  <a:noFill/>
                </a:ln>
                <a:solidFill>
                  <a:srgbClr val="FF0000"/>
                </a:solidFill>
                <a:effectLst/>
                <a:uLnTx/>
                <a:uFillTx/>
                <a:latin typeface="Tahoma (body)"/>
              </a:rPr>
              <a:t>etc</a:t>
            </a:r>
            <a:r>
              <a:rPr kumimoji="0" lang="en-US" sz="1000" b="0" i="0" u="none" strike="noStrike" kern="1200" cap="none" spc="0" normalizeH="0" baseline="0" noProof="0" dirty="0">
                <a:ln>
                  <a:noFill/>
                </a:ln>
                <a:solidFill>
                  <a:srgbClr val="FF0000"/>
                </a:solidFill>
                <a:effectLst/>
                <a:uLnTx/>
                <a:uFillTx/>
                <a:latin typeface="Tahoma (body)"/>
              </a:rPr>
              <a:t>…</a:t>
            </a:r>
          </a:p>
          <a:p>
            <a:pPr marL="0" marR="0" lvl="0" indent="0" algn="just" defTabSz="608013" rtl="0" eaLnBrk="1" fontAlgn="base" latinLnBrk="0" hangingPunct="1">
              <a:lnSpc>
                <a:spcPct val="100000"/>
              </a:lnSpc>
              <a:spcBef>
                <a:spcPts val="600"/>
              </a:spcBef>
              <a:spcAft>
                <a:spcPct val="0"/>
              </a:spcAft>
              <a:buClrTx/>
              <a:buSzTx/>
              <a:buFontTx/>
              <a:buNone/>
              <a:tabLst/>
              <a:defRPr/>
            </a:pPr>
            <a:r>
              <a:rPr lang="en-US" sz="1000" dirty="0">
                <a:solidFill>
                  <a:srgbClr val="FF0000"/>
                </a:solidFill>
                <a:latin typeface="+mn-lt"/>
              </a:rPr>
              <a:t>Any incumbent equipment/systems supplier…</a:t>
            </a:r>
          </a:p>
          <a:p>
            <a:pPr marL="0" marR="0" lvl="0" indent="0" algn="just" defTabSz="608013" rtl="0" eaLnBrk="1" fontAlgn="base" latinLnBrk="0" hangingPunct="1">
              <a:lnSpc>
                <a:spcPct val="100000"/>
              </a:lnSpc>
              <a:spcBef>
                <a:spcPts val="600"/>
              </a:spcBef>
              <a:spcAft>
                <a:spcPct val="0"/>
              </a:spcAft>
              <a:buClrTx/>
              <a:buSzTx/>
              <a:buFontTx/>
              <a:buNone/>
              <a:tabLst/>
              <a:defRPr/>
            </a:pPr>
            <a:r>
              <a:rPr lang="en-US" sz="1000" dirty="0">
                <a:solidFill>
                  <a:srgbClr val="FF0000"/>
                </a:solidFill>
                <a:effectLst/>
                <a:latin typeface="+mn-lt"/>
                <a:ea typeface="Times" panose="02020603050405020304" pitchFamily="18" charset="0"/>
              </a:rPr>
              <a:t>Is a </a:t>
            </a:r>
            <a:r>
              <a:rPr lang="en-US" sz="1000" dirty="0">
                <a:solidFill>
                  <a:srgbClr val="FF0000"/>
                </a:solidFill>
                <a:latin typeface="+mn-lt"/>
                <a:ea typeface="Times" panose="02020603050405020304" pitchFamily="18" charset="0"/>
              </a:rPr>
              <a:t>M</a:t>
            </a:r>
            <a:r>
              <a:rPr lang="en-US" sz="1000" dirty="0">
                <a:solidFill>
                  <a:srgbClr val="FF0000"/>
                </a:solidFill>
                <a:effectLst/>
                <a:latin typeface="+mn-lt"/>
                <a:ea typeface="Times" panose="02020603050405020304" pitchFamily="18" charset="0"/>
              </a:rPr>
              <a:t>aintenance System </a:t>
            </a:r>
            <a:r>
              <a:rPr lang="en-US" sz="1000" dirty="0">
                <a:solidFill>
                  <a:srgbClr val="FF0000"/>
                </a:solidFill>
                <a:latin typeface="+mn-lt"/>
                <a:ea typeface="Times" panose="02020603050405020304" pitchFamily="18" charset="0"/>
              </a:rPr>
              <a:t>A</a:t>
            </a:r>
            <a:r>
              <a:rPr lang="en-US" sz="1000" dirty="0">
                <a:solidFill>
                  <a:srgbClr val="FF0000"/>
                </a:solidFill>
                <a:effectLst/>
                <a:latin typeface="+mn-lt"/>
                <a:ea typeface="Times" panose="02020603050405020304" pitchFamily="18" charset="0"/>
              </a:rPr>
              <a:t>greement (MSA)</a:t>
            </a:r>
            <a:r>
              <a:rPr lang="en-US" sz="1000" dirty="0">
                <a:solidFill>
                  <a:srgbClr val="FF0000"/>
                </a:solidFill>
                <a:latin typeface="+mn-lt"/>
                <a:ea typeface="Times" panose="02020603050405020304" pitchFamily="18" charset="0"/>
              </a:rPr>
              <a:t> </a:t>
            </a:r>
            <a:r>
              <a:rPr lang="en-US" sz="1000" dirty="0">
                <a:solidFill>
                  <a:srgbClr val="FF0000"/>
                </a:solidFill>
                <a:effectLst/>
                <a:latin typeface="+mn-lt"/>
                <a:ea typeface="Times" panose="02020603050405020304" pitchFamily="18" charset="0"/>
              </a:rPr>
              <a:t>expected with the proposal?</a:t>
            </a:r>
            <a:endParaRPr kumimoji="0" lang="en-US" sz="1000" b="0" i="0" u="none" strike="noStrike" kern="1200" cap="none" spc="0" normalizeH="0" baseline="0" noProof="0" dirty="0">
              <a:ln>
                <a:noFill/>
              </a:ln>
              <a:solidFill>
                <a:srgbClr val="FF0000"/>
              </a:solidFill>
              <a:effectLst/>
              <a:uLnTx/>
              <a:uFillTx/>
              <a:latin typeface="+mn-lt"/>
            </a:endParaRPr>
          </a:p>
        </p:txBody>
      </p:sp>
      <p:sp>
        <p:nvSpPr>
          <p:cNvPr id="7" name="CaixaDeTexto 6">
            <a:extLst>
              <a:ext uri="{FF2B5EF4-FFF2-40B4-BE49-F238E27FC236}">
                <a16:creationId xmlns:a16="http://schemas.microsoft.com/office/drawing/2014/main" id="{C6298D91-8F62-BA1A-A654-9B28E1DA9373}"/>
              </a:ext>
            </a:extLst>
          </p:cNvPr>
          <p:cNvSpPr txBox="1"/>
          <p:nvPr/>
        </p:nvSpPr>
        <p:spPr>
          <a:xfrm>
            <a:off x="7587298" y="724477"/>
            <a:ext cx="4094717" cy="1785104"/>
          </a:xfrm>
          <a:prstGeom prst="rect">
            <a:avLst/>
          </a:prstGeom>
          <a:noFill/>
        </p:spPr>
        <p:txBody>
          <a:bodyPr wrap="square">
            <a:spAutoFit/>
          </a:bodyPr>
          <a:lstStyle/>
          <a:p>
            <a:r>
              <a:rPr lang="en-US" sz="1000" b="1"/>
              <a:t>What are the conclusions arising from the commercial evaluation criteria for the project?</a:t>
            </a:r>
          </a:p>
          <a:p>
            <a:endParaRPr lang="en-US" sz="1000" b="1"/>
          </a:p>
          <a:p>
            <a:r>
              <a:rPr lang="en-US" sz="1000">
                <a:solidFill>
                  <a:srgbClr val="FF0000"/>
                </a:solidFill>
                <a:latin typeface="+mn-lt"/>
                <a:cs typeface="+mn-cs"/>
              </a:rPr>
              <a:t>What will the customer evaluate for choosing the winner?</a:t>
            </a:r>
            <a:endParaRPr lang="en-US" sz="1000" b="1">
              <a:latin typeface="+mn-lt"/>
            </a:endParaRPr>
          </a:p>
          <a:p>
            <a:endParaRPr lang="en-US" sz="1000">
              <a:solidFill>
                <a:srgbClr val="FF0000"/>
              </a:solidFill>
            </a:endParaRPr>
          </a:p>
          <a:p>
            <a:r>
              <a:rPr lang="en-US" sz="1000">
                <a:solidFill>
                  <a:srgbClr val="FF0000"/>
                </a:solidFill>
              </a:rPr>
              <a:t>Lowest Cost</a:t>
            </a:r>
          </a:p>
          <a:p>
            <a:r>
              <a:rPr lang="en-US" sz="1000">
                <a:solidFill>
                  <a:srgbClr val="FF0000"/>
                </a:solidFill>
              </a:rPr>
              <a:t>Technical Score</a:t>
            </a:r>
          </a:p>
          <a:p>
            <a:r>
              <a:rPr lang="en-US" sz="1000">
                <a:solidFill>
                  <a:srgbClr val="FF0000"/>
                </a:solidFill>
              </a:rPr>
              <a:t>Schedule</a:t>
            </a:r>
          </a:p>
          <a:p>
            <a:r>
              <a:rPr lang="en-US" sz="1000" b="1"/>
              <a:t>Project Strategic Relevance To The Customer: </a:t>
            </a:r>
            <a:r>
              <a:rPr lang="en-US" sz="1000">
                <a:solidFill>
                  <a:srgbClr val="FF0000"/>
                </a:solidFill>
                <a:latin typeface="+mn-lt"/>
                <a:cs typeface="+mn-cs"/>
              </a:rPr>
              <a:t>Is there a clear need for this project and if so, what is it?</a:t>
            </a:r>
          </a:p>
          <a:p>
            <a:endParaRPr lang="en-US" sz="1000">
              <a:solidFill>
                <a:srgbClr val="FF0000"/>
              </a:solidFill>
            </a:endParaRPr>
          </a:p>
        </p:txBody>
      </p:sp>
      <p:sp>
        <p:nvSpPr>
          <p:cNvPr id="4" name="TextBox 9">
            <a:extLst>
              <a:ext uri="{FF2B5EF4-FFF2-40B4-BE49-F238E27FC236}">
                <a16:creationId xmlns:a16="http://schemas.microsoft.com/office/drawing/2014/main" id="{F7798281-D3FA-6325-1D5E-19178006E72E}"/>
              </a:ext>
            </a:extLst>
          </p:cNvPr>
          <p:cNvSpPr txBox="1"/>
          <p:nvPr/>
        </p:nvSpPr>
        <p:spPr>
          <a:xfrm>
            <a:off x="6002684" y="431426"/>
            <a:ext cx="1293060" cy="646331"/>
          </a:xfrm>
          <a:prstGeom prst="rect">
            <a:avLst/>
          </a:prstGeom>
          <a:solidFill>
            <a:srgbClr val="FFFF00"/>
          </a:solidFill>
        </p:spPr>
        <p:txBody>
          <a:bodyPr wrap="square" rtlCol="0">
            <a:spAutoFit/>
          </a:bodyPr>
          <a:lstStyle/>
          <a:p>
            <a:pPr algn="ctr"/>
            <a:r>
              <a:rPr lang="pt-BR" sz="1800" b="1" err="1">
                <a:solidFill>
                  <a:srgbClr val="FF0000"/>
                </a:solidFill>
                <a:highlight>
                  <a:srgbClr val="FFFF00"/>
                </a:highlight>
                <a:latin typeface="+mj-lt"/>
              </a:rPr>
              <a:t>Customer</a:t>
            </a:r>
            <a:r>
              <a:rPr lang="pt-BR" sz="1800" b="1">
                <a:solidFill>
                  <a:srgbClr val="FF0000"/>
                </a:solidFill>
                <a:highlight>
                  <a:srgbClr val="FFFF00"/>
                </a:highlight>
                <a:latin typeface="+mj-lt"/>
              </a:rPr>
              <a:t> Logo</a:t>
            </a:r>
            <a:endParaRPr lang="en-US" sz="1800" b="1">
              <a:solidFill>
                <a:srgbClr val="FF0000"/>
              </a:solidFill>
              <a:highlight>
                <a:srgbClr val="FFFF00"/>
              </a:highlight>
              <a:latin typeface="+mj-lt"/>
            </a:endParaRPr>
          </a:p>
        </p:txBody>
      </p:sp>
      <p:sp>
        <p:nvSpPr>
          <p:cNvPr id="12" name="TextBox 11">
            <a:extLst>
              <a:ext uri="{FF2B5EF4-FFF2-40B4-BE49-F238E27FC236}">
                <a16:creationId xmlns:a16="http://schemas.microsoft.com/office/drawing/2014/main" id="{FD83893D-A817-913C-418F-9AA2421F0FF7}"/>
              </a:ext>
            </a:extLst>
          </p:cNvPr>
          <p:cNvSpPr txBox="1"/>
          <p:nvPr/>
        </p:nvSpPr>
        <p:spPr>
          <a:xfrm>
            <a:off x="7613511" y="4080716"/>
            <a:ext cx="4042290" cy="2269852"/>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000" dirty="0">
                <a:solidFill>
                  <a:srgbClr val="FF0000"/>
                </a:solidFill>
              </a:rPr>
              <a:t>Does Wabtec have any cost advantage? </a:t>
            </a:r>
          </a:p>
          <a:p>
            <a:pPr marL="285750" indent="-285750">
              <a:spcBef>
                <a:spcPts val="300"/>
              </a:spcBef>
              <a:spcAft>
                <a:spcPts val="300"/>
              </a:spcAft>
              <a:buFont typeface="Arial" panose="020B0604020202020204" pitchFamily="34" charset="0"/>
              <a:buChar char="•"/>
            </a:pPr>
            <a:r>
              <a:rPr lang="en-US" sz="1000" dirty="0">
                <a:solidFill>
                  <a:srgbClr val="FF0000"/>
                </a:solidFill>
              </a:rPr>
              <a:t>Value engineering</a:t>
            </a:r>
          </a:p>
          <a:p>
            <a:pPr marL="285750" indent="-285750">
              <a:spcBef>
                <a:spcPts val="300"/>
              </a:spcBef>
              <a:spcAft>
                <a:spcPts val="300"/>
              </a:spcAft>
              <a:buFont typeface="Arial" panose="020B0604020202020204" pitchFamily="34" charset="0"/>
              <a:buChar char="•"/>
            </a:pPr>
            <a:r>
              <a:rPr lang="en-US" sz="1000" dirty="0">
                <a:solidFill>
                  <a:srgbClr val="FF0000"/>
                </a:solidFill>
              </a:rPr>
              <a:t>What differentiates us? </a:t>
            </a:r>
          </a:p>
          <a:p>
            <a:pPr marL="285750" indent="-285750">
              <a:spcBef>
                <a:spcPts val="300"/>
              </a:spcBef>
              <a:spcAft>
                <a:spcPts val="300"/>
              </a:spcAft>
              <a:buFont typeface="Arial" panose="020B0604020202020204" pitchFamily="34" charset="0"/>
              <a:buChar char="•"/>
            </a:pPr>
            <a:r>
              <a:rPr lang="en-US" sz="1000" dirty="0">
                <a:solidFill>
                  <a:srgbClr val="FF0000"/>
                </a:solidFill>
              </a:rPr>
              <a:t>Commercial Relationship</a:t>
            </a:r>
          </a:p>
          <a:p>
            <a:pPr marL="285750" indent="-285750">
              <a:spcBef>
                <a:spcPts val="300"/>
              </a:spcBef>
              <a:spcAft>
                <a:spcPts val="300"/>
              </a:spcAft>
              <a:buFont typeface="Arial" panose="020B0604020202020204" pitchFamily="34" charset="0"/>
              <a:buChar char="•"/>
            </a:pPr>
            <a:r>
              <a:rPr lang="en-US" sz="1000" dirty="0">
                <a:solidFill>
                  <a:srgbClr val="FF0000"/>
                </a:solidFill>
              </a:rPr>
              <a:t>Execution optimization</a:t>
            </a:r>
          </a:p>
          <a:p>
            <a:pPr marL="285750" indent="-285750">
              <a:spcBef>
                <a:spcPts val="300"/>
              </a:spcBef>
              <a:spcAft>
                <a:spcPts val="300"/>
              </a:spcAft>
              <a:buFont typeface="Arial" panose="020B0604020202020204" pitchFamily="34" charset="0"/>
              <a:buChar char="•"/>
            </a:pPr>
            <a:r>
              <a:rPr lang="en-US" sz="1000" dirty="0">
                <a:solidFill>
                  <a:srgbClr val="FF0000"/>
                </a:solidFill>
              </a:rPr>
              <a:t>Potential Partnerships (If Prime why and who would be the Subs), (If Sub to what Prime to work with and why?)  </a:t>
            </a:r>
          </a:p>
          <a:p>
            <a:pPr marL="285750" indent="-285750">
              <a:spcBef>
                <a:spcPts val="300"/>
              </a:spcBef>
              <a:spcAft>
                <a:spcPts val="300"/>
              </a:spcAft>
              <a:buFont typeface="Arial" panose="020B0604020202020204" pitchFamily="34" charset="0"/>
              <a:buChar char="•"/>
            </a:pPr>
            <a:r>
              <a:rPr lang="en-US" sz="1000" dirty="0">
                <a:solidFill>
                  <a:srgbClr val="FF0000"/>
                </a:solidFill>
              </a:rPr>
              <a:t>SBE/DBE strategy </a:t>
            </a:r>
          </a:p>
          <a:p>
            <a:pPr marL="285750" indent="-285750">
              <a:spcBef>
                <a:spcPts val="300"/>
              </a:spcBef>
              <a:spcAft>
                <a:spcPts val="300"/>
              </a:spcAft>
              <a:buFont typeface="Arial" panose="020B0604020202020204" pitchFamily="34" charset="0"/>
              <a:buChar char="•"/>
            </a:pPr>
            <a:r>
              <a:rPr lang="en-US" sz="1000" dirty="0" err="1">
                <a:solidFill>
                  <a:srgbClr val="FF0000"/>
                </a:solidFill>
              </a:rPr>
              <a:t>Etc</a:t>
            </a:r>
            <a:endParaRPr lang="en-US" sz="1000" dirty="0">
              <a:solidFill>
                <a:srgbClr val="FF0000"/>
              </a:solidFill>
            </a:endParaRPr>
          </a:p>
          <a:p>
            <a:pPr marL="285750" indent="-285750">
              <a:buFont typeface="Arial" panose="020B0604020202020204" pitchFamily="34" charset="0"/>
              <a:buChar char="•"/>
            </a:pPr>
            <a:endParaRPr lang="en-US" sz="1400" dirty="0"/>
          </a:p>
        </p:txBody>
      </p:sp>
      <p:sp>
        <p:nvSpPr>
          <p:cNvPr id="15" name="TextBox 14">
            <a:extLst>
              <a:ext uri="{FF2B5EF4-FFF2-40B4-BE49-F238E27FC236}">
                <a16:creationId xmlns:a16="http://schemas.microsoft.com/office/drawing/2014/main" id="{6770A222-3CD4-85B2-A911-31E55426D8DD}"/>
              </a:ext>
            </a:extLst>
          </p:cNvPr>
          <p:cNvSpPr txBox="1"/>
          <p:nvPr/>
        </p:nvSpPr>
        <p:spPr>
          <a:xfrm>
            <a:off x="256414" y="3977658"/>
            <a:ext cx="6996260" cy="553998"/>
          </a:xfrm>
          <a:prstGeom prst="rect">
            <a:avLst/>
          </a:prstGeom>
          <a:noFill/>
        </p:spPr>
        <p:txBody>
          <a:bodyPr wrap="square">
            <a:spAutoFit/>
          </a:bodyPr>
          <a:lstStyle/>
          <a:p>
            <a:pPr algn="just">
              <a:spcBef>
                <a:spcPts val="600"/>
              </a:spcBef>
            </a:pPr>
            <a:r>
              <a:rPr lang="en-US" sz="1000" b="1"/>
              <a:t>License of the Selling Entity to operate and/or to execute the work in the State/City/County where the project will be executed :</a:t>
            </a:r>
            <a:r>
              <a:rPr lang="en-US" sz="1000">
                <a:solidFill>
                  <a:srgbClr val="FF0000"/>
                </a:solidFill>
              </a:rPr>
              <a:t> (</a:t>
            </a:r>
            <a:r>
              <a:rPr lang="en-US" sz="1000" err="1">
                <a:solidFill>
                  <a:srgbClr val="FF0000"/>
                </a:solidFill>
              </a:rPr>
              <a:t>Xorail</a:t>
            </a:r>
            <a:r>
              <a:rPr lang="en-US" sz="1000">
                <a:solidFill>
                  <a:srgbClr val="FF0000"/>
                </a:solidFill>
              </a:rPr>
              <a:t> / WTS Canada / WRE / WTS LLC / or maybe other entities depending on the location of the work)</a:t>
            </a:r>
          </a:p>
        </p:txBody>
      </p:sp>
    </p:spTree>
    <p:extLst>
      <p:ext uri="{BB962C8B-B14F-4D97-AF65-F5344CB8AC3E}">
        <p14:creationId xmlns:p14="http://schemas.microsoft.com/office/powerpoint/2010/main" val="2804789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13A90E0-22E8-44C2-8A7C-2E5E96998126}"/>
              </a:ext>
            </a:extLst>
          </p:cNvPr>
          <p:cNvSpPr txBox="1"/>
          <p:nvPr/>
        </p:nvSpPr>
        <p:spPr>
          <a:xfrm>
            <a:off x="339244" y="515915"/>
            <a:ext cx="1308813"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CP0 Checklist</a:t>
            </a:r>
          </a:p>
        </p:txBody>
      </p:sp>
      <p:sp>
        <p:nvSpPr>
          <p:cNvPr id="23" name="CaixaDeTexto 22">
            <a:extLst>
              <a:ext uri="{FF2B5EF4-FFF2-40B4-BE49-F238E27FC236}">
                <a16:creationId xmlns:a16="http://schemas.microsoft.com/office/drawing/2014/main" id="{639767B3-3EE5-16BE-F7A2-EA91FDEEBEF1}"/>
              </a:ext>
            </a:extLst>
          </p:cNvPr>
          <p:cNvSpPr txBox="1"/>
          <p:nvPr/>
        </p:nvSpPr>
        <p:spPr>
          <a:xfrm>
            <a:off x="5976803" y="466992"/>
            <a:ext cx="6080760" cy="344069"/>
          </a:xfrm>
          <a:prstGeom prst="rect">
            <a:avLst/>
          </a:prstGeom>
          <a:noFill/>
        </p:spPr>
        <p:txBody>
          <a:bodyPr wrap="square">
            <a:spAutoFit/>
          </a:bodyPr>
          <a:lstStyle/>
          <a:p>
            <a:pPr lvl="0">
              <a:lnSpc>
                <a:spcPct val="107000"/>
              </a:lnSpc>
              <a:spcAft>
                <a:spcPts val="800"/>
              </a:spcAft>
            </a:pPr>
            <a:r>
              <a:rPr lang="en-US" sz="1600" b="1">
                <a:effectLst/>
                <a:latin typeface="GE Inspira Sans"/>
                <a:ea typeface="Calibri" panose="020F0502020204030204" pitchFamily="34" charset="0"/>
                <a:cs typeface="Calibri" panose="020F0502020204030204" pitchFamily="34" charset="0"/>
              </a:rPr>
              <a:t>RISK AND OPPORTUNITIES</a:t>
            </a:r>
            <a:endParaRPr lang="en-US" sz="1600">
              <a:effectLst/>
              <a:latin typeface="GE Inspira Sans"/>
              <a:ea typeface="Calibri" panose="020F0502020204030204" pitchFamily="34" charset="0"/>
              <a:cs typeface="Times New Roman" panose="02020603050405020304" pitchFamily="18" charset="0"/>
            </a:endParaRPr>
          </a:p>
        </p:txBody>
      </p:sp>
      <p:graphicFrame>
        <p:nvGraphicFramePr>
          <p:cNvPr id="25" name="Tabela 24">
            <a:extLst>
              <a:ext uri="{FF2B5EF4-FFF2-40B4-BE49-F238E27FC236}">
                <a16:creationId xmlns:a16="http://schemas.microsoft.com/office/drawing/2014/main" id="{377FB9B8-29C3-2DDF-AD56-4B5E6FB44B47}"/>
              </a:ext>
            </a:extLst>
          </p:cNvPr>
          <p:cNvGraphicFramePr>
            <a:graphicFrameLocks noGrp="1"/>
          </p:cNvGraphicFramePr>
          <p:nvPr>
            <p:extLst>
              <p:ext uri="{D42A27DB-BD31-4B8C-83A1-F6EECF244321}">
                <p14:modId xmlns:p14="http://schemas.microsoft.com/office/powerpoint/2010/main" val="2782262324"/>
              </p:ext>
            </p:extLst>
          </p:nvPr>
        </p:nvGraphicFramePr>
        <p:xfrm>
          <a:off x="6080919" y="798031"/>
          <a:ext cx="5576007" cy="3385604"/>
        </p:xfrm>
        <a:graphic>
          <a:graphicData uri="http://schemas.openxmlformats.org/drawingml/2006/table">
            <a:tbl>
              <a:tblPr/>
              <a:tblGrid>
                <a:gridCol w="1110456">
                  <a:extLst>
                    <a:ext uri="{9D8B030D-6E8A-4147-A177-3AD203B41FA5}">
                      <a16:colId xmlns:a16="http://schemas.microsoft.com/office/drawing/2014/main" val="3466030844"/>
                    </a:ext>
                  </a:extLst>
                </a:gridCol>
                <a:gridCol w="1415706">
                  <a:extLst>
                    <a:ext uri="{9D8B030D-6E8A-4147-A177-3AD203B41FA5}">
                      <a16:colId xmlns:a16="http://schemas.microsoft.com/office/drawing/2014/main" val="2356583950"/>
                    </a:ext>
                  </a:extLst>
                </a:gridCol>
                <a:gridCol w="1510375">
                  <a:extLst>
                    <a:ext uri="{9D8B030D-6E8A-4147-A177-3AD203B41FA5}">
                      <a16:colId xmlns:a16="http://schemas.microsoft.com/office/drawing/2014/main" val="4226125990"/>
                    </a:ext>
                  </a:extLst>
                </a:gridCol>
                <a:gridCol w="1539470">
                  <a:extLst>
                    <a:ext uri="{9D8B030D-6E8A-4147-A177-3AD203B41FA5}">
                      <a16:colId xmlns:a16="http://schemas.microsoft.com/office/drawing/2014/main" val="2008509012"/>
                    </a:ext>
                  </a:extLst>
                </a:gridCol>
              </a:tblGrid>
              <a:tr h="0">
                <a:tc>
                  <a:txBody>
                    <a:bodyPr/>
                    <a:lstStyle/>
                    <a:p>
                      <a:pPr>
                        <a:lnSpc>
                          <a:spcPts val="1500"/>
                        </a:lnSpc>
                        <a:spcAft>
                          <a:spcPts val="800"/>
                        </a:spcAft>
                      </a:pPr>
                      <a:r>
                        <a:rPr lang="pt-BR" sz="1100" b="1">
                          <a:solidFill>
                            <a:srgbClr val="000000"/>
                          </a:solidFill>
                          <a:effectLst/>
                          <a:latin typeface="Calibri" panose="020F0502020204030204" pitchFamily="34" charset="0"/>
                          <a:ea typeface="Times" panose="02020603050405020304" pitchFamily="18" charset="0"/>
                          <a:cs typeface="Calibri" panose="020F0502020204030204" pitchFamily="34" charset="0"/>
                        </a:rPr>
                        <a:t>Category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a:lnSpc>
                          <a:spcPts val="1500"/>
                        </a:lnSpc>
                        <a:spcAft>
                          <a:spcPts val="800"/>
                        </a:spcAft>
                      </a:pPr>
                      <a:r>
                        <a:rPr lang="pt-BR" sz="1100" b="1" err="1">
                          <a:solidFill>
                            <a:srgbClr val="000000"/>
                          </a:solidFill>
                          <a:effectLst/>
                          <a:latin typeface="Calibri" panose="020F0502020204030204" pitchFamily="34" charset="0"/>
                          <a:ea typeface="Calibri" panose="020F0502020204030204" pitchFamily="34" charset="0"/>
                          <a:cs typeface="Calibri" panose="020F0502020204030204" pitchFamily="34" charset="0"/>
                        </a:rPr>
                        <a:t>Statements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r>
                        <a:rPr lang="pt-BR" sz="1100" b="1" err="1">
                          <a:solidFill>
                            <a:srgbClr val="000000"/>
                          </a:solidFill>
                          <a:effectLst/>
                          <a:latin typeface="Calibri" panose="020F0502020204030204" pitchFamily="34" charset="0"/>
                          <a:ea typeface="Times" panose="02020603050405020304" pitchFamily="18" charset="0"/>
                          <a:cs typeface="Calibri" panose="020F0502020204030204" pitchFamily="34" charset="0"/>
                        </a:rPr>
                        <a:t>Comment</a:t>
                      </a:r>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a:txBody>
                    <a:bodyPr/>
                    <a:lstStyle/>
                    <a:p>
                      <a:pPr>
                        <a:lnSpc>
                          <a:spcPts val="1500"/>
                        </a:lnSpc>
                        <a:spcAft>
                          <a:spcPts val="800"/>
                        </a:spcAft>
                      </a:pPr>
                      <a:r>
                        <a:rPr lang="pt-BR" sz="1100" b="1" err="1">
                          <a:solidFill>
                            <a:srgbClr val="000000"/>
                          </a:solidFill>
                          <a:effectLst/>
                          <a:latin typeface="Calibri" panose="020F0502020204030204" pitchFamily="34" charset="0"/>
                          <a:ea typeface="Times" panose="02020603050405020304" pitchFamily="18" charset="0"/>
                          <a:cs typeface="Calibri" panose="020F0502020204030204" pitchFamily="34" charset="0"/>
                        </a:rPr>
                        <a:t>Action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73646893"/>
                  </a:ext>
                </a:extLst>
              </a:tr>
              <a:tr h="183488">
                <a:tc gridSpan="4">
                  <a:txBody>
                    <a:bodyPr/>
                    <a:lstStyle/>
                    <a:p>
                      <a:pPr>
                        <a:lnSpc>
                          <a:spcPts val="1500"/>
                        </a:lnSpc>
                        <a:spcAft>
                          <a:spcPts val="800"/>
                        </a:spcAft>
                      </a:pPr>
                      <a:r>
                        <a:rPr lang="pt-BR" sz="1100" err="1">
                          <a:solidFill>
                            <a:srgbClr val="000000"/>
                          </a:solidFill>
                          <a:effectLst/>
                          <a:latin typeface="Calibri" panose="020F0502020204030204" pitchFamily="34" charset="0"/>
                          <a:ea typeface="Times" panose="02020603050405020304" pitchFamily="18" charset="0"/>
                          <a:cs typeface="Calibri" panose="020F0502020204030204" pitchFamily="34" charset="0"/>
                        </a:rPr>
                        <a:t>Technical</a:t>
                      </a:r>
                      <a:r>
                        <a:rPr lang="pt-BR" sz="1100">
                          <a:solidFill>
                            <a:srgbClr val="000000"/>
                          </a:solidFill>
                          <a:effectLst/>
                          <a:latin typeface="Calibri" panose="020F0502020204030204" pitchFamily="34" charset="0"/>
                          <a:ea typeface="Times"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35533099"/>
                  </a:ext>
                </a:extLst>
              </a:tr>
              <a:tr h="0">
                <a:tc>
                  <a:txBody>
                    <a:bodyPr/>
                    <a:lstStyle/>
                    <a:p>
                      <a:pPr>
                        <a:lnSpc>
                          <a:spcPts val="1500"/>
                        </a:lnSpc>
                        <a:spcAft>
                          <a:spcPts val="800"/>
                        </a:spcAft>
                      </a:pPr>
                      <a:r>
                        <a:rPr lang="pt-BR" sz="1000">
                          <a:solidFill>
                            <a:srgbClr val="FF0000"/>
                          </a:solidFill>
                          <a:effectLst/>
                          <a:latin typeface="Calibri" panose="020F0502020204030204" pitchFamily="34" charset="0"/>
                          <a:ea typeface="Times" panose="02020603050405020304" pitchFamily="18" charset="0"/>
                          <a:cs typeface="Calibri" panose="020F0502020204030204" pitchFamily="34" charset="0"/>
                        </a:rPr>
                        <a:t> Risk</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Signaling technology to be provided by Ansaldo</a:t>
                      </a:r>
                      <a:endParaRPr lang="en-US">
                        <a:solidFill>
                          <a:srgbClr val="FF0000"/>
                        </a:solidFil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nSpc>
                          <a:spcPts val="1500"/>
                        </a:lnSpc>
                        <a:spcAft>
                          <a:spcPts val="800"/>
                        </a:spcAft>
                      </a:pPr>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We will need to work with Ansaldo to be competitive</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tc>
                  <a:txBody>
                    <a:bodyPr/>
                    <a:lstStyle/>
                    <a:p>
                      <a:pPr>
                        <a:lnSpc>
                          <a:spcPts val="1500"/>
                        </a:lnSpc>
                        <a:spcAft>
                          <a:spcPts val="800"/>
                        </a:spcAft>
                      </a:pPr>
                      <a:r>
                        <a:rPr lang="en-US" sz="1000">
                          <a:effectLst/>
                          <a:latin typeface="Calibri" panose="020F0502020204030204" pitchFamily="34" charset="0"/>
                          <a:ea typeface="Times" panose="02020603050405020304" pitchFamily="18" charset="0"/>
                          <a:cs typeface="Calibri" panose="020F0502020204030204" pitchFamily="34" charset="0"/>
                        </a:rPr>
                        <a:t> </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0369304"/>
                  </a:ext>
                </a:extLst>
              </a:tr>
              <a:tr h="0">
                <a:tc>
                  <a:txBody>
                    <a:bodyPr/>
                    <a:lstStyle/>
                    <a:p>
                      <a:pPr>
                        <a:lnSpc>
                          <a:spcPts val="1500"/>
                        </a:lnSpc>
                        <a:spcAft>
                          <a:spcPts val="800"/>
                        </a:spcAft>
                      </a:pPr>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 Opportunity</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We are working with GLX for Green line Extension</a:t>
                      </a:r>
                      <a:endParaRPr lang="en-US">
                        <a:solidFill>
                          <a:srgbClr val="FF0000"/>
                        </a:solidFil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500"/>
                        </a:lnSpc>
                        <a:spcAft>
                          <a:spcPts val="800"/>
                        </a:spcAft>
                      </a:pPr>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This will help us have </a:t>
                      </a:r>
                      <a:r>
                        <a:rPr lang="en-US" sz="1000" err="1">
                          <a:solidFill>
                            <a:srgbClr val="FF0000"/>
                          </a:solidFill>
                          <a:effectLst/>
                          <a:latin typeface="Calibri" panose="020F0502020204030204" pitchFamily="34" charset="0"/>
                          <a:ea typeface="Times" panose="02020603050405020304" pitchFamily="18" charset="0"/>
                          <a:cs typeface="Calibri" panose="020F0502020204030204" pitchFamily="34" charset="0"/>
                        </a:rPr>
                        <a:t>onhand</a:t>
                      </a:r>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 experience on MBTA network</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500"/>
                        </a:lnSpc>
                        <a:spcAft>
                          <a:spcPts val="800"/>
                        </a:spcAft>
                      </a:pPr>
                      <a:r>
                        <a:rPr lang="en-US" sz="1000">
                          <a:effectLst/>
                          <a:latin typeface="Calibri" panose="020F0502020204030204" pitchFamily="34" charset="0"/>
                          <a:ea typeface="Times" panose="02020603050405020304" pitchFamily="18" charset="0"/>
                          <a:cs typeface="Calibri" panose="020F0502020204030204" pitchFamily="34" charset="0"/>
                        </a:rPr>
                        <a:t> </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3806446"/>
                  </a:ext>
                </a:extLst>
              </a:tr>
              <a:tr h="0">
                <a:tc>
                  <a:txBody>
                    <a:bodyPr/>
                    <a:lstStyle/>
                    <a:p>
                      <a:pPr>
                        <a:lnSpc>
                          <a:spcPts val="1500"/>
                        </a:lnSpc>
                        <a:spcAft>
                          <a:spcPts val="800"/>
                        </a:spcAft>
                      </a:pPr>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 Risk</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pt-BR" sz="1000" err="1">
                          <a:solidFill>
                            <a:srgbClr val="FF0000"/>
                          </a:solidFill>
                          <a:effectLst/>
                          <a:latin typeface="Calibri" panose="020F0502020204030204" pitchFamily="34" charset="0"/>
                          <a:ea typeface="Times" panose="02020603050405020304" pitchFamily="18" charset="0"/>
                          <a:cs typeface="Calibri" panose="020F0502020204030204" pitchFamily="34" charset="0"/>
                        </a:rPr>
                        <a:t>Turnkey</a:t>
                      </a:r>
                      <a:r>
                        <a:rPr lang="pt-BR" sz="1000">
                          <a:solidFill>
                            <a:srgbClr val="FF0000"/>
                          </a:solidFill>
                          <a:effectLst/>
                          <a:latin typeface="Calibri" panose="020F0502020204030204" pitchFamily="34" charset="0"/>
                          <a:ea typeface="Times" panose="02020603050405020304" pitchFamily="18" charset="0"/>
                          <a:cs typeface="Calibri" panose="020F0502020204030204" pitchFamily="34" charset="0"/>
                        </a:rPr>
                        <a:t> </a:t>
                      </a:r>
                      <a:r>
                        <a:rPr lang="pt-BR" sz="1000" err="1">
                          <a:solidFill>
                            <a:srgbClr val="FF0000"/>
                          </a:solidFill>
                          <a:effectLst/>
                          <a:latin typeface="Calibri" panose="020F0502020204030204" pitchFamily="34" charset="0"/>
                          <a:ea typeface="Times" panose="02020603050405020304" pitchFamily="18" charset="0"/>
                          <a:cs typeface="Calibri" panose="020F0502020204030204" pitchFamily="34" charset="0"/>
                        </a:rPr>
                        <a:t>Bid</a:t>
                      </a:r>
                      <a:endParaRPr lang="en-US">
                        <a:solidFill>
                          <a:srgbClr val="FF0000"/>
                        </a:solidFil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500"/>
                        </a:lnSpc>
                        <a:spcAft>
                          <a:spcPts val="800"/>
                        </a:spcAft>
                      </a:pPr>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Other bidders can offer same solution</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ts val="1500"/>
                        </a:lnSpc>
                        <a:spcAft>
                          <a:spcPts val="800"/>
                        </a:spcAft>
                      </a:pPr>
                      <a:r>
                        <a:rPr lang="en-US" sz="1000">
                          <a:effectLst/>
                          <a:latin typeface="Calibri" panose="020F0502020204030204" pitchFamily="34" charset="0"/>
                          <a:ea typeface="Times" panose="02020603050405020304" pitchFamily="18" charset="0"/>
                          <a:cs typeface="Calibri" panose="020F0502020204030204" pitchFamily="34" charset="0"/>
                        </a:rPr>
                        <a:t> </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292867"/>
                  </a:ext>
                </a:extLst>
              </a:tr>
              <a:tr h="0">
                <a:tc gridSpan="4">
                  <a:txBody>
                    <a:bodyPr/>
                    <a:lstStyle/>
                    <a:p>
                      <a:pPr>
                        <a:lnSpc>
                          <a:spcPts val="1500"/>
                        </a:lnSpc>
                        <a:spcAft>
                          <a:spcPts val="800"/>
                        </a:spcAft>
                      </a:pPr>
                      <a:r>
                        <a:rPr lang="pt-BR" sz="1100" err="1">
                          <a:solidFill>
                            <a:srgbClr val="000000"/>
                          </a:solidFill>
                          <a:effectLst/>
                          <a:latin typeface="Calibri" panose="020F0502020204030204" pitchFamily="34" charset="0"/>
                          <a:ea typeface="Times" panose="02020603050405020304" pitchFamily="18" charset="0"/>
                          <a:cs typeface="Calibri" panose="020F0502020204030204" pitchFamily="34" charset="0"/>
                        </a:rPr>
                        <a:t>Commercial</a:t>
                      </a:r>
                      <a:r>
                        <a:rPr lang="pt-BR" sz="1100">
                          <a:solidFill>
                            <a:srgbClr val="000000"/>
                          </a:solidFill>
                          <a:effectLst/>
                          <a:latin typeface="Calibri" panose="020F0502020204030204" pitchFamily="34" charset="0"/>
                          <a:ea typeface="Times" panose="02020603050405020304" pitchFamily="18" charset="0"/>
                          <a:cs typeface="Calibri" panose="020F0502020204030204" pitchFamily="34"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tc hMerge="1">
                  <a:txBody>
                    <a:bodyPr/>
                    <a:lstStyle/>
                    <a:p>
                      <a:endParaRPr lang="en-US"/>
                    </a:p>
                  </a:txBody>
                  <a:tcPr>
                    <a:lnL w="12700" cap="flat" cmpd="sng" algn="ctr">
                      <a:solidFill>
                        <a:srgbClr val="000000"/>
                      </a:solidFill>
                      <a:prstDash val="solid"/>
                      <a:round/>
                      <a:headEnd type="none" w="med" len="med"/>
                      <a:tailEnd type="none" w="med" len="med"/>
                    </a:lnL>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1702254533"/>
                  </a:ext>
                </a:extLst>
              </a:tr>
              <a:tr h="0">
                <a:tc>
                  <a:txBody>
                    <a:bodyPr/>
                    <a:lstStyle/>
                    <a:p>
                      <a:pPr>
                        <a:lnSpc>
                          <a:spcPts val="1500"/>
                        </a:lnSpc>
                        <a:spcAft>
                          <a:spcPts val="800"/>
                        </a:spcAft>
                      </a:pPr>
                      <a:r>
                        <a:rPr lang="pt-BR" sz="1000">
                          <a:solidFill>
                            <a:srgbClr val="FF0000"/>
                          </a:solidFill>
                          <a:effectLst/>
                          <a:latin typeface="Calibri" panose="020F0502020204030204" pitchFamily="34" charset="0"/>
                          <a:ea typeface="Times" panose="02020603050405020304" pitchFamily="18" charset="0"/>
                          <a:cs typeface="Calibri" panose="020F0502020204030204" pitchFamily="34" charset="0"/>
                        </a:rPr>
                        <a:t> Risk</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T&amp;C’s exposure— LD’s, Overall Liability, Professional Liability, consequential damages </a:t>
                      </a:r>
                      <a:endParaRPr lang="en-US">
                        <a:solidFill>
                          <a:srgbClr val="FF0000"/>
                        </a:solidFil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Will discuss this with customer during pre-bid meeting and get clarification. </a:t>
                      </a:r>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pPr>
                        <a:lnSpc>
                          <a:spcPts val="1500"/>
                        </a:lnSpc>
                        <a:spcAft>
                          <a:spcPts val="800"/>
                        </a:spcAft>
                      </a:pPr>
                      <a:r>
                        <a:rPr lang="en-US" sz="1000">
                          <a:solidFill>
                            <a:srgbClr val="FF0000"/>
                          </a:solidFill>
                          <a:effectLst/>
                          <a:latin typeface="Calibri" panose="020F0502020204030204" pitchFamily="34" charset="0"/>
                          <a:ea typeface="Times" panose="02020603050405020304" pitchFamily="18" charset="0"/>
                          <a:cs typeface="Calibri" panose="020F0502020204030204" pitchFamily="34" charset="0"/>
                        </a:rPr>
                        <a:t>Draft specific questions to customer.  </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9778912"/>
                  </a:ext>
                </a:extLst>
              </a:tr>
              <a:tr h="0">
                <a:tc gridSpan="4">
                  <a:txBody>
                    <a:bodyPr/>
                    <a:lstStyle/>
                    <a:p>
                      <a:pPr>
                        <a:lnSpc>
                          <a:spcPts val="1500"/>
                        </a:lnSpc>
                        <a:spcAft>
                          <a:spcPts val="800"/>
                        </a:spcAft>
                      </a:pPr>
                      <a:r>
                        <a:rPr lang="pt-BR" sz="1100">
                          <a:solidFill>
                            <a:srgbClr val="000000"/>
                          </a:solidFill>
                          <a:effectLst/>
                          <a:latin typeface="Calibri" panose="020F0502020204030204" pitchFamily="34" charset="0"/>
                          <a:ea typeface="Calibri" panose="020F0502020204030204" pitchFamily="34" charset="0"/>
                          <a:cs typeface="Calibri" panose="020F0502020204030204" pitchFamily="34" charset="0"/>
                        </a:rPr>
                        <a:t>Pipeline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lumMod val="20000"/>
                        <a:lumOff val="80000"/>
                      </a:schemeClr>
                    </a:solidFill>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hMerge="1">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7110071"/>
                  </a:ext>
                </a:extLst>
              </a:tr>
              <a:tr h="0">
                <a:tc>
                  <a:txBody>
                    <a:bodyPr/>
                    <a:lstStyle/>
                    <a:p>
                      <a:pPr>
                        <a:lnSpc>
                          <a:spcPts val="1500"/>
                        </a:lnSpc>
                        <a:spcAft>
                          <a:spcPts val="800"/>
                        </a:spcAft>
                      </a:pPr>
                      <a:r>
                        <a:rPr lang="pt-BR" sz="1000">
                          <a:solidFill>
                            <a:srgbClr val="FF0000"/>
                          </a:solidFill>
                          <a:effectLst/>
                          <a:latin typeface="Calibri" panose="020F0502020204030204" pitchFamily="34" charset="0"/>
                          <a:ea typeface="Times" panose="02020603050405020304" pitchFamily="18" charset="0"/>
                          <a:cs typeface="Calibri" panose="020F0502020204030204" pitchFamily="34" charset="0"/>
                        </a:rPr>
                        <a:t> Risk/</a:t>
                      </a:r>
                      <a:r>
                        <a:rPr lang="pt-BR" sz="1000" err="1">
                          <a:solidFill>
                            <a:srgbClr val="FF0000"/>
                          </a:solidFill>
                          <a:effectLst/>
                          <a:latin typeface="Calibri" panose="020F0502020204030204" pitchFamily="34" charset="0"/>
                          <a:ea typeface="Times" panose="02020603050405020304" pitchFamily="18" charset="0"/>
                          <a:cs typeface="Calibri" panose="020F0502020204030204" pitchFamily="34" charset="0"/>
                        </a:rPr>
                        <a:t>Opportunity</a:t>
                      </a: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pt-BR" sz="1000" err="1">
                          <a:solidFill>
                            <a:srgbClr val="FF0000"/>
                          </a:solidFill>
                          <a:latin typeface="Calibri" panose="020F0502020204030204" pitchFamily="34" charset="0"/>
                          <a:cs typeface="Calibri" panose="020F0502020204030204" pitchFamily="34" charset="0"/>
                        </a:rPr>
                        <a:t>What</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is</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our</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current</a:t>
                      </a:r>
                      <a:r>
                        <a:rPr lang="pt-BR" sz="1000">
                          <a:solidFill>
                            <a:srgbClr val="FF0000"/>
                          </a:solidFill>
                          <a:latin typeface="Calibri" panose="020F0502020204030204" pitchFamily="34" charset="0"/>
                          <a:cs typeface="Calibri" panose="020F0502020204030204" pitchFamily="34" charset="0"/>
                        </a:rPr>
                        <a:t> pipeline? Does </a:t>
                      </a:r>
                      <a:r>
                        <a:rPr lang="pt-BR" sz="1000" err="1">
                          <a:solidFill>
                            <a:srgbClr val="FF0000"/>
                          </a:solidFill>
                          <a:latin typeface="Calibri" panose="020F0502020204030204" pitchFamily="34" charset="0"/>
                          <a:cs typeface="Calibri" panose="020F0502020204030204" pitchFamily="34" charset="0"/>
                        </a:rPr>
                        <a:t>this</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align</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well</a:t>
                      </a:r>
                      <a:r>
                        <a:rPr lang="pt-BR" sz="1000">
                          <a:solidFill>
                            <a:srgbClr val="FF0000"/>
                          </a:solidFill>
                          <a:latin typeface="Calibri" panose="020F0502020204030204" pitchFamily="34" charset="0"/>
                          <a:cs typeface="Calibri" panose="020F0502020204030204" pitchFamily="34" charset="0"/>
                        </a:rPr>
                        <a:t>, timing, </a:t>
                      </a:r>
                      <a:r>
                        <a:rPr lang="pt-BR" sz="1000" err="1">
                          <a:solidFill>
                            <a:srgbClr val="FF0000"/>
                          </a:solidFill>
                          <a:latin typeface="Calibri" panose="020F0502020204030204" pitchFamily="34" charset="0"/>
                          <a:cs typeface="Calibri" panose="020F0502020204030204" pitchFamily="34" charset="0"/>
                        </a:rPr>
                        <a:t>etc</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Is</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this</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Opp</a:t>
                      </a:r>
                      <a:r>
                        <a:rPr lang="pt-BR" sz="1000">
                          <a:solidFill>
                            <a:srgbClr val="FF0000"/>
                          </a:solidFill>
                          <a:latin typeface="Calibri" panose="020F0502020204030204" pitchFamily="34" charset="0"/>
                          <a:cs typeface="Calibri" panose="020F0502020204030204" pitchFamily="34" charset="0"/>
                        </a:rPr>
                        <a:t> </a:t>
                      </a:r>
                      <a:r>
                        <a:rPr lang="pt-BR" sz="1000" err="1">
                          <a:solidFill>
                            <a:srgbClr val="FF0000"/>
                          </a:solidFill>
                          <a:latin typeface="Calibri" panose="020F0502020204030204" pitchFamily="34" charset="0"/>
                          <a:cs typeface="Calibri" panose="020F0502020204030204" pitchFamily="34" charset="0"/>
                        </a:rPr>
                        <a:t>realistic</a:t>
                      </a:r>
                      <a:r>
                        <a:rPr lang="pt-BR" sz="1000">
                          <a:solidFill>
                            <a:srgbClr val="FF0000"/>
                          </a:solidFill>
                          <a:latin typeface="Calibri" panose="020F0502020204030204" pitchFamily="34" charset="0"/>
                          <a:cs typeface="Calibri" panose="020F0502020204030204" pitchFamily="34" charset="0"/>
                        </a:rPr>
                        <a:t> &amp; </a:t>
                      </a:r>
                      <a:r>
                        <a:rPr lang="pt-BR" sz="1000" err="1">
                          <a:solidFill>
                            <a:srgbClr val="FF0000"/>
                          </a:solidFill>
                          <a:latin typeface="Calibri" panose="020F0502020204030204" pitchFamily="34" charset="0"/>
                          <a:cs typeface="Calibri" panose="020F0502020204030204" pitchFamily="34" charset="0"/>
                        </a:rPr>
                        <a:t>achievable</a:t>
                      </a:r>
                      <a:r>
                        <a:rPr lang="pt-BR" sz="1000">
                          <a:solidFill>
                            <a:srgbClr val="FF0000"/>
                          </a:solidFill>
                          <a:latin typeface="Calibri" panose="020F0502020204030204" pitchFamily="34" charset="0"/>
                          <a:cs typeface="Calibri" panose="020F0502020204030204" pitchFamily="34" charset="0"/>
                        </a:rPr>
                        <a:t>?</a:t>
                      </a:r>
                      <a:endParaRPr lang="en-US" sz="1000">
                        <a:solidFill>
                          <a:srgbClr val="FF0000"/>
                        </a:solidFill>
                        <a:latin typeface="Calibri" panose="020F0502020204030204" pitchFamily="34" charset="0"/>
                        <a:cs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tcPr>
                </a:tc>
                <a:tc>
                  <a:txBody>
                    <a:bodyPr/>
                    <a:lstStyle/>
                    <a:p>
                      <a:pPr>
                        <a:lnSpc>
                          <a:spcPts val="1500"/>
                        </a:lnSpc>
                        <a:spcAft>
                          <a:spcPts val="800"/>
                        </a:spcAft>
                      </a:pPr>
                      <a:endParaRPr lang="en-US" sz="110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7770"/>
                  </a:ext>
                </a:extLst>
              </a:tr>
            </a:tbl>
          </a:graphicData>
        </a:graphic>
      </p:graphicFrame>
      <p:sp>
        <p:nvSpPr>
          <p:cNvPr id="26" name="CaixaDeTexto 25">
            <a:extLst>
              <a:ext uri="{FF2B5EF4-FFF2-40B4-BE49-F238E27FC236}">
                <a16:creationId xmlns:a16="http://schemas.microsoft.com/office/drawing/2014/main" id="{439C8B5E-C47C-A834-1758-D84FA6DD36F6}"/>
              </a:ext>
            </a:extLst>
          </p:cNvPr>
          <p:cNvSpPr txBox="1"/>
          <p:nvPr/>
        </p:nvSpPr>
        <p:spPr>
          <a:xfrm>
            <a:off x="5976803" y="4391623"/>
            <a:ext cx="2911165" cy="344069"/>
          </a:xfrm>
          <a:prstGeom prst="rect">
            <a:avLst/>
          </a:prstGeom>
          <a:noFill/>
        </p:spPr>
        <p:txBody>
          <a:bodyPr wrap="square">
            <a:spAutoFit/>
          </a:bodyPr>
          <a:lstStyle/>
          <a:p>
            <a:pPr lvl="0">
              <a:lnSpc>
                <a:spcPct val="107000"/>
              </a:lnSpc>
              <a:spcAft>
                <a:spcPts val="800"/>
              </a:spcAft>
            </a:pPr>
            <a:r>
              <a:rPr lang="en-US" sz="1600" b="1">
                <a:effectLst/>
                <a:latin typeface="GE Inspira Sans"/>
                <a:ea typeface="Calibri" panose="020F0502020204030204" pitchFamily="34" charset="0"/>
                <a:cs typeface="Calibri" panose="020F0502020204030204" pitchFamily="34" charset="0"/>
              </a:rPr>
              <a:t>CONTRACTS OVERVIEW – T&amp;Cs</a:t>
            </a:r>
            <a:endParaRPr lang="en-US" sz="1600">
              <a:effectLst/>
              <a:latin typeface="GE Inspira Sans"/>
              <a:ea typeface="Calibri" panose="020F0502020204030204" pitchFamily="34" charset="0"/>
              <a:cs typeface="Times New Roman" panose="02020603050405020304" pitchFamily="18" charset="0"/>
            </a:endParaRPr>
          </a:p>
        </p:txBody>
      </p:sp>
      <p:sp>
        <p:nvSpPr>
          <p:cNvPr id="27" name="Rectangle 19">
            <a:extLst>
              <a:ext uri="{FF2B5EF4-FFF2-40B4-BE49-F238E27FC236}">
                <a16:creationId xmlns:a16="http://schemas.microsoft.com/office/drawing/2014/main" id="{6510C272-AC33-B7B7-5D7B-317EBE64681E}"/>
              </a:ext>
            </a:extLst>
          </p:cNvPr>
          <p:cNvSpPr/>
          <p:nvPr/>
        </p:nvSpPr>
        <p:spPr>
          <a:xfrm>
            <a:off x="6080919" y="4729177"/>
            <a:ext cx="5576006" cy="1376323"/>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graphicFrame>
        <p:nvGraphicFramePr>
          <p:cNvPr id="28" name="Objeto 27">
            <a:extLst>
              <a:ext uri="{FF2B5EF4-FFF2-40B4-BE49-F238E27FC236}">
                <a16:creationId xmlns:a16="http://schemas.microsoft.com/office/drawing/2014/main" id="{BBED5F0E-5B72-0822-5EC4-FFF46ABDF9DC}"/>
              </a:ext>
            </a:extLst>
          </p:cNvPr>
          <p:cNvGraphicFramePr>
            <a:graphicFrameLocks noChangeAspect="1"/>
          </p:cNvGraphicFramePr>
          <p:nvPr>
            <p:extLst>
              <p:ext uri="{D42A27DB-BD31-4B8C-83A1-F6EECF244321}">
                <p14:modId xmlns:p14="http://schemas.microsoft.com/office/powerpoint/2010/main" val="2280178053"/>
              </p:ext>
            </p:extLst>
          </p:nvPr>
        </p:nvGraphicFramePr>
        <p:xfrm>
          <a:off x="9204397" y="5097251"/>
          <a:ext cx="682553" cy="575904"/>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28" name="Objeto 27">
                        <a:extLst>
                          <a:ext uri="{FF2B5EF4-FFF2-40B4-BE49-F238E27FC236}">
                            <a16:creationId xmlns:a16="http://schemas.microsoft.com/office/drawing/2014/main" id="{BBED5F0E-5B72-0822-5EC4-FFF46ABDF9DC}"/>
                          </a:ext>
                        </a:extLst>
                      </p:cNvPr>
                      <p:cNvPicPr/>
                      <p:nvPr/>
                    </p:nvPicPr>
                    <p:blipFill>
                      <a:blip r:embed="rId4"/>
                      <a:stretch>
                        <a:fillRect/>
                      </a:stretch>
                    </p:blipFill>
                    <p:spPr>
                      <a:xfrm>
                        <a:off x="9204397" y="5097251"/>
                        <a:ext cx="682553" cy="575904"/>
                      </a:xfrm>
                      <a:prstGeom prst="rect">
                        <a:avLst/>
                      </a:prstGeom>
                    </p:spPr>
                  </p:pic>
                </p:oleObj>
              </mc:Fallback>
            </mc:AlternateContent>
          </a:graphicData>
        </a:graphic>
      </p:graphicFrame>
      <p:sp>
        <p:nvSpPr>
          <p:cNvPr id="30" name="CaixaDeTexto 29">
            <a:extLst>
              <a:ext uri="{FF2B5EF4-FFF2-40B4-BE49-F238E27FC236}">
                <a16:creationId xmlns:a16="http://schemas.microsoft.com/office/drawing/2014/main" id="{F1154D75-79EC-1E32-6B56-DB220A4DA14C}"/>
              </a:ext>
            </a:extLst>
          </p:cNvPr>
          <p:cNvSpPr txBox="1"/>
          <p:nvPr/>
        </p:nvSpPr>
        <p:spPr>
          <a:xfrm>
            <a:off x="7368310" y="5235246"/>
            <a:ext cx="1659281" cy="230832"/>
          </a:xfrm>
          <a:prstGeom prst="rect">
            <a:avLst/>
          </a:prstGeom>
          <a:noFill/>
        </p:spPr>
        <p:txBody>
          <a:bodyPr wrap="square" rtlCol="0">
            <a:spAutoFit/>
          </a:bodyPr>
          <a:lstStyle/>
          <a:p>
            <a:r>
              <a:rPr lang="pt-BR" sz="900" b="1" err="1">
                <a:solidFill>
                  <a:srgbClr val="FF0000"/>
                </a:solidFill>
              </a:rPr>
              <a:t>Commercial</a:t>
            </a:r>
            <a:r>
              <a:rPr lang="pt-BR" sz="900" b="1">
                <a:solidFill>
                  <a:srgbClr val="FF0000"/>
                </a:solidFill>
              </a:rPr>
              <a:t> Risk Tool</a:t>
            </a:r>
            <a:endParaRPr lang="en-US" sz="900" b="1">
              <a:solidFill>
                <a:srgbClr val="FF0000"/>
              </a:solidFill>
            </a:endParaRPr>
          </a:p>
        </p:txBody>
      </p:sp>
      <p:cxnSp>
        <p:nvCxnSpPr>
          <p:cNvPr id="31" name="Conector de Seta Reta 30">
            <a:extLst>
              <a:ext uri="{FF2B5EF4-FFF2-40B4-BE49-F238E27FC236}">
                <a16:creationId xmlns:a16="http://schemas.microsoft.com/office/drawing/2014/main" id="{C69378DA-C427-0A7D-7F2F-ED6C33F9D239}"/>
              </a:ext>
            </a:extLst>
          </p:cNvPr>
          <p:cNvCxnSpPr/>
          <p:nvPr/>
        </p:nvCxnSpPr>
        <p:spPr>
          <a:xfrm>
            <a:off x="8821288" y="5344984"/>
            <a:ext cx="259768" cy="0"/>
          </a:xfrm>
          <a:prstGeom prst="straightConnector1">
            <a:avLst/>
          </a:prstGeom>
          <a:ln w="12700">
            <a:solidFill>
              <a:srgbClr val="FF0000"/>
            </a:solidFill>
            <a:tailEnd type="triangle"/>
          </a:ln>
        </p:spPr>
        <p:style>
          <a:lnRef idx="1">
            <a:schemeClr val="accent6"/>
          </a:lnRef>
          <a:fillRef idx="0">
            <a:schemeClr val="accent6"/>
          </a:fillRef>
          <a:effectRef idx="0">
            <a:schemeClr val="accent6"/>
          </a:effectRef>
          <a:fontRef idx="minor">
            <a:schemeClr val="tx1"/>
          </a:fontRef>
        </p:style>
      </p:cxnSp>
      <p:sp>
        <p:nvSpPr>
          <p:cNvPr id="32" name="CaixaDeTexto 31">
            <a:extLst>
              <a:ext uri="{FF2B5EF4-FFF2-40B4-BE49-F238E27FC236}">
                <a16:creationId xmlns:a16="http://schemas.microsoft.com/office/drawing/2014/main" id="{F19A5757-0D7B-28B7-87C0-E4BA468B5D90}"/>
              </a:ext>
            </a:extLst>
          </p:cNvPr>
          <p:cNvSpPr txBox="1"/>
          <p:nvPr/>
        </p:nvSpPr>
        <p:spPr>
          <a:xfrm>
            <a:off x="6080919" y="4682582"/>
            <a:ext cx="5576006" cy="522644"/>
          </a:xfrm>
          <a:prstGeom prst="rect">
            <a:avLst/>
          </a:prstGeom>
          <a:noFill/>
        </p:spPr>
        <p:txBody>
          <a:bodyPr wrap="square">
            <a:spAutoFit/>
          </a:bodyPr>
          <a:lstStyle/>
          <a:p>
            <a:pPr algn="l" rtl="0" eaLnBrk="1" fontAlgn="base" hangingPunct="1">
              <a:lnSpc>
                <a:spcPct val="150000"/>
              </a:lnSpc>
              <a:spcBef>
                <a:spcPts val="1200"/>
              </a:spcBef>
              <a:spcAft>
                <a:spcPts val="0"/>
              </a:spcAft>
              <a:buClrTx/>
              <a:buSzPts val="1800"/>
            </a:pPr>
            <a:r>
              <a:rPr lang="pt-BR" sz="1000" err="1">
                <a:solidFill>
                  <a:srgbClr val="FF0000"/>
                </a:solidFill>
              </a:rPr>
              <a:t>Contracts</a:t>
            </a:r>
            <a:r>
              <a:rPr lang="pt-BR" sz="1000">
                <a:solidFill>
                  <a:srgbClr val="FF0000"/>
                </a:solidFill>
              </a:rPr>
              <a:t> </a:t>
            </a:r>
            <a:r>
              <a:rPr lang="pt-BR" sz="1000" err="1">
                <a:solidFill>
                  <a:srgbClr val="FF0000"/>
                </a:solidFill>
              </a:rPr>
              <a:t>and</a:t>
            </a:r>
            <a:r>
              <a:rPr lang="pt-BR" sz="1000">
                <a:solidFill>
                  <a:srgbClr val="FF0000"/>
                </a:solidFill>
              </a:rPr>
              <a:t> </a:t>
            </a:r>
            <a:r>
              <a:rPr lang="pt-BR" sz="1000" err="1">
                <a:solidFill>
                  <a:srgbClr val="FF0000"/>
                </a:solidFill>
              </a:rPr>
              <a:t>CommOps</a:t>
            </a:r>
            <a:r>
              <a:rPr lang="pt-BR" sz="1000">
                <a:solidFill>
                  <a:srgbClr val="FF0000"/>
                </a:solidFill>
              </a:rPr>
              <a:t> </a:t>
            </a:r>
            <a:r>
              <a:rPr lang="pt-BR" sz="1000" err="1">
                <a:solidFill>
                  <a:srgbClr val="FF0000"/>
                </a:solidFill>
              </a:rPr>
              <a:t>should</a:t>
            </a:r>
            <a:r>
              <a:rPr lang="pt-BR" sz="1000">
                <a:solidFill>
                  <a:srgbClr val="FF0000"/>
                </a:solidFill>
              </a:rPr>
              <a:t> utilize CRT </a:t>
            </a:r>
            <a:r>
              <a:rPr lang="pt-BR" sz="1000" err="1">
                <a:solidFill>
                  <a:srgbClr val="FF0000"/>
                </a:solidFill>
              </a:rPr>
              <a:t>and</a:t>
            </a:r>
            <a:r>
              <a:rPr lang="pt-BR" sz="1000">
                <a:solidFill>
                  <a:srgbClr val="FF0000"/>
                </a:solidFill>
              </a:rPr>
              <a:t> </a:t>
            </a:r>
            <a:r>
              <a:rPr lang="pt-BR" sz="1000" err="1">
                <a:solidFill>
                  <a:srgbClr val="FF0000"/>
                </a:solidFill>
              </a:rPr>
              <a:t>list</a:t>
            </a:r>
            <a:r>
              <a:rPr lang="pt-BR" sz="1000">
                <a:solidFill>
                  <a:srgbClr val="FF0000"/>
                </a:solidFill>
              </a:rPr>
              <a:t> </a:t>
            </a:r>
            <a:r>
              <a:rPr lang="pt-BR" sz="1000" err="1">
                <a:solidFill>
                  <a:srgbClr val="FF0000"/>
                </a:solidFill>
              </a:rPr>
              <a:t>the</a:t>
            </a:r>
            <a:r>
              <a:rPr lang="pt-BR" sz="1000">
                <a:solidFill>
                  <a:srgbClr val="FF0000"/>
                </a:solidFill>
              </a:rPr>
              <a:t> </a:t>
            </a:r>
            <a:r>
              <a:rPr lang="pt-BR" sz="1000" err="1">
                <a:solidFill>
                  <a:srgbClr val="FF0000"/>
                </a:solidFill>
              </a:rPr>
              <a:t>items</a:t>
            </a:r>
            <a:r>
              <a:rPr lang="pt-BR" sz="1000">
                <a:solidFill>
                  <a:srgbClr val="FF0000"/>
                </a:solidFill>
              </a:rPr>
              <a:t> </a:t>
            </a:r>
            <a:r>
              <a:rPr lang="pt-BR" sz="1000" err="1">
                <a:solidFill>
                  <a:srgbClr val="FF0000"/>
                </a:solidFill>
              </a:rPr>
              <a:t>to</a:t>
            </a:r>
            <a:r>
              <a:rPr lang="pt-BR" sz="1000">
                <a:solidFill>
                  <a:srgbClr val="FF0000"/>
                </a:solidFill>
              </a:rPr>
              <a:t> </a:t>
            </a:r>
            <a:r>
              <a:rPr lang="pt-BR" sz="1000" err="1">
                <a:solidFill>
                  <a:srgbClr val="FF0000"/>
                </a:solidFill>
              </a:rPr>
              <a:t>be</a:t>
            </a:r>
            <a:r>
              <a:rPr lang="pt-BR" sz="1000">
                <a:solidFill>
                  <a:srgbClr val="FF0000"/>
                </a:solidFill>
              </a:rPr>
              <a:t> </a:t>
            </a:r>
            <a:r>
              <a:rPr lang="pt-BR" sz="1000" err="1">
                <a:solidFill>
                  <a:srgbClr val="FF0000"/>
                </a:solidFill>
              </a:rPr>
              <a:t>discussed</a:t>
            </a:r>
            <a:r>
              <a:rPr lang="pt-BR" sz="1000">
                <a:solidFill>
                  <a:srgbClr val="FF0000"/>
                </a:solidFill>
              </a:rPr>
              <a:t> (</a:t>
            </a:r>
            <a:r>
              <a:rPr lang="pt-BR" sz="1000" err="1">
                <a:solidFill>
                  <a:srgbClr val="FF0000"/>
                </a:solidFill>
              </a:rPr>
              <a:t>deviations</a:t>
            </a:r>
            <a:r>
              <a:rPr lang="pt-BR" sz="1000">
                <a:solidFill>
                  <a:srgbClr val="FF0000"/>
                </a:solidFill>
              </a:rPr>
              <a:t> </a:t>
            </a:r>
            <a:r>
              <a:rPr lang="pt-BR" sz="1000" err="1">
                <a:solidFill>
                  <a:srgbClr val="FF0000"/>
                </a:solidFill>
              </a:rPr>
              <a:t>from</a:t>
            </a:r>
            <a:r>
              <a:rPr lang="pt-BR" sz="1000">
                <a:solidFill>
                  <a:srgbClr val="FF0000"/>
                </a:solidFill>
              </a:rPr>
              <a:t> </a:t>
            </a:r>
            <a:r>
              <a:rPr lang="pt-BR" sz="1000" err="1">
                <a:solidFill>
                  <a:srgbClr val="FF0000"/>
                </a:solidFill>
              </a:rPr>
              <a:t>Wabtec’s</a:t>
            </a:r>
            <a:r>
              <a:rPr lang="pt-BR" sz="1000">
                <a:solidFill>
                  <a:srgbClr val="FF0000"/>
                </a:solidFill>
              </a:rPr>
              <a:t> </a:t>
            </a:r>
            <a:r>
              <a:rPr lang="pt-BR" sz="1000" err="1">
                <a:solidFill>
                  <a:srgbClr val="FF0000"/>
                </a:solidFill>
              </a:rPr>
              <a:t>policy</a:t>
            </a:r>
            <a:r>
              <a:rPr lang="pt-BR" sz="1000">
                <a:solidFill>
                  <a:srgbClr val="FF0000"/>
                </a:solidFill>
              </a:rPr>
              <a:t>)</a:t>
            </a:r>
          </a:p>
        </p:txBody>
      </p:sp>
      <p:sp>
        <p:nvSpPr>
          <p:cNvPr id="33" name="CaixaDeTexto 32">
            <a:extLst>
              <a:ext uri="{FF2B5EF4-FFF2-40B4-BE49-F238E27FC236}">
                <a16:creationId xmlns:a16="http://schemas.microsoft.com/office/drawing/2014/main" id="{FC2AAF97-1C6C-A4F3-ADB1-4CAF425DBFE0}"/>
              </a:ext>
            </a:extLst>
          </p:cNvPr>
          <p:cNvSpPr txBox="1"/>
          <p:nvPr/>
        </p:nvSpPr>
        <p:spPr>
          <a:xfrm>
            <a:off x="6099005" y="5577262"/>
            <a:ext cx="5302196" cy="522644"/>
          </a:xfrm>
          <a:prstGeom prst="rect">
            <a:avLst/>
          </a:prstGeom>
          <a:noFill/>
        </p:spPr>
        <p:txBody>
          <a:bodyPr wrap="square">
            <a:spAutoFit/>
          </a:bodyPr>
          <a:lstStyle/>
          <a:p>
            <a:pPr>
              <a:lnSpc>
                <a:spcPct val="150000"/>
              </a:lnSpc>
              <a:spcBef>
                <a:spcPts val="1200"/>
              </a:spcBef>
              <a:spcAft>
                <a:spcPts val="0"/>
              </a:spcAft>
              <a:buSzPts val="1800"/>
            </a:pPr>
            <a:r>
              <a:rPr lang="en-US" sz="1000" b="1">
                <a:solidFill>
                  <a:srgbClr val="FF0000"/>
                </a:solidFill>
                <a:effectLst/>
                <a:latin typeface="+mn-lt"/>
                <a:ea typeface="Calibri" panose="020F0502020204030204" pitchFamily="34" charset="0"/>
                <a:cs typeface="Calibri" panose="020F0502020204030204" pitchFamily="34" charset="0"/>
              </a:rPr>
              <a:t>What are the conclusions arising from the expected Terms &amp; Conditions for the Project?</a:t>
            </a:r>
            <a:endParaRPr lang="en-US" sz="1000">
              <a:solidFill>
                <a:srgbClr val="FF0000"/>
              </a:solidFill>
              <a:effectLst/>
              <a:latin typeface="+mn-lt"/>
              <a:ea typeface="Calibri" panose="020F0502020204030204" pitchFamily="34" charset="0"/>
              <a:cs typeface="Times New Roman" panose="02020603050405020304" pitchFamily="18" charset="0"/>
            </a:endParaRPr>
          </a:p>
        </p:txBody>
      </p:sp>
      <p:sp>
        <p:nvSpPr>
          <p:cNvPr id="10" name="Titre 2">
            <a:extLst>
              <a:ext uri="{FF2B5EF4-FFF2-40B4-BE49-F238E27FC236}">
                <a16:creationId xmlns:a16="http://schemas.microsoft.com/office/drawing/2014/main" id="{DA42E3D3-316F-1EA0-B6E6-2EA4130645F3}"/>
              </a:ext>
            </a:extLst>
          </p:cNvPr>
          <p:cNvSpPr>
            <a:spLocks noGrp="1"/>
          </p:cNvSpPr>
          <p:nvPr>
            <p:ph type="title"/>
          </p:nvPr>
        </p:nvSpPr>
        <p:spPr>
          <a:xfrm>
            <a:off x="191966" y="-348983"/>
            <a:ext cx="3664680" cy="815975"/>
          </a:xfrm>
        </p:spPr>
        <p:txBody>
          <a:bodyPr/>
          <a:lstStyle/>
          <a:p>
            <a:pPr defTabSz="608625" fontAlgn="auto">
              <a:spcAft>
                <a:spcPts val="0"/>
              </a:spcAft>
              <a:defRPr/>
            </a:pPr>
            <a:r>
              <a:rPr lang="en-US" sz="2400">
                <a:ea typeface="+mj-ea"/>
              </a:rPr>
              <a:t>Customer - Project Name</a:t>
            </a:r>
          </a:p>
        </p:txBody>
      </p:sp>
      <p:sp>
        <p:nvSpPr>
          <p:cNvPr id="11" name="Text Placeholder 1">
            <a:extLst>
              <a:ext uri="{FF2B5EF4-FFF2-40B4-BE49-F238E27FC236}">
                <a16:creationId xmlns:a16="http://schemas.microsoft.com/office/drawing/2014/main" id="{961E37D0-F945-D481-B65A-38D166D99551}"/>
              </a:ext>
            </a:extLst>
          </p:cNvPr>
          <p:cNvSpPr>
            <a:spLocks noGrp="1"/>
          </p:cNvSpPr>
          <p:nvPr>
            <p:ph type="body" sz="quarter" idx="12"/>
          </p:nvPr>
        </p:nvSpPr>
        <p:spPr>
          <a:xfrm>
            <a:off x="253752" y="282577"/>
            <a:ext cx="4131405" cy="257674"/>
          </a:xfrm>
        </p:spPr>
        <p:txBody>
          <a:bodyPr/>
          <a:lstStyle/>
          <a:p>
            <a:pPr defTabSz="608625" fontAlgn="auto">
              <a:spcAft>
                <a:spcPts val="0"/>
              </a:spcAft>
              <a:defRPr/>
            </a:pPr>
            <a:r>
              <a:rPr lang="en-US" sz="1400">
                <a:ea typeface="+mn-ea"/>
              </a:rPr>
              <a:t>Deal Overview</a:t>
            </a:r>
          </a:p>
        </p:txBody>
      </p:sp>
      <p:sp>
        <p:nvSpPr>
          <p:cNvPr id="12" name="TextBox 9">
            <a:extLst>
              <a:ext uri="{FF2B5EF4-FFF2-40B4-BE49-F238E27FC236}">
                <a16:creationId xmlns:a16="http://schemas.microsoft.com/office/drawing/2014/main" id="{CA1C9D7B-7A8A-B609-4780-0EA670CC0F6E}"/>
              </a:ext>
            </a:extLst>
          </p:cNvPr>
          <p:cNvSpPr txBox="1"/>
          <p:nvPr/>
        </p:nvSpPr>
        <p:spPr>
          <a:xfrm>
            <a:off x="10706811" y="130321"/>
            <a:ext cx="950114" cy="461665"/>
          </a:xfrm>
          <a:prstGeom prst="rect">
            <a:avLst/>
          </a:prstGeom>
          <a:solidFill>
            <a:srgbClr val="FFFF00"/>
          </a:solidFill>
        </p:spPr>
        <p:txBody>
          <a:bodyPr wrap="square" rtlCol="0">
            <a:spAutoFit/>
          </a:bodyPr>
          <a:lstStyle/>
          <a:p>
            <a:pPr algn="ctr"/>
            <a:r>
              <a:rPr lang="pt-BR" sz="1200" b="1">
                <a:solidFill>
                  <a:srgbClr val="FF0000"/>
                </a:solidFill>
                <a:highlight>
                  <a:srgbClr val="FFFF00"/>
                </a:highlight>
                <a:latin typeface="+mj-lt"/>
              </a:rPr>
              <a:t>Customer Logo</a:t>
            </a:r>
            <a:endParaRPr lang="en-US" sz="1200" b="1">
              <a:solidFill>
                <a:srgbClr val="FF0000"/>
              </a:solidFill>
              <a:highlight>
                <a:srgbClr val="FFFF00"/>
              </a:highlight>
              <a:latin typeface="+mj-lt"/>
            </a:endParaRPr>
          </a:p>
        </p:txBody>
      </p:sp>
      <p:graphicFrame>
        <p:nvGraphicFramePr>
          <p:cNvPr id="6" name="Table 5">
            <a:extLst>
              <a:ext uri="{FF2B5EF4-FFF2-40B4-BE49-F238E27FC236}">
                <a16:creationId xmlns:a16="http://schemas.microsoft.com/office/drawing/2014/main" id="{44FD94BF-8143-F2DD-FBD6-A30E2F7500ED}"/>
              </a:ext>
            </a:extLst>
          </p:cNvPr>
          <p:cNvGraphicFramePr>
            <a:graphicFrameLocks noGrp="1"/>
          </p:cNvGraphicFramePr>
          <p:nvPr>
            <p:extLst>
              <p:ext uri="{D42A27DB-BD31-4B8C-83A1-F6EECF244321}">
                <p14:modId xmlns:p14="http://schemas.microsoft.com/office/powerpoint/2010/main" val="850637455"/>
              </p:ext>
            </p:extLst>
          </p:nvPr>
        </p:nvGraphicFramePr>
        <p:xfrm>
          <a:off x="339244" y="848278"/>
          <a:ext cx="5467327" cy="5376626"/>
        </p:xfrm>
        <a:graphic>
          <a:graphicData uri="http://schemas.openxmlformats.org/drawingml/2006/table">
            <a:tbl>
              <a:tblPr firstRow="1" firstCol="1" bandRow="1"/>
              <a:tblGrid>
                <a:gridCol w="236442">
                  <a:extLst>
                    <a:ext uri="{9D8B030D-6E8A-4147-A177-3AD203B41FA5}">
                      <a16:colId xmlns:a16="http://schemas.microsoft.com/office/drawing/2014/main" val="4178237331"/>
                    </a:ext>
                  </a:extLst>
                </a:gridCol>
                <a:gridCol w="2917834">
                  <a:extLst>
                    <a:ext uri="{9D8B030D-6E8A-4147-A177-3AD203B41FA5}">
                      <a16:colId xmlns:a16="http://schemas.microsoft.com/office/drawing/2014/main" val="2015862726"/>
                    </a:ext>
                  </a:extLst>
                </a:gridCol>
                <a:gridCol w="2313051">
                  <a:extLst>
                    <a:ext uri="{9D8B030D-6E8A-4147-A177-3AD203B41FA5}">
                      <a16:colId xmlns:a16="http://schemas.microsoft.com/office/drawing/2014/main" val="4047194583"/>
                    </a:ext>
                  </a:extLst>
                </a:gridCol>
              </a:tblGrid>
              <a:tr h="425878">
                <a:tc>
                  <a:txBody>
                    <a:bodyPr/>
                    <a:lstStyle/>
                    <a:p>
                      <a:pPr algn="ctr" fontAlgn="t"/>
                      <a:r>
                        <a:rPr lang="en-US" sz="800" b="1" i="0" u="none" strike="noStrike">
                          <a:solidFill>
                            <a:srgbClr val="000000"/>
                          </a:solidFill>
                          <a:effectLst/>
                          <a:latin typeface="Tahoma" panose="020B0604030504040204" pitchFamily="34" charset="0"/>
                        </a:rPr>
                        <a:t>1</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panose="020B0604030504040204" pitchFamily="34" charset="0"/>
                        </a:rPr>
                        <a:t>Have we worked with this customer previously? Do we have any current contracts? Any major challenge?</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pt-BR" sz="900" b="0" i="0" u="none" strike="noStrike">
                          <a:solidFill>
                            <a:srgbClr val="FF0000"/>
                          </a:solidFill>
                          <a:effectLst/>
                          <a:latin typeface="Tahoma" panose="020B0604030504040204" pitchFamily="34" charset="0"/>
                        </a:rPr>
                        <a:t>Describe the project and how the experience was including payment challenges.Please work on the assessment for both End customer and/or Prime.</a:t>
                      </a:r>
                      <a:endParaRPr lang="en-US" sz="900" b="0" i="0" u="none" strike="noStrike">
                        <a:solidFill>
                          <a:srgbClr val="FF0000"/>
                        </a:solidFill>
                        <a:effectLst/>
                        <a:latin typeface="Tahoma" panose="020B0604030504040204" pitchFamily="34" charset="0"/>
                      </a:endParaRP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7242140"/>
                  </a:ext>
                </a:extLst>
              </a:tr>
              <a:tr h="339438">
                <a:tc>
                  <a:txBody>
                    <a:bodyPr/>
                    <a:lstStyle/>
                    <a:p>
                      <a:pPr algn="ctr" fontAlgn="t"/>
                      <a:r>
                        <a:rPr lang="en-US" sz="800" b="1" i="0" u="none" strike="noStrike">
                          <a:solidFill>
                            <a:srgbClr val="000000"/>
                          </a:solidFill>
                          <a:effectLst/>
                          <a:latin typeface="Tahoma" panose="020B0604030504040204" pitchFamily="34" charset="0"/>
                        </a:rPr>
                        <a:t>2</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a:rPr>
                        <a:t>Is the deal structure clear? Which are the entities engaged? Is this the most efficient deal structure?</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Describe the deal structure: Wabtec as subcontractor or Prime, which entities to be used, whenever applicable review with tax team</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367074"/>
                  </a:ext>
                </a:extLst>
              </a:tr>
              <a:tr h="339438">
                <a:tc>
                  <a:txBody>
                    <a:bodyPr/>
                    <a:lstStyle/>
                    <a:p>
                      <a:pPr algn="ctr" fontAlgn="t"/>
                      <a:r>
                        <a:rPr lang="en-US" sz="800" b="1" i="0" u="none" strike="noStrike">
                          <a:solidFill>
                            <a:srgbClr val="000000"/>
                          </a:solidFill>
                          <a:effectLst/>
                          <a:latin typeface="Tahoma" panose="020B0604030504040204" pitchFamily="34" charset="0"/>
                        </a:rPr>
                        <a:t>3</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a:rPr>
                        <a:t>Did we have problems in any previous contracts with this Customer?</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Please analyze this from Prime and End Customer standpoint if applicable.</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9661927"/>
                  </a:ext>
                </a:extLst>
              </a:tr>
              <a:tr h="339438">
                <a:tc>
                  <a:txBody>
                    <a:bodyPr/>
                    <a:lstStyle/>
                    <a:p>
                      <a:pPr algn="ctr" fontAlgn="t"/>
                      <a:r>
                        <a:rPr lang="en-US" sz="800" b="1" i="0" u="none" strike="noStrike">
                          <a:solidFill>
                            <a:srgbClr val="000000"/>
                          </a:solidFill>
                          <a:effectLst/>
                          <a:latin typeface="Tahoma" panose="020B0604030504040204" pitchFamily="34" charset="0"/>
                        </a:rPr>
                        <a:t>4</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panose="020B0604030504040204" pitchFamily="34" charset="0"/>
                        </a:rPr>
                        <a:t>Does the scope require a subcontractor?</a:t>
                      </a:r>
                    </a:p>
                    <a:p>
                      <a:pPr marL="0" marR="0" lvl="0" indent="0" algn="l" defTabSz="608625" rtl="0" eaLnBrk="1" fontAlgn="t" latinLnBrk="0" hangingPunct="1">
                        <a:lnSpc>
                          <a:spcPct val="100000"/>
                        </a:lnSpc>
                        <a:spcBef>
                          <a:spcPts val="0"/>
                        </a:spcBef>
                        <a:spcAft>
                          <a:spcPts val="0"/>
                        </a:spcAft>
                        <a:buClrTx/>
                        <a:buSzTx/>
                        <a:buFontTx/>
                        <a:buNone/>
                        <a:tabLst/>
                        <a:defRPr/>
                      </a:pPr>
                      <a:r>
                        <a:rPr lang="en-US" sz="1000" b="0" i="0" u="none" strike="noStrike">
                          <a:solidFill>
                            <a:schemeClr val="tx1">
                              <a:lumMod val="50000"/>
                            </a:schemeClr>
                          </a:solidFill>
                          <a:effectLst/>
                          <a:latin typeface="Tahoma" panose="020B0604030504040204" pitchFamily="34" charset="0"/>
                        </a:rPr>
                        <a:t>Is the Scope Split clear? Is the subcontractor identified? </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8625" rtl="0" eaLnBrk="1" fontAlgn="t" latinLnBrk="0" hangingPunct="1">
                        <a:lnSpc>
                          <a:spcPct val="100000"/>
                        </a:lnSpc>
                        <a:spcBef>
                          <a:spcPts val="0"/>
                        </a:spcBef>
                        <a:spcAft>
                          <a:spcPts val="0"/>
                        </a:spcAft>
                        <a:buClrTx/>
                        <a:buSzTx/>
                        <a:buFontTx/>
                        <a:buNone/>
                        <a:tabLst/>
                        <a:defRPr/>
                      </a:pPr>
                      <a:r>
                        <a:rPr lang="en-US" sz="900" b="0" i="0" u="none" strike="noStrike">
                          <a:solidFill>
                            <a:srgbClr val="FF0000"/>
                          </a:solidFill>
                          <a:effectLst/>
                          <a:latin typeface="Tahoma" panose="020B0604030504040204" pitchFamily="34" charset="0"/>
                        </a:rPr>
                        <a:t>Who will oversee the scope definition and technical validation of the proposal scope and Price ( Name the professional)</a:t>
                      </a:r>
                    </a:p>
                    <a:p>
                      <a:pPr algn="l" fontAlgn="t"/>
                      <a:r>
                        <a:rPr lang="en-US" sz="900" b="0" i="0" u="none" strike="noStrike">
                          <a:solidFill>
                            <a:srgbClr val="FF0000"/>
                          </a:solidFill>
                          <a:effectLst/>
                          <a:latin typeface="Tahoma" panose="020B0604030504040204" pitchFamily="34" charset="0"/>
                        </a:rPr>
                        <a:t> Inform DOA approver for the subcontractor ( same as Deal approver)</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3639871"/>
                  </a:ext>
                </a:extLst>
              </a:tr>
              <a:tr h="339438">
                <a:tc>
                  <a:txBody>
                    <a:bodyPr/>
                    <a:lstStyle/>
                    <a:p>
                      <a:pPr algn="ctr" fontAlgn="t"/>
                      <a:r>
                        <a:rPr lang="en-US" sz="800" b="1" i="0" u="none" strike="noStrike">
                          <a:solidFill>
                            <a:srgbClr val="000000"/>
                          </a:solidFill>
                          <a:effectLst/>
                          <a:latin typeface="Tahoma" panose="020B0604030504040204" pitchFamily="34" charset="0"/>
                        </a:rPr>
                        <a:t>5</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panose="020B0604030504040204" pitchFamily="34" charset="0"/>
                        </a:rPr>
                        <a:t>Is the Technical Proposal leader identified? </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YES/NO … inform name of the ASSIGNED LEADER</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174710"/>
                  </a:ext>
                </a:extLst>
              </a:tr>
              <a:tr h="339438">
                <a:tc>
                  <a:txBody>
                    <a:bodyPr/>
                    <a:lstStyle/>
                    <a:p>
                      <a:pPr algn="ctr" fontAlgn="t"/>
                      <a:r>
                        <a:rPr lang="en-US" sz="800" b="1" i="0" u="none" strike="noStrike">
                          <a:solidFill>
                            <a:srgbClr val="000000"/>
                          </a:solidFill>
                          <a:effectLst/>
                          <a:latin typeface="Tahoma" panose="020B0604030504040204" pitchFamily="34" charset="0"/>
                        </a:rPr>
                        <a:t>6</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panose="020B0604030504040204" pitchFamily="34" charset="0"/>
                        </a:rPr>
                        <a:t>Have we identified key resources to lead the proposal development?</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Please list </a:t>
                      </a:r>
                      <a:r>
                        <a:rPr lang="en-US" sz="900" b="0" i="0" u="none" strike="noStrike" err="1">
                          <a:solidFill>
                            <a:srgbClr val="FF0000"/>
                          </a:solidFill>
                          <a:effectLst/>
                          <a:latin typeface="Tahoma" panose="020B0604030504040204" pitchFamily="34" charset="0"/>
                        </a:rPr>
                        <a:t>CommOps</a:t>
                      </a:r>
                      <a:r>
                        <a:rPr lang="en-US" sz="900" b="0" i="0" u="none" strike="noStrike">
                          <a:solidFill>
                            <a:srgbClr val="FF0000"/>
                          </a:solidFill>
                          <a:effectLst/>
                          <a:latin typeface="Tahoma" panose="020B0604030504040204" pitchFamily="34" charset="0"/>
                        </a:rPr>
                        <a:t> leader, PM, Proposal technical leader, key segment leaders, etc.</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7082410"/>
                  </a:ext>
                </a:extLst>
              </a:tr>
              <a:tr h="489551">
                <a:tc>
                  <a:txBody>
                    <a:bodyPr/>
                    <a:lstStyle/>
                    <a:p>
                      <a:pPr algn="ctr" fontAlgn="t"/>
                      <a:r>
                        <a:rPr lang="en-US" sz="800" b="1" i="0" u="none" strike="noStrike">
                          <a:solidFill>
                            <a:srgbClr val="000000"/>
                          </a:solidFill>
                          <a:effectLst/>
                          <a:latin typeface="Tahoma"/>
                        </a:rPr>
                        <a:t>7</a:t>
                      </a:r>
                      <a:endParaRPr lang="en-US" sz="800" b="1" i="0" u="none" strike="noStrike">
                        <a:solidFill>
                          <a:srgbClr val="000000"/>
                        </a:solidFill>
                        <a:effectLst/>
                        <a:latin typeface="Tahoma" panose="020B0604030504040204" pitchFamily="34" charset="0"/>
                      </a:endParaRP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panose="020B0604030504040204" pitchFamily="34" charset="0"/>
                        </a:rPr>
                        <a:t>Is there consensus within the customer organization </a:t>
                      </a:r>
                      <a:r>
                        <a:rPr lang="en-US" sz="1000" b="1" i="0" u="none" strike="noStrike">
                          <a:solidFill>
                            <a:srgbClr val="000000"/>
                          </a:solidFill>
                          <a:effectLst/>
                          <a:latin typeface="Tahoma" panose="020B0604030504040204" pitchFamily="34" charset="0"/>
                        </a:rPr>
                        <a:t>for the approach and scope of project </a:t>
                      </a:r>
                      <a:r>
                        <a:rPr lang="en-US" sz="1000" b="0" i="0" u="none" strike="noStrike">
                          <a:solidFill>
                            <a:srgbClr val="000000"/>
                          </a:solidFill>
                          <a:effectLst/>
                          <a:latin typeface="Tahoma" panose="020B0604030504040204" pitchFamily="34" charset="0"/>
                        </a:rPr>
                        <a:t>described? Is there a formal Technical requirement?</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If no customer formal requirement specify how we will handle the scope alignment with customer.</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1642422"/>
                  </a:ext>
                </a:extLst>
              </a:tr>
              <a:tr h="339438">
                <a:tc>
                  <a:txBody>
                    <a:bodyPr/>
                    <a:lstStyle/>
                    <a:p>
                      <a:pPr algn="ctr" fontAlgn="t"/>
                      <a:r>
                        <a:rPr lang="en-US" sz="800" b="1" i="0" u="none" strike="noStrike">
                          <a:solidFill>
                            <a:srgbClr val="000000"/>
                          </a:solidFill>
                          <a:effectLst/>
                          <a:latin typeface="Tahoma" panose="020B0604030504040204" pitchFamily="34" charset="0"/>
                        </a:rPr>
                        <a:t>8</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panose="020B0604030504040204" pitchFamily="34" charset="0"/>
                        </a:rPr>
                        <a:t>What is the Customer Decision Process?</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Describe the decision process and timing ( board approval? Budgetary first and then firm? Any other specifics from the customer?)</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2425139"/>
                  </a:ext>
                </a:extLst>
              </a:tr>
              <a:tr h="339438">
                <a:tc>
                  <a:txBody>
                    <a:bodyPr/>
                    <a:lstStyle/>
                    <a:p>
                      <a:pPr algn="ctr" fontAlgn="t"/>
                      <a:r>
                        <a:rPr lang="en-US" sz="800" b="1" i="0" u="none" strike="noStrike">
                          <a:solidFill>
                            <a:srgbClr val="000000"/>
                          </a:solidFill>
                          <a:effectLst/>
                          <a:latin typeface="Tahoma" panose="020B0604030504040204" pitchFamily="34" charset="0"/>
                        </a:rPr>
                        <a:t>9</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8625" rtl="0" eaLnBrk="1" fontAlgn="t"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Tahoma" panose="020B0604030504040204" pitchFamily="34" charset="0"/>
                        </a:rPr>
                        <a:t>Is the Customer Budget available</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Yes/No, describe any challenges or if Wabtec is required to support any approval process.</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6870039"/>
                  </a:ext>
                </a:extLst>
              </a:tr>
              <a:tr h="339438">
                <a:tc>
                  <a:txBody>
                    <a:bodyPr/>
                    <a:lstStyle/>
                    <a:p>
                      <a:pPr algn="ctr" fontAlgn="t"/>
                      <a:r>
                        <a:rPr lang="en-US" sz="800" b="1" i="0" u="none" strike="noStrike">
                          <a:solidFill>
                            <a:srgbClr val="000000"/>
                          </a:solidFill>
                          <a:effectLst/>
                          <a:latin typeface="Tahoma" panose="020B0604030504040204" pitchFamily="34" charset="0"/>
                        </a:rPr>
                        <a:t>10</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08625" rtl="0" eaLnBrk="1" fontAlgn="t"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Tahoma" panose="020B0604030504040204" pitchFamily="34" charset="0"/>
                        </a:rPr>
                        <a:t>What is the political environment / drivers? Is there a particular event of political pressure underlying this project?</a:t>
                      </a:r>
                    </a:p>
                    <a:p>
                      <a:pPr algn="l" fontAlgn="t"/>
                      <a:endParaRPr lang="en-US" sz="1000" b="0" i="0" u="none" strike="noStrike">
                        <a:solidFill>
                          <a:srgbClr val="000000"/>
                        </a:solidFill>
                        <a:effectLst/>
                        <a:latin typeface="Tahoma" panose="020B0604030504040204" pitchFamily="34" charset="0"/>
                      </a:endParaRP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Example: Olympics Games? World cup? Schedule commitments? </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1636942"/>
                  </a:ext>
                </a:extLst>
              </a:tr>
              <a:tr h="411680">
                <a:tc>
                  <a:txBody>
                    <a:bodyPr/>
                    <a:lstStyle/>
                    <a:p>
                      <a:pPr algn="ctr" fontAlgn="t"/>
                      <a:r>
                        <a:rPr lang="en-US" sz="800" b="1" i="0" u="none" strike="noStrike">
                          <a:solidFill>
                            <a:srgbClr val="000000"/>
                          </a:solidFill>
                          <a:effectLst/>
                          <a:latin typeface="Tahoma" panose="020B0604030504040204" pitchFamily="34" charset="0"/>
                        </a:rPr>
                        <a:t>11</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1000" b="0" i="0" u="none" strike="noStrike">
                          <a:solidFill>
                            <a:srgbClr val="000000"/>
                          </a:solidFill>
                          <a:effectLst/>
                          <a:latin typeface="Tahoma" panose="020B0604030504040204" pitchFamily="34" charset="0"/>
                        </a:rPr>
                        <a:t>Cyber Security Requirements: Is there a need to start CARA or CATO processes?</a:t>
                      </a:r>
                    </a:p>
                  </a:txBody>
                  <a:tcPr marL="9379" marR="9379" marT="937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r>
                        <a:rPr lang="en-US" sz="900" b="0" i="0" u="none" strike="noStrike">
                          <a:solidFill>
                            <a:srgbClr val="FF0000"/>
                          </a:solidFill>
                          <a:effectLst/>
                          <a:latin typeface="Tahoma" panose="020B0604030504040204" pitchFamily="34" charset="0"/>
                        </a:rPr>
                        <a:t>Detail your answer. Inform the person in charge to open the tickets.</a:t>
                      </a:r>
                    </a:p>
                  </a:txBody>
                  <a:tcPr marL="9379" marR="9379" marT="9379" marB="0">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700568"/>
                  </a:ext>
                </a:extLst>
              </a:tr>
            </a:tbl>
          </a:graphicData>
        </a:graphic>
      </p:graphicFrame>
    </p:spTree>
    <p:extLst>
      <p:ext uri="{BB962C8B-B14F-4D97-AF65-F5344CB8AC3E}">
        <p14:creationId xmlns:p14="http://schemas.microsoft.com/office/powerpoint/2010/main" val="782148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91966" y="-74493"/>
            <a:ext cx="11734800" cy="815975"/>
          </a:xfrm>
        </p:spPr>
        <p:txBody>
          <a:bodyPr/>
          <a:lstStyle/>
          <a:p>
            <a:pPr defTabSz="608625" fontAlgn="auto">
              <a:spcAft>
                <a:spcPts val="0"/>
              </a:spcAft>
              <a:defRPr/>
            </a:pPr>
            <a:r>
              <a:rPr lang="en-US">
                <a:ea typeface="+mj-ea"/>
              </a:rPr>
              <a:t>DEAL FRAMEWORK EVALUATION</a:t>
            </a:r>
          </a:p>
        </p:txBody>
      </p:sp>
      <p:sp>
        <p:nvSpPr>
          <p:cNvPr id="2" name="Text Placeholder 1"/>
          <p:cNvSpPr>
            <a:spLocks noGrp="1"/>
          </p:cNvSpPr>
          <p:nvPr>
            <p:ph type="body" sz="quarter" idx="12"/>
          </p:nvPr>
        </p:nvSpPr>
        <p:spPr>
          <a:xfrm>
            <a:off x="191966" y="631282"/>
            <a:ext cx="11268075" cy="269875"/>
          </a:xfrm>
        </p:spPr>
        <p:txBody>
          <a:bodyPr/>
          <a:lstStyle/>
          <a:p>
            <a:pPr defTabSz="608625" fontAlgn="auto">
              <a:spcAft>
                <a:spcPts val="0"/>
              </a:spcAft>
              <a:defRPr/>
            </a:pPr>
            <a:r>
              <a:rPr lang="pt-BR" sz="1400">
                <a:ea typeface="+mn-ea"/>
              </a:rPr>
              <a:t>Assess Opportunity Attractiveness to guide Go/No-Go Decision</a:t>
            </a:r>
            <a:endParaRPr lang="en-US" sz="1400">
              <a:ea typeface="+mn-ea"/>
            </a:endParaRPr>
          </a:p>
        </p:txBody>
      </p:sp>
      <p:sp>
        <p:nvSpPr>
          <p:cNvPr id="9" name="TextBox 8">
            <a:extLst>
              <a:ext uri="{FF2B5EF4-FFF2-40B4-BE49-F238E27FC236}">
                <a16:creationId xmlns:a16="http://schemas.microsoft.com/office/drawing/2014/main" id="{E13A90E0-22E8-44C2-8A7C-2E5E96998126}"/>
              </a:ext>
            </a:extLst>
          </p:cNvPr>
          <p:cNvSpPr txBox="1"/>
          <p:nvPr/>
        </p:nvSpPr>
        <p:spPr>
          <a:xfrm>
            <a:off x="228725" y="1098841"/>
            <a:ext cx="2414244" cy="276999"/>
          </a:xfrm>
          <a:prstGeom prst="rect">
            <a:avLst/>
          </a:prstGeom>
          <a:noFill/>
        </p:spPr>
        <p:txBody>
          <a:bodyPr wrap="none" lIns="91214" tIns="0" rIns="91214" bIns="0" rtlCol="0">
            <a:spAutoFit/>
          </a:bodyPr>
          <a:lstStyle/>
          <a:p>
            <a:pPr defTabSz="912114" fontAlgn="auto">
              <a:spcBef>
                <a:spcPts val="0"/>
              </a:spcBef>
              <a:spcAft>
                <a:spcPts val="0"/>
              </a:spcAft>
            </a:pPr>
            <a:r>
              <a:rPr lang="en-US" sz="1800" b="1">
                <a:solidFill>
                  <a:srgbClr val="63666A"/>
                </a:solidFill>
                <a:latin typeface="GE Inspira Sans"/>
                <a:cs typeface="+mn-cs"/>
              </a:rPr>
              <a:t>Opportunity Landscape</a:t>
            </a:r>
          </a:p>
        </p:txBody>
      </p:sp>
      <p:cxnSp>
        <p:nvCxnSpPr>
          <p:cNvPr id="10" name="Straight Connector 9">
            <a:extLst>
              <a:ext uri="{FF2B5EF4-FFF2-40B4-BE49-F238E27FC236}">
                <a16:creationId xmlns:a16="http://schemas.microsoft.com/office/drawing/2014/main" id="{918F5DB8-836A-4AA0-A86D-83B13C7FAE3C}"/>
              </a:ext>
            </a:extLst>
          </p:cNvPr>
          <p:cNvCxnSpPr>
            <a:cxnSpLocks/>
          </p:cNvCxnSpPr>
          <p:nvPr/>
        </p:nvCxnSpPr>
        <p:spPr>
          <a:xfrm>
            <a:off x="322724" y="1375840"/>
            <a:ext cx="3914734" cy="0"/>
          </a:xfrm>
          <a:prstGeom prst="line">
            <a:avLst/>
          </a:prstGeom>
          <a:ln w="6350">
            <a:solidFill>
              <a:schemeClr val="bg2">
                <a:lumMod val="10000"/>
              </a:schemeClr>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4B267EC-103B-46B3-8EB6-77F8CC89A235}"/>
              </a:ext>
            </a:extLst>
          </p:cNvPr>
          <p:cNvSpPr txBox="1"/>
          <p:nvPr/>
        </p:nvSpPr>
        <p:spPr>
          <a:xfrm>
            <a:off x="256414" y="1447257"/>
            <a:ext cx="3981044" cy="400110"/>
          </a:xfrm>
          <a:prstGeom prst="rect">
            <a:avLst/>
          </a:prstGeom>
          <a:noFill/>
        </p:spPr>
        <p:txBody>
          <a:bodyPr wrap="square" rtlCol="0">
            <a:spAutoFit/>
          </a:bodyPr>
          <a:lstStyle/>
          <a:p>
            <a:pPr algn="just">
              <a:spcBef>
                <a:spcPts val="600"/>
              </a:spcBef>
            </a:pPr>
            <a:r>
              <a:rPr lang="en-US" sz="1000" b="1"/>
              <a:t>Contracting Model &amp; WAB %: </a:t>
            </a:r>
            <a:r>
              <a:rPr lang="en-US" sz="800">
                <a:solidFill>
                  <a:srgbClr val="C00000"/>
                </a:solidFill>
              </a:rPr>
              <a:t>place check mark where appropriate for this deal on both tables</a:t>
            </a:r>
            <a:r>
              <a:rPr lang="en-US" sz="1000" b="1"/>
              <a:t> </a:t>
            </a:r>
          </a:p>
        </p:txBody>
      </p:sp>
      <p:graphicFrame>
        <p:nvGraphicFramePr>
          <p:cNvPr id="11" name="Table 11">
            <a:extLst>
              <a:ext uri="{FF2B5EF4-FFF2-40B4-BE49-F238E27FC236}">
                <a16:creationId xmlns:a16="http://schemas.microsoft.com/office/drawing/2014/main" id="{8FC02F05-9F98-96E2-69B6-6AB800B8CA10}"/>
              </a:ext>
            </a:extLst>
          </p:cNvPr>
          <p:cNvGraphicFramePr>
            <a:graphicFrameLocks noGrp="1"/>
          </p:cNvGraphicFramePr>
          <p:nvPr/>
        </p:nvGraphicFramePr>
        <p:xfrm>
          <a:off x="396295" y="1830638"/>
          <a:ext cx="2270706" cy="1066800"/>
        </p:xfrm>
        <a:graphic>
          <a:graphicData uri="http://schemas.openxmlformats.org/drawingml/2006/table">
            <a:tbl>
              <a:tblPr firstRow="1" bandRow="1">
                <a:tableStyleId>{5C22544A-7EE6-4342-B048-85BDC9FD1C3A}</a:tableStyleId>
              </a:tblPr>
              <a:tblGrid>
                <a:gridCol w="1325825">
                  <a:extLst>
                    <a:ext uri="{9D8B030D-6E8A-4147-A177-3AD203B41FA5}">
                      <a16:colId xmlns:a16="http://schemas.microsoft.com/office/drawing/2014/main" val="3612300285"/>
                    </a:ext>
                  </a:extLst>
                </a:gridCol>
                <a:gridCol w="533400">
                  <a:extLst>
                    <a:ext uri="{9D8B030D-6E8A-4147-A177-3AD203B41FA5}">
                      <a16:colId xmlns:a16="http://schemas.microsoft.com/office/drawing/2014/main" val="634749163"/>
                    </a:ext>
                  </a:extLst>
                </a:gridCol>
                <a:gridCol w="411481">
                  <a:extLst>
                    <a:ext uri="{9D8B030D-6E8A-4147-A177-3AD203B41FA5}">
                      <a16:colId xmlns:a16="http://schemas.microsoft.com/office/drawing/2014/main" val="558837223"/>
                    </a:ext>
                  </a:extLst>
                </a:gridCol>
              </a:tblGrid>
              <a:tr h="170320">
                <a:tc>
                  <a:txBody>
                    <a:bodyPr/>
                    <a:lstStyle/>
                    <a:p>
                      <a:r>
                        <a:rPr lang="en-US" sz="800" b="1"/>
                        <a:t>Type</a:t>
                      </a:r>
                    </a:p>
                  </a:txBody>
                  <a:tcPr>
                    <a:solidFill>
                      <a:srgbClr val="C00000"/>
                    </a:solidFill>
                  </a:tcPr>
                </a:tc>
                <a:tc>
                  <a:txBody>
                    <a:bodyPr/>
                    <a:lstStyle/>
                    <a:p>
                      <a:r>
                        <a:rPr lang="en-US" sz="800" b="1"/>
                        <a:t>Prime</a:t>
                      </a:r>
                    </a:p>
                  </a:txBody>
                  <a:tcPr>
                    <a:solidFill>
                      <a:srgbClr val="C00000"/>
                    </a:solidFill>
                  </a:tcPr>
                </a:tc>
                <a:tc>
                  <a:txBody>
                    <a:bodyPr/>
                    <a:lstStyle/>
                    <a:p>
                      <a:r>
                        <a:rPr lang="en-US" sz="800" b="1"/>
                        <a:t>Sub</a:t>
                      </a:r>
                    </a:p>
                  </a:txBody>
                  <a:tcPr>
                    <a:solidFill>
                      <a:srgbClr val="C00000"/>
                    </a:solidFill>
                  </a:tcPr>
                </a:tc>
                <a:extLst>
                  <a:ext uri="{0D108BD9-81ED-4DB2-BD59-A6C34878D82A}">
                    <a16:rowId xmlns:a16="http://schemas.microsoft.com/office/drawing/2014/main" val="1208334299"/>
                  </a:ext>
                </a:extLst>
              </a:tr>
              <a:tr h="170320">
                <a:tc>
                  <a:txBody>
                    <a:bodyPr/>
                    <a:lstStyle/>
                    <a:p>
                      <a:r>
                        <a:rPr lang="en-US" sz="800" b="0"/>
                        <a:t>Design-Bid-Build</a:t>
                      </a:r>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3495285830"/>
                  </a:ext>
                </a:extLst>
              </a:tr>
              <a:tr h="170320">
                <a:tc>
                  <a:txBody>
                    <a:bodyPr/>
                    <a:lstStyle/>
                    <a:p>
                      <a:r>
                        <a:rPr lang="en-US" sz="800" b="0"/>
                        <a:t>Design &amp; Build</a:t>
                      </a:r>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1782385336"/>
                  </a:ext>
                </a:extLst>
              </a:tr>
              <a:tr h="170320">
                <a:tc>
                  <a:txBody>
                    <a:bodyPr/>
                    <a:lstStyle/>
                    <a:p>
                      <a:r>
                        <a:rPr lang="en-US" sz="800" b="0"/>
                        <a:t>Design-Build-Finance</a:t>
                      </a:r>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1942264834"/>
                  </a:ext>
                </a:extLst>
              </a:tr>
              <a:tr h="170320">
                <a:tc>
                  <a:txBody>
                    <a:bodyPr/>
                    <a:lstStyle/>
                    <a:p>
                      <a:r>
                        <a:rPr lang="en-US" sz="800" b="0"/>
                        <a:t>Other (write in)</a:t>
                      </a:r>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881445620"/>
                  </a:ext>
                </a:extLst>
              </a:tr>
            </a:tbl>
          </a:graphicData>
        </a:graphic>
      </p:graphicFrame>
      <p:sp>
        <p:nvSpPr>
          <p:cNvPr id="12" name="TextBox 11">
            <a:extLst>
              <a:ext uri="{FF2B5EF4-FFF2-40B4-BE49-F238E27FC236}">
                <a16:creationId xmlns:a16="http://schemas.microsoft.com/office/drawing/2014/main" id="{381E5571-7D18-7FC6-8121-7176BBA35FF4}"/>
              </a:ext>
            </a:extLst>
          </p:cNvPr>
          <p:cNvSpPr txBox="1"/>
          <p:nvPr/>
        </p:nvSpPr>
        <p:spPr>
          <a:xfrm>
            <a:off x="1882140" y="2049780"/>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14" name="TextBox 13">
            <a:extLst>
              <a:ext uri="{FF2B5EF4-FFF2-40B4-BE49-F238E27FC236}">
                <a16:creationId xmlns:a16="http://schemas.microsoft.com/office/drawing/2014/main" id="{3B58F9A9-2AE1-FE5A-A227-80123670B701}"/>
              </a:ext>
            </a:extLst>
          </p:cNvPr>
          <p:cNvSpPr txBox="1"/>
          <p:nvPr/>
        </p:nvSpPr>
        <p:spPr>
          <a:xfrm>
            <a:off x="256414" y="2902677"/>
            <a:ext cx="3981044" cy="246221"/>
          </a:xfrm>
          <a:prstGeom prst="rect">
            <a:avLst/>
          </a:prstGeom>
          <a:noFill/>
        </p:spPr>
        <p:txBody>
          <a:bodyPr wrap="square" rtlCol="0">
            <a:spAutoFit/>
          </a:bodyPr>
          <a:lstStyle/>
          <a:p>
            <a:pPr algn="just">
              <a:spcBef>
                <a:spcPts val="600"/>
              </a:spcBef>
            </a:pPr>
            <a:r>
              <a:rPr lang="en-US" sz="1000" b="1"/>
              <a:t>Partner Selection: </a:t>
            </a:r>
            <a:r>
              <a:rPr lang="en-US" sz="800">
                <a:solidFill>
                  <a:srgbClr val="C00000"/>
                </a:solidFill>
              </a:rPr>
              <a:t>place check marks where appropriate for this deal</a:t>
            </a:r>
            <a:r>
              <a:rPr lang="en-US" sz="1000" b="1"/>
              <a:t> </a:t>
            </a:r>
          </a:p>
        </p:txBody>
      </p:sp>
      <p:graphicFrame>
        <p:nvGraphicFramePr>
          <p:cNvPr id="15" name="Table 11">
            <a:extLst>
              <a:ext uri="{FF2B5EF4-FFF2-40B4-BE49-F238E27FC236}">
                <a16:creationId xmlns:a16="http://schemas.microsoft.com/office/drawing/2014/main" id="{1D6F0FFA-4C06-7A41-9C70-F9BDA7081A23}"/>
              </a:ext>
            </a:extLst>
          </p:cNvPr>
          <p:cNvGraphicFramePr>
            <a:graphicFrameLocks noGrp="1"/>
          </p:cNvGraphicFramePr>
          <p:nvPr/>
        </p:nvGraphicFramePr>
        <p:xfrm>
          <a:off x="396294" y="3148898"/>
          <a:ext cx="3863284" cy="853440"/>
        </p:xfrm>
        <a:graphic>
          <a:graphicData uri="http://schemas.openxmlformats.org/drawingml/2006/table">
            <a:tbl>
              <a:tblPr firstRow="1" bandRow="1">
                <a:tableStyleId>{5C22544A-7EE6-4342-B048-85BDC9FD1C3A}</a:tableStyleId>
              </a:tblPr>
              <a:tblGrid>
                <a:gridCol w="1318498">
                  <a:extLst>
                    <a:ext uri="{9D8B030D-6E8A-4147-A177-3AD203B41FA5}">
                      <a16:colId xmlns:a16="http://schemas.microsoft.com/office/drawing/2014/main" val="3612300285"/>
                    </a:ext>
                  </a:extLst>
                </a:gridCol>
                <a:gridCol w="612740">
                  <a:extLst>
                    <a:ext uri="{9D8B030D-6E8A-4147-A177-3AD203B41FA5}">
                      <a16:colId xmlns:a16="http://schemas.microsoft.com/office/drawing/2014/main" val="634749163"/>
                    </a:ext>
                  </a:extLst>
                </a:gridCol>
                <a:gridCol w="736839">
                  <a:extLst>
                    <a:ext uri="{9D8B030D-6E8A-4147-A177-3AD203B41FA5}">
                      <a16:colId xmlns:a16="http://schemas.microsoft.com/office/drawing/2014/main" val="558837223"/>
                    </a:ext>
                  </a:extLst>
                </a:gridCol>
                <a:gridCol w="1195207">
                  <a:extLst>
                    <a:ext uri="{9D8B030D-6E8A-4147-A177-3AD203B41FA5}">
                      <a16:colId xmlns:a16="http://schemas.microsoft.com/office/drawing/2014/main" val="3355154260"/>
                    </a:ext>
                  </a:extLst>
                </a:gridCol>
              </a:tblGrid>
              <a:tr h="170320">
                <a:tc>
                  <a:txBody>
                    <a:bodyPr/>
                    <a:lstStyle/>
                    <a:p>
                      <a:r>
                        <a:rPr lang="en-US" sz="800" b="1"/>
                        <a:t>Type</a:t>
                      </a:r>
                    </a:p>
                  </a:txBody>
                  <a:tcPr>
                    <a:solidFill>
                      <a:srgbClr val="C00000"/>
                    </a:solidFill>
                  </a:tcPr>
                </a:tc>
                <a:tc>
                  <a:txBody>
                    <a:bodyPr/>
                    <a:lstStyle/>
                    <a:p>
                      <a:r>
                        <a:rPr lang="en-US" sz="800" b="1"/>
                        <a:t>Proven</a:t>
                      </a:r>
                    </a:p>
                  </a:txBody>
                  <a:tcPr>
                    <a:solidFill>
                      <a:srgbClr val="C00000"/>
                    </a:solidFill>
                  </a:tcPr>
                </a:tc>
                <a:tc>
                  <a:txBody>
                    <a:bodyPr/>
                    <a:lstStyle/>
                    <a:p>
                      <a:r>
                        <a:rPr lang="en-US" sz="800" b="1"/>
                        <a:t>Unproven</a:t>
                      </a:r>
                    </a:p>
                  </a:txBody>
                  <a:tcPr>
                    <a:solidFill>
                      <a:srgbClr val="C00000"/>
                    </a:solidFill>
                  </a:tcPr>
                </a:tc>
                <a:tc>
                  <a:txBody>
                    <a:bodyPr/>
                    <a:lstStyle/>
                    <a:p>
                      <a:r>
                        <a:rPr lang="en-US" sz="800" b="1"/>
                        <a:t>Discussion Topics</a:t>
                      </a:r>
                    </a:p>
                  </a:txBody>
                  <a:tcPr>
                    <a:solidFill>
                      <a:srgbClr val="C00000"/>
                    </a:solidFill>
                  </a:tcPr>
                </a:tc>
                <a:extLst>
                  <a:ext uri="{0D108BD9-81ED-4DB2-BD59-A6C34878D82A}">
                    <a16:rowId xmlns:a16="http://schemas.microsoft.com/office/drawing/2014/main" val="1208334299"/>
                  </a:ext>
                </a:extLst>
              </a:tr>
              <a:tr h="170320">
                <a:tc>
                  <a:txBody>
                    <a:bodyPr/>
                    <a:lstStyle/>
                    <a:p>
                      <a:r>
                        <a:rPr lang="en-US" sz="800" b="0"/>
                        <a:t>WAB Direct to Customer</a:t>
                      </a:r>
                    </a:p>
                  </a:txBody>
                  <a:tcPr/>
                </a:tc>
                <a:tc>
                  <a:txBody>
                    <a:bodyPr/>
                    <a:lstStyle/>
                    <a:p>
                      <a:endParaRPr lang="en-US" sz="800" b="0"/>
                    </a:p>
                  </a:txBody>
                  <a:tcPr/>
                </a:tc>
                <a:tc>
                  <a:txBody>
                    <a:bodyPr/>
                    <a:lstStyle/>
                    <a:p>
                      <a:endParaRPr lang="en-US" sz="800" b="0"/>
                    </a:p>
                  </a:txBody>
                  <a:tcPr/>
                </a:tc>
                <a:tc>
                  <a:txBody>
                    <a:bodyPr/>
                    <a:lstStyle/>
                    <a:p>
                      <a:r>
                        <a:rPr lang="en-US" sz="800" b="0"/>
                        <a:t>T&amp;C’s, Eval. Criteria</a:t>
                      </a:r>
                    </a:p>
                  </a:txBody>
                  <a:tcPr/>
                </a:tc>
                <a:extLst>
                  <a:ext uri="{0D108BD9-81ED-4DB2-BD59-A6C34878D82A}">
                    <a16:rowId xmlns:a16="http://schemas.microsoft.com/office/drawing/2014/main" val="3495285830"/>
                  </a:ext>
                </a:extLst>
              </a:tr>
              <a:tr h="170320">
                <a:tc>
                  <a:txBody>
                    <a:bodyPr/>
                    <a:lstStyle/>
                    <a:p>
                      <a:r>
                        <a:rPr lang="en-US" sz="800" b="0"/>
                        <a:t>WAB Direct to a Prime</a:t>
                      </a:r>
                    </a:p>
                  </a:txBody>
                  <a:tcPr/>
                </a:tc>
                <a:tc>
                  <a:txBody>
                    <a:bodyPr/>
                    <a:lstStyle/>
                    <a:p>
                      <a:endParaRPr lang="en-US" sz="800" b="0"/>
                    </a:p>
                  </a:txBody>
                  <a:tcPr/>
                </a:tc>
                <a:tc>
                  <a:txBody>
                    <a:bodyPr/>
                    <a:lstStyle/>
                    <a:p>
                      <a:endParaRPr lang="en-US" sz="800" b="0"/>
                    </a:p>
                  </a:txBody>
                  <a:tcPr/>
                </a:tc>
                <a:tc>
                  <a:txBody>
                    <a:bodyPr/>
                    <a:lstStyle/>
                    <a:p>
                      <a:r>
                        <a:rPr lang="en-US" sz="800" b="0"/>
                        <a:t>Rational v competition</a:t>
                      </a:r>
                    </a:p>
                  </a:txBody>
                  <a:tcPr/>
                </a:tc>
                <a:extLst>
                  <a:ext uri="{0D108BD9-81ED-4DB2-BD59-A6C34878D82A}">
                    <a16:rowId xmlns:a16="http://schemas.microsoft.com/office/drawing/2014/main" val="1782385336"/>
                  </a:ext>
                </a:extLst>
              </a:tr>
              <a:tr h="170320">
                <a:tc>
                  <a:txBody>
                    <a:bodyPr/>
                    <a:lstStyle/>
                    <a:p>
                      <a:r>
                        <a:rPr lang="en-US" sz="800" b="0"/>
                        <a:t>Subs to WAB</a:t>
                      </a:r>
                    </a:p>
                  </a:txBody>
                  <a:tcPr/>
                </a:tc>
                <a:tc>
                  <a:txBody>
                    <a:bodyPr/>
                    <a:lstStyle/>
                    <a:p>
                      <a:endParaRPr lang="en-US" sz="800" b="0"/>
                    </a:p>
                  </a:txBody>
                  <a:tcPr/>
                </a:tc>
                <a:tc>
                  <a:txBody>
                    <a:bodyPr/>
                    <a:lstStyle/>
                    <a:p>
                      <a:endParaRPr lang="en-US" sz="800" b="0"/>
                    </a:p>
                  </a:txBody>
                  <a:tcPr/>
                </a:tc>
                <a:tc>
                  <a:txBody>
                    <a:bodyPr/>
                    <a:lstStyle/>
                    <a:p>
                      <a:r>
                        <a:rPr lang="en-US" sz="800" b="0"/>
                        <a:t>Scope &amp; Risk </a:t>
                      </a:r>
                      <a:r>
                        <a:rPr lang="en-US" sz="800" b="0" err="1"/>
                        <a:t>mgmt</a:t>
                      </a:r>
                      <a:endParaRPr lang="en-US" sz="800" b="0"/>
                    </a:p>
                  </a:txBody>
                  <a:tcPr/>
                </a:tc>
                <a:extLst>
                  <a:ext uri="{0D108BD9-81ED-4DB2-BD59-A6C34878D82A}">
                    <a16:rowId xmlns:a16="http://schemas.microsoft.com/office/drawing/2014/main" val="1942264834"/>
                  </a:ext>
                </a:extLst>
              </a:tr>
            </a:tbl>
          </a:graphicData>
        </a:graphic>
      </p:graphicFrame>
      <p:sp>
        <p:nvSpPr>
          <p:cNvPr id="16" name="TextBox 15">
            <a:extLst>
              <a:ext uri="{FF2B5EF4-FFF2-40B4-BE49-F238E27FC236}">
                <a16:creationId xmlns:a16="http://schemas.microsoft.com/office/drawing/2014/main" id="{A54E1C37-DF0B-3271-5566-3B3D6B2031B4}"/>
              </a:ext>
            </a:extLst>
          </p:cNvPr>
          <p:cNvSpPr txBox="1"/>
          <p:nvPr/>
        </p:nvSpPr>
        <p:spPr>
          <a:xfrm>
            <a:off x="1882140" y="3754852"/>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17" name="TextBox 16">
            <a:extLst>
              <a:ext uri="{FF2B5EF4-FFF2-40B4-BE49-F238E27FC236}">
                <a16:creationId xmlns:a16="http://schemas.microsoft.com/office/drawing/2014/main" id="{A344AF22-4141-B2C0-85A9-CDA1B5D80F11}"/>
              </a:ext>
            </a:extLst>
          </p:cNvPr>
          <p:cNvSpPr txBox="1"/>
          <p:nvPr/>
        </p:nvSpPr>
        <p:spPr>
          <a:xfrm>
            <a:off x="256414" y="4547577"/>
            <a:ext cx="3981044" cy="369332"/>
          </a:xfrm>
          <a:prstGeom prst="rect">
            <a:avLst/>
          </a:prstGeom>
          <a:noFill/>
        </p:spPr>
        <p:txBody>
          <a:bodyPr wrap="square" rtlCol="0">
            <a:spAutoFit/>
          </a:bodyPr>
          <a:lstStyle/>
          <a:p>
            <a:pPr algn="just">
              <a:spcBef>
                <a:spcPts val="600"/>
              </a:spcBef>
            </a:pPr>
            <a:r>
              <a:rPr lang="en-US" sz="1000" b="1"/>
              <a:t>Competitive Position: </a:t>
            </a:r>
            <a:r>
              <a:rPr lang="en-US" sz="800">
                <a:solidFill>
                  <a:srgbClr val="C00000"/>
                </a:solidFill>
              </a:rPr>
              <a:t>place check mark(s) where appropriate for this deal</a:t>
            </a:r>
            <a:r>
              <a:rPr lang="en-US" sz="1000" b="1"/>
              <a:t> </a:t>
            </a:r>
            <a:r>
              <a:rPr lang="en-US" sz="800">
                <a:solidFill>
                  <a:srgbClr val="C00000"/>
                </a:solidFill>
              </a:rPr>
              <a:t>(add row if needed)</a:t>
            </a:r>
            <a:endParaRPr lang="en-US" sz="1000">
              <a:solidFill>
                <a:srgbClr val="C00000"/>
              </a:solidFill>
            </a:endParaRPr>
          </a:p>
        </p:txBody>
      </p:sp>
      <p:graphicFrame>
        <p:nvGraphicFramePr>
          <p:cNvPr id="18" name="Table 11">
            <a:extLst>
              <a:ext uri="{FF2B5EF4-FFF2-40B4-BE49-F238E27FC236}">
                <a16:creationId xmlns:a16="http://schemas.microsoft.com/office/drawing/2014/main" id="{3310947E-A673-AC28-FDEF-3AA3005748D1}"/>
              </a:ext>
            </a:extLst>
          </p:cNvPr>
          <p:cNvGraphicFramePr>
            <a:graphicFrameLocks noGrp="1"/>
          </p:cNvGraphicFramePr>
          <p:nvPr/>
        </p:nvGraphicFramePr>
        <p:xfrm>
          <a:off x="396295" y="4938578"/>
          <a:ext cx="3863284" cy="1188720"/>
        </p:xfrm>
        <a:graphic>
          <a:graphicData uri="http://schemas.openxmlformats.org/drawingml/2006/table">
            <a:tbl>
              <a:tblPr firstRow="1" bandRow="1">
                <a:tableStyleId>{5C22544A-7EE6-4342-B048-85BDC9FD1C3A}</a:tableStyleId>
              </a:tblPr>
              <a:tblGrid>
                <a:gridCol w="671970">
                  <a:extLst>
                    <a:ext uri="{9D8B030D-6E8A-4147-A177-3AD203B41FA5}">
                      <a16:colId xmlns:a16="http://schemas.microsoft.com/office/drawing/2014/main" val="3612300285"/>
                    </a:ext>
                  </a:extLst>
                </a:gridCol>
                <a:gridCol w="800141">
                  <a:extLst>
                    <a:ext uri="{9D8B030D-6E8A-4147-A177-3AD203B41FA5}">
                      <a16:colId xmlns:a16="http://schemas.microsoft.com/office/drawing/2014/main" val="634749163"/>
                    </a:ext>
                  </a:extLst>
                </a:gridCol>
                <a:gridCol w="880299">
                  <a:extLst>
                    <a:ext uri="{9D8B030D-6E8A-4147-A177-3AD203B41FA5}">
                      <a16:colId xmlns:a16="http://schemas.microsoft.com/office/drawing/2014/main" val="558837223"/>
                    </a:ext>
                  </a:extLst>
                </a:gridCol>
                <a:gridCol w="755437">
                  <a:extLst>
                    <a:ext uri="{9D8B030D-6E8A-4147-A177-3AD203B41FA5}">
                      <a16:colId xmlns:a16="http://schemas.microsoft.com/office/drawing/2014/main" val="1277019180"/>
                    </a:ext>
                  </a:extLst>
                </a:gridCol>
                <a:gridCol w="755437">
                  <a:extLst>
                    <a:ext uri="{9D8B030D-6E8A-4147-A177-3AD203B41FA5}">
                      <a16:colId xmlns:a16="http://schemas.microsoft.com/office/drawing/2014/main" val="1167963793"/>
                    </a:ext>
                  </a:extLst>
                </a:gridCol>
              </a:tblGrid>
              <a:tr h="170320">
                <a:tc>
                  <a:txBody>
                    <a:bodyPr/>
                    <a:lstStyle/>
                    <a:p>
                      <a:r>
                        <a:rPr lang="en-US" sz="800" b="1"/>
                        <a:t>Entity</a:t>
                      </a:r>
                    </a:p>
                  </a:txBody>
                  <a:tcPr>
                    <a:solidFill>
                      <a:srgbClr val="C00000"/>
                    </a:solidFill>
                  </a:tcPr>
                </a:tc>
                <a:tc>
                  <a:txBody>
                    <a:bodyPr/>
                    <a:lstStyle/>
                    <a:p>
                      <a:r>
                        <a:rPr lang="en-US" sz="800" b="1"/>
                        <a:t>New Entrant</a:t>
                      </a:r>
                    </a:p>
                  </a:txBody>
                  <a:tcPr>
                    <a:solidFill>
                      <a:srgbClr val="C00000"/>
                    </a:solidFill>
                  </a:tcPr>
                </a:tc>
                <a:tc>
                  <a:txBody>
                    <a:bodyPr/>
                    <a:lstStyle/>
                    <a:p>
                      <a:r>
                        <a:rPr lang="en-US" sz="800" b="1"/>
                        <a:t>Mkt Presence</a:t>
                      </a:r>
                    </a:p>
                  </a:txBody>
                  <a:tcPr>
                    <a:solidFill>
                      <a:srgbClr val="C00000"/>
                    </a:solidFill>
                  </a:tcPr>
                </a:tc>
                <a:tc>
                  <a:txBody>
                    <a:bodyPr/>
                    <a:lstStyle/>
                    <a:p>
                      <a:r>
                        <a:rPr lang="en-US" sz="800" b="1"/>
                        <a:t>Incumbent</a:t>
                      </a:r>
                    </a:p>
                  </a:txBody>
                  <a:tcPr>
                    <a:solidFill>
                      <a:srgbClr val="C00000"/>
                    </a:solidFill>
                  </a:tcPr>
                </a:tc>
                <a:tc>
                  <a:txBody>
                    <a:bodyPr/>
                    <a:lstStyle/>
                    <a:p>
                      <a:r>
                        <a:rPr lang="en-US" sz="800" b="1"/>
                        <a:t>Annual Rev $’s</a:t>
                      </a:r>
                    </a:p>
                  </a:txBody>
                  <a:tcPr>
                    <a:solidFill>
                      <a:srgbClr val="C00000"/>
                    </a:solidFill>
                  </a:tcPr>
                </a:tc>
                <a:extLst>
                  <a:ext uri="{0D108BD9-81ED-4DB2-BD59-A6C34878D82A}">
                    <a16:rowId xmlns:a16="http://schemas.microsoft.com/office/drawing/2014/main" val="1208334299"/>
                  </a:ext>
                </a:extLst>
              </a:tr>
              <a:tr h="170320">
                <a:tc>
                  <a:txBody>
                    <a:bodyPr/>
                    <a:lstStyle/>
                    <a:p>
                      <a:r>
                        <a:rPr lang="en-US" sz="800" b="0"/>
                        <a:t>Wabtec</a:t>
                      </a:r>
                    </a:p>
                  </a:txBody>
                  <a:tcPr/>
                </a:tc>
                <a:tc>
                  <a:txBody>
                    <a:bodyPr/>
                    <a:lstStyle/>
                    <a:p>
                      <a:endParaRPr lang="en-US" sz="800" b="0"/>
                    </a:p>
                  </a:txBody>
                  <a:tcPr/>
                </a:tc>
                <a:tc>
                  <a:txBody>
                    <a:bodyPr/>
                    <a:lstStyle/>
                    <a:p>
                      <a:endParaRPr lang="en-US" sz="800" b="0"/>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3495285830"/>
                  </a:ext>
                </a:extLst>
              </a:tr>
              <a:tr h="170320">
                <a:tc>
                  <a:txBody>
                    <a:bodyPr/>
                    <a:lstStyle/>
                    <a:p>
                      <a:r>
                        <a:rPr lang="en-US" sz="800" b="0"/>
                        <a:t>Partner A</a:t>
                      </a:r>
                    </a:p>
                  </a:txBody>
                  <a:tcPr/>
                </a:tc>
                <a:tc>
                  <a:txBody>
                    <a:bodyPr/>
                    <a:lstStyle/>
                    <a:p>
                      <a:endParaRPr lang="en-US" sz="800" b="0"/>
                    </a:p>
                  </a:txBody>
                  <a:tcPr/>
                </a:tc>
                <a:tc>
                  <a:txBody>
                    <a:bodyPr/>
                    <a:lstStyle/>
                    <a:p>
                      <a:endParaRPr lang="en-US" sz="800" b="0"/>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1782385336"/>
                  </a:ext>
                </a:extLst>
              </a:tr>
              <a:tr h="170320">
                <a:tc>
                  <a:txBody>
                    <a:bodyPr/>
                    <a:lstStyle/>
                    <a:p>
                      <a:r>
                        <a:rPr lang="en-US" sz="800" b="0"/>
                        <a:t>Partner B</a:t>
                      </a:r>
                    </a:p>
                  </a:txBody>
                  <a:tcPr/>
                </a:tc>
                <a:tc>
                  <a:txBody>
                    <a:bodyPr/>
                    <a:lstStyle/>
                    <a:p>
                      <a:endParaRPr lang="en-US" sz="800" b="0"/>
                    </a:p>
                  </a:txBody>
                  <a:tcPr/>
                </a:tc>
                <a:tc>
                  <a:txBody>
                    <a:bodyPr/>
                    <a:lstStyle/>
                    <a:p>
                      <a:endParaRPr lang="en-US" sz="800" b="0"/>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1942264834"/>
                  </a:ext>
                </a:extLst>
              </a:tr>
              <a:tr h="170320">
                <a:tc>
                  <a:txBody>
                    <a:bodyPr/>
                    <a:lstStyle/>
                    <a:p>
                      <a:r>
                        <a:rPr lang="en-US" sz="800" b="0"/>
                        <a:t>Partner C</a:t>
                      </a:r>
                    </a:p>
                  </a:txBody>
                  <a:tcPr/>
                </a:tc>
                <a:tc>
                  <a:txBody>
                    <a:bodyPr/>
                    <a:lstStyle/>
                    <a:p>
                      <a:endParaRPr lang="en-US" sz="800" b="0"/>
                    </a:p>
                  </a:txBody>
                  <a:tcPr/>
                </a:tc>
                <a:tc>
                  <a:txBody>
                    <a:bodyPr/>
                    <a:lstStyle/>
                    <a:p>
                      <a:endParaRPr lang="en-US" sz="800" b="0"/>
                    </a:p>
                  </a:txBody>
                  <a:tcPr/>
                </a:tc>
                <a:tc>
                  <a:txBody>
                    <a:bodyPr/>
                    <a:lstStyle/>
                    <a:p>
                      <a:endParaRPr lang="en-US" sz="800" b="0"/>
                    </a:p>
                  </a:txBody>
                  <a:tcPr/>
                </a:tc>
                <a:tc>
                  <a:txBody>
                    <a:bodyPr/>
                    <a:lstStyle/>
                    <a:p>
                      <a:endParaRPr lang="en-US" sz="800" b="0"/>
                    </a:p>
                  </a:txBody>
                  <a:tcPr/>
                </a:tc>
                <a:extLst>
                  <a:ext uri="{0D108BD9-81ED-4DB2-BD59-A6C34878D82A}">
                    <a16:rowId xmlns:a16="http://schemas.microsoft.com/office/drawing/2014/main" val="881445620"/>
                  </a:ext>
                </a:extLst>
              </a:tr>
            </a:tbl>
          </a:graphicData>
        </a:graphic>
      </p:graphicFrame>
      <p:sp>
        <p:nvSpPr>
          <p:cNvPr id="21" name="TextBox 20">
            <a:extLst>
              <a:ext uri="{FF2B5EF4-FFF2-40B4-BE49-F238E27FC236}">
                <a16:creationId xmlns:a16="http://schemas.microsoft.com/office/drawing/2014/main" id="{F12F6D0F-AFA7-6C72-BFE0-B8E8219557B9}"/>
              </a:ext>
            </a:extLst>
          </p:cNvPr>
          <p:cNvSpPr txBox="1"/>
          <p:nvPr/>
        </p:nvSpPr>
        <p:spPr>
          <a:xfrm>
            <a:off x="1435847" y="5260491"/>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25" name="TextBox 24">
            <a:extLst>
              <a:ext uri="{FF2B5EF4-FFF2-40B4-BE49-F238E27FC236}">
                <a16:creationId xmlns:a16="http://schemas.microsoft.com/office/drawing/2014/main" id="{BFA5D416-7A36-E8C0-1925-6ADBBD177C38}"/>
              </a:ext>
            </a:extLst>
          </p:cNvPr>
          <p:cNvSpPr txBox="1"/>
          <p:nvPr/>
        </p:nvSpPr>
        <p:spPr>
          <a:xfrm>
            <a:off x="1882140" y="3366232"/>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30" name="TextBox 29">
            <a:extLst>
              <a:ext uri="{FF2B5EF4-FFF2-40B4-BE49-F238E27FC236}">
                <a16:creationId xmlns:a16="http://schemas.microsoft.com/office/drawing/2014/main" id="{1C5F1B3B-C0C8-1A8A-7AE2-898E0BCA6CD0}"/>
              </a:ext>
            </a:extLst>
          </p:cNvPr>
          <p:cNvSpPr txBox="1"/>
          <p:nvPr/>
        </p:nvSpPr>
        <p:spPr>
          <a:xfrm>
            <a:off x="396294" y="4038601"/>
            <a:ext cx="3841164" cy="215444"/>
          </a:xfrm>
          <a:prstGeom prst="rect">
            <a:avLst/>
          </a:prstGeom>
          <a:noFill/>
        </p:spPr>
        <p:txBody>
          <a:bodyPr wrap="square" rtlCol="0">
            <a:spAutoFit/>
          </a:bodyPr>
          <a:lstStyle/>
          <a:p>
            <a:pPr marL="171450" indent="-171450">
              <a:buFont typeface="Arial" panose="020B0604020202020204" pitchFamily="34" charset="0"/>
              <a:buChar char="•"/>
            </a:pPr>
            <a:r>
              <a:rPr lang="en-US" sz="800"/>
              <a:t>Prime rationale: </a:t>
            </a:r>
            <a:r>
              <a:rPr lang="en-US" sz="800">
                <a:solidFill>
                  <a:srgbClr val="C00000"/>
                </a:solidFill>
              </a:rPr>
              <a:t>why selecting the Prime(s) chosen?</a:t>
            </a:r>
            <a:r>
              <a:rPr lang="en-US" sz="800"/>
              <a:t> </a:t>
            </a:r>
          </a:p>
        </p:txBody>
      </p:sp>
      <p:sp>
        <p:nvSpPr>
          <p:cNvPr id="31" name="TextBox 30">
            <a:extLst>
              <a:ext uri="{FF2B5EF4-FFF2-40B4-BE49-F238E27FC236}">
                <a16:creationId xmlns:a16="http://schemas.microsoft.com/office/drawing/2014/main" id="{89CFAB08-5DA2-B036-7AD4-B2DE9DCC1012}"/>
              </a:ext>
            </a:extLst>
          </p:cNvPr>
          <p:cNvSpPr txBox="1"/>
          <p:nvPr/>
        </p:nvSpPr>
        <p:spPr>
          <a:xfrm>
            <a:off x="396294" y="4250547"/>
            <a:ext cx="3841164" cy="215444"/>
          </a:xfrm>
          <a:prstGeom prst="rect">
            <a:avLst/>
          </a:prstGeom>
          <a:noFill/>
        </p:spPr>
        <p:txBody>
          <a:bodyPr wrap="square" rtlCol="0">
            <a:spAutoFit/>
          </a:bodyPr>
          <a:lstStyle/>
          <a:p>
            <a:pPr marL="171450" indent="-171450">
              <a:buFont typeface="Arial" panose="020B0604020202020204" pitchFamily="34" charset="0"/>
              <a:buChar char="•"/>
            </a:pPr>
            <a:r>
              <a:rPr lang="en-US" sz="800"/>
              <a:t>Subs rationale: </a:t>
            </a:r>
            <a:r>
              <a:rPr lang="en-US" sz="800">
                <a:solidFill>
                  <a:srgbClr val="C00000"/>
                </a:solidFill>
              </a:rPr>
              <a:t>why selecting the Sub(s) chosen?</a:t>
            </a:r>
            <a:r>
              <a:rPr lang="en-US" sz="800"/>
              <a:t> </a:t>
            </a:r>
          </a:p>
        </p:txBody>
      </p:sp>
      <p:sp>
        <p:nvSpPr>
          <p:cNvPr id="32" name="TextBox 31">
            <a:extLst>
              <a:ext uri="{FF2B5EF4-FFF2-40B4-BE49-F238E27FC236}">
                <a16:creationId xmlns:a16="http://schemas.microsoft.com/office/drawing/2014/main" id="{5B865DDA-295D-CD8C-9D65-C27A4ACC41B6}"/>
              </a:ext>
            </a:extLst>
          </p:cNvPr>
          <p:cNvSpPr txBox="1"/>
          <p:nvPr/>
        </p:nvSpPr>
        <p:spPr>
          <a:xfrm>
            <a:off x="1435847" y="5481110"/>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33" name="TextBox 32">
            <a:extLst>
              <a:ext uri="{FF2B5EF4-FFF2-40B4-BE49-F238E27FC236}">
                <a16:creationId xmlns:a16="http://schemas.microsoft.com/office/drawing/2014/main" id="{2430D808-356E-3B7C-1DB2-4B74045825A6}"/>
              </a:ext>
            </a:extLst>
          </p:cNvPr>
          <p:cNvSpPr txBox="1"/>
          <p:nvPr/>
        </p:nvSpPr>
        <p:spPr>
          <a:xfrm>
            <a:off x="2186940" y="5710660"/>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34" name="TextBox 33">
            <a:extLst>
              <a:ext uri="{FF2B5EF4-FFF2-40B4-BE49-F238E27FC236}">
                <a16:creationId xmlns:a16="http://schemas.microsoft.com/office/drawing/2014/main" id="{CD4B1E78-9E30-76BA-343F-43C264354DB0}"/>
              </a:ext>
            </a:extLst>
          </p:cNvPr>
          <p:cNvSpPr txBox="1"/>
          <p:nvPr/>
        </p:nvSpPr>
        <p:spPr>
          <a:xfrm>
            <a:off x="3074635" y="5923575"/>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graphicFrame>
        <p:nvGraphicFramePr>
          <p:cNvPr id="35" name="Table 11">
            <a:extLst>
              <a:ext uri="{FF2B5EF4-FFF2-40B4-BE49-F238E27FC236}">
                <a16:creationId xmlns:a16="http://schemas.microsoft.com/office/drawing/2014/main" id="{1282DF5F-6E77-5F8E-1F55-02C7D3154EAE}"/>
              </a:ext>
            </a:extLst>
          </p:cNvPr>
          <p:cNvGraphicFramePr>
            <a:graphicFrameLocks noGrp="1"/>
          </p:cNvGraphicFramePr>
          <p:nvPr/>
        </p:nvGraphicFramePr>
        <p:xfrm>
          <a:off x="2806882" y="1830638"/>
          <a:ext cx="1737306" cy="853440"/>
        </p:xfrm>
        <a:graphic>
          <a:graphicData uri="http://schemas.openxmlformats.org/drawingml/2006/table">
            <a:tbl>
              <a:tblPr firstRow="1" bandRow="1">
                <a:tableStyleId>{5C22544A-7EE6-4342-B048-85BDC9FD1C3A}</a:tableStyleId>
              </a:tblPr>
              <a:tblGrid>
                <a:gridCol w="1325825">
                  <a:extLst>
                    <a:ext uri="{9D8B030D-6E8A-4147-A177-3AD203B41FA5}">
                      <a16:colId xmlns:a16="http://schemas.microsoft.com/office/drawing/2014/main" val="3612300285"/>
                    </a:ext>
                  </a:extLst>
                </a:gridCol>
                <a:gridCol w="411481">
                  <a:extLst>
                    <a:ext uri="{9D8B030D-6E8A-4147-A177-3AD203B41FA5}">
                      <a16:colId xmlns:a16="http://schemas.microsoft.com/office/drawing/2014/main" val="558837223"/>
                    </a:ext>
                  </a:extLst>
                </a:gridCol>
              </a:tblGrid>
              <a:tr h="170320">
                <a:tc>
                  <a:txBody>
                    <a:bodyPr/>
                    <a:lstStyle/>
                    <a:p>
                      <a:r>
                        <a:rPr lang="en-US" sz="800" b="1"/>
                        <a:t>WAB Cost % vs Total</a:t>
                      </a:r>
                    </a:p>
                  </a:txBody>
                  <a:tcPr>
                    <a:solidFill>
                      <a:srgbClr val="C00000"/>
                    </a:solidFill>
                  </a:tcPr>
                </a:tc>
                <a:tc>
                  <a:txBody>
                    <a:bodyPr/>
                    <a:lstStyle/>
                    <a:p>
                      <a:endParaRPr lang="en-US" sz="800" b="1"/>
                    </a:p>
                  </a:txBody>
                  <a:tcPr>
                    <a:solidFill>
                      <a:srgbClr val="C00000"/>
                    </a:solidFill>
                  </a:tcPr>
                </a:tc>
                <a:extLst>
                  <a:ext uri="{0D108BD9-81ED-4DB2-BD59-A6C34878D82A}">
                    <a16:rowId xmlns:a16="http://schemas.microsoft.com/office/drawing/2014/main" val="1208334299"/>
                  </a:ext>
                </a:extLst>
              </a:tr>
              <a:tr h="170320">
                <a:tc>
                  <a:txBody>
                    <a:bodyPr/>
                    <a:lstStyle/>
                    <a:p>
                      <a:r>
                        <a:rPr lang="en-US" sz="800" b="0"/>
                        <a:t>&gt; 40%</a:t>
                      </a:r>
                    </a:p>
                  </a:txBody>
                  <a:tcPr/>
                </a:tc>
                <a:tc>
                  <a:txBody>
                    <a:bodyPr/>
                    <a:lstStyle/>
                    <a:p>
                      <a:endParaRPr lang="en-US" sz="800" b="0"/>
                    </a:p>
                  </a:txBody>
                  <a:tcPr/>
                </a:tc>
                <a:extLst>
                  <a:ext uri="{0D108BD9-81ED-4DB2-BD59-A6C34878D82A}">
                    <a16:rowId xmlns:a16="http://schemas.microsoft.com/office/drawing/2014/main" val="3495285830"/>
                  </a:ext>
                </a:extLst>
              </a:tr>
              <a:tr h="170320">
                <a:tc>
                  <a:txBody>
                    <a:bodyPr/>
                    <a:lstStyle/>
                    <a:p>
                      <a:r>
                        <a:rPr lang="en-US" sz="800" b="0"/>
                        <a:t>25 – 40%</a:t>
                      </a:r>
                    </a:p>
                  </a:txBody>
                  <a:tcPr/>
                </a:tc>
                <a:tc>
                  <a:txBody>
                    <a:bodyPr/>
                    <a:lstStyle/>
                    <a:p>
                      <a:endParaRPr lang="en-US" sz="800" b="0"/>
                    </a:p>
                  </a:txBody>
                  <a:tcPr/>
                </a:tc>
                <a:extLst>
                  <a:ext uri="{0D108BD9-81ED-4DB2-BD59-A6C34878D82A}">
                    <a16:rowId xmlns:a16="http://schemas.microsoft.com/office/drawing/2014/main" val="1782385336"/>
                  </a:ext>
                </a:extLst>
              </a:tr>
              <a:tr h="170320">
                <a:tc>
                  <a:txBody>
                    <a:bodyPr/>
                    <a:lstStyle/>
                    <a:p>
                      <a:r>
                        <a:rPr lang="en-US" sz="800" b="0"/>
                        <a:t>&lt; 25%</a:t>
                      </a:r>
                    </a:p>
                  </a:txBody>
                  <a:tcPr/>
                </a:tc>
                <a:tc>
                  <a:txBody>
                    <a:bodyPr/>
                    <a:lstStyle/>
                    <a:p>
                      <a:endParaRPr lang="en-US" sz="800" b="0"/>
                    </a:p>
                  </a:txBody>
                  <a:tcPr/>
                </a:tc>
                <a:extLst>
                  <a:ext uri="{0D108BD9-81ED-4DB2-BD59-A6C34878D82A}">
                    <a16:rowId xmlns:a16="http://schemas.microsoft.com/office/drawing/2014/main" val="1942264834"/>
                  </a:ext>
                </a:extLst>
              </a:tr>
            </a:tbl>
          </a:graphicData>
        </a:graphic>
      </p:graphicFrame>
      <p:sp>
        <p:nvSpPr>
          <p:cNvPr id="36" name="TextBox 35">
            <a:extLst>
              <a:ext uri="{FF2B5EF4-FFF2-40B4-BE49-F238E27FC236}">
                <a16:creationId xmlns:a16="http://schemas.microsoft.com/office/drawing/2014/main" id="{ACFD81EC-F4B5-C483-001C-85C640B0B249}"/>
              </a:ext>
            </a:extLst>
          </p:cNvPr>
          <p:cNvSpPr txBox="1"/>
          <p:nvPr/>
        </p:nvSpPr>
        <p:spPr>
          <a:xfrm>
            <a:off x="4190946" y="2049780"/>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37" name="TextBox 36">
            <a:extLst>
              <a:ext uri="{FF2B5EF4-FFF2-40B4-BE49-F238E27FC236}">
                <a16:creationId xmlns:a16="http://schemas.microsoft.com/office/drawing/2014/main" id="{E1DA97AA-1A79-73B7-0631-88B84C093482}"/>
              </a:ext>
            </a:extLst>
          </p:cNvPr>
          <p:cNvSpPr txBox="1"/>
          <p:nvPr/>
        </p:nvSpPr>
        <p:spPr>
          <a:xfrm>
            <a:off x="5879810" y="1098841"/>
            <a:ext cx="3462608" cy="276999"/>
          </a:xfrm>
          <a:prstGeom prst="rect">
            <a:avLst/>
          </a:prstGeom>
          <a:noFill/>
        </p:spPr>
        <p:txBody>
          <a:bodyPr wrap="none" lIns="91214" tIns="0" rIns="91214" bIns="0" rtlCol="0">
            <a:spAutoFit/>
          </a:bodyPr>
          <a:lstStyle/>
          <a:p>
            <a:pPr defTabSz="912114" fontAlgn="auto">
              <a:spcBef>
                <a:spcPts val="0"/>
              </a:spcBef>
              <a:spcAft>
                <a:spcPts val="0"/>
              </a:spcAft>
            </a:pPr>
            <a:r>
              <a:rPr lang="en-US" sz="1800" b="1">
                <a:solidFill>
                  <a:srgbClr val="63666A"/>
                </a:solidFill>
                <a:latin typeface="GE Inspira Sans"/>
                <a:cs typeface="+mn-cs"/>
              </a:rPr>
              <a:t>System Responsibility &amp; Interfaces</a:t>
            </a:r>
          </a:p>
        </p:txBody>
      </p:sp>
      <p:cxnSp>
        <p:nvCxnSpPr>
          <p:cNvPr id="38" name="Straight Connector 37">
            <a:extLst>
              <a:ext uri="{FF2B5EF4-FFF2-40B4-BE49-F238E27FC236}">
                <a16:creationId xmlns:a16="http://schemas.microsoft.com/office/drawing/2014/main" id="{5CF38B37-5B22-D9CD-41C5-40E75BF3DB55}"/>
              </a:ext>
            </a:extLst>
          </p:cNvPr>
          <p:cNvCxnSpPr>
            <a:cxnSpLocks/>
          </p:cNvCxnSpPr>
          <p:nvPr/>
        </p:nvCxnSpPr>
        <p:spPr>
          <a:xfrm>
            <a:off x="5973809" y="1375840"/>
            <a:ext cx="3914734" cy="0"/>
          </a:xfrm>
          <a:prstGeom prst="line">
            <a:avLst/>
          </a:prstGeom>
          <a:ln w="6350">
            <a:solidFill>
              <a:schemeClr val="bg2">
                <a:lumMod val="10000"/>
              </a:schemeClr>
            </a:solidFill>
          </a:ln>
          <a:effectLst/>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54D628E0-B2F4-04CD-CB0E-7D968ABCCD75}"/>
              </a:ext>
            </a:extLst>
          </p:cNvPr>
          <p:cNvSpPr txBox="1"/>
          <p:nvPr/>
        </p:nvSpPr>
        <p:spPr>
          <a:xfrm>
            <a:off x="5907499" y="1447257"/>
            <a:ext cx="3981044" cy="215444"/>
          </a:xfrm>
          <a:prstGeom prst="rect">
            <a:avLst/>
          </a:prstGeom>
          <a:noFill/>
        </p:spPr>
        <p:txBody>
          <a:bodyPr wrap="square" rtlCol="0">
            <a:spAutoFit/>
          </a:bodyPr>
          <a:lstStyle/>
          <a:p>
            <a:pPr algn="just">
              <a:spcBef>
                <a:spcPts val="600"/>
              </a:spcBef>
            </a:pPr>
            <a:r>
              <a:rPr lang="en-US" sz="800">
                <a:solidFill>
                  <a:srgbClr val="C00000"/>
                </a:solidFill>
              </a:rPr>
              <a:t>place check mark(s) where appropriate for this deal across this image</a:t>
            </a:r>
            <a:endParaRPr lang="en-US" sz="1000" b="1"/>
          </a:p>
        </p:txBody>
      </p:sp>
      <p:pic>
        <p:nvPicPr>
          <p:cNvPr id="45" name="Picture 44">
            <a:extLst>
              <a:ext uri="{FF2B5EF4-FFF2-40B4-BE49-F238E27FC236}">
                <a16:creationId xmlns:a16="http://schemas.microsoft.com/office/drawing/2014/main" id="{06664E7A-92E5-3B1D-B035-50D0E2FD56A4}"/>
              </a:ext>
            </a:extLst>
          </p:cNvPr>
          <p:cNvPicPr>
            <a:picLocks noChangeAspect="1"/>
          </p:cNvPicPr>
          <p:nvPr/>
        </p:nvPicPr>
        <p:blipFill>
          <a:blip r:embed="rId3"/>
          <a:stretch>
            <a:fillRect/>
          </a:stretch>
        </p:blipFill>
        <p:spPr>
          <a:xfrm>
            <a:off x="4696283" y="1739959"/>
            <a:ext cx="7230483" cy="1371719"/>
          </a:xfrm>
          <a:prstGeom prst="rect">
            <a:avLst/>
          </a:prstGeom>
        </p:spPr>
      </p:pic>
      <p:sp>
        <p:nvSpPr>
          <p:cNvPr id="46" name="TextBox 45">
            <a:extLst>
              <a:ext uri="{FF2B5EF4-FFF2-40B4-BE49-F238E27FC236}">
                <a16:creationId xmlns:a16="http://schemas.microsoft.com/office/drawing/2014/main" id="{F7914978-4C9B-1D32-9E2C-DB9641C1596F}"/>
              </a:ext>
            </a:extLst>
          </p:cNvPr>
          <p:cNvSpPr txBox="1"/>
          <p:nvPr/>
        </p:nvSpPr>
        <p:spPr>
          <a:xfrm>
            <a:off x="9050156" y="2580003"/>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47" name="TextBox 46">
            <a:extLst>
              <a:ext uri="{FF2B5EF4-FFF2-40B4-BE49-F238E27FC236}">
                <a16:creationId xmlns:a16="http://schemas.microsoft.com/office/drawing/2014/main" id="{603E164A-5651-4B24-BFD9-D556A160D2F4}"/>
              </a:ext>
            </a:extLst>
          </p:cNvPr>
          <p:cNvSpPr txBox="1"/>
          <p:nvPr/>
        </p:nvSpPr>
        <p:spPr>
          <a:xfrm>
            <a:off x="7898021" y="2349171"/>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50" name="TextBox 49">
            <a:extLst>
              <a:ext uri="{FF2B5EF4-FFF2-40B4-BE49-F238E27FC236}">
                <a16:creationId xmlns:a16="http://schemas.microsoft.com/office/drawing/2014/main" id="{31DE62D6-06AC-363B-4232-F44028AA20B3}"/>
              </a:ext>
            </a:extLst>
          </p:cNvPr>
          <p:cNvSpPr txBox="1"/>
          <p:nvPr/>
        </p:nvSpPr>
        <p:spPr>
          <a:xfrm>
            <a:off x="9164456" y="1457723"/>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51" name="TextBox 50">
            <a:extLst>
              <a:ext uri="{FF2B5EF4-FFF2-40B4-BE49-F238E27FC236}">
                <a16:creationId xmlns:a16="http://schemas.microsoft.com/office/drawing/2014/main" id="{FC3845A1-7EC6-CF9A-AC9D-B2ACCABF4219}"/>
              </a:ext>
            </a:extLst>
          </p:cNvPr>
          <p:cNvSpPr txBox="1"/>
          <p:nvPr/>
        </p:nvSpPr>
        <p:spPr>
          <a:xfrm>
            <a:off x="4604843" y="3320065"/>
            <a:ext cx="2523761" cy="276999"/>
          </a:xfrm>
          <a:prstGeom prst="rect">
            <a:avLst/>
          </a:prstGeom>
          <a:noFill/>
        </p:spPr>
        <p:txBody>
          <a:bodyPr wrap="none" lIns="91214" tIns="0" rIns="91214" bIns="0" rtlCol="0">
            <a:spAutoFit/>
          </a:bodyPr>
          <a:lstStyle/>
          <a:p>
            <a:pPr defTabSz="912114" fontAlgn="auto">
              <a:spcBef>
                <a:spcPts val="0"/>
              </a:spcBef>
              <a:spcAft>
                <a:spcPts val="0"/>
              </a:spcAft>
            </a:pPr>
            <a:r>
              <a:rPr lang="en-US" sz="1800" b="1">
                <a:solidFill>
                  <a:srgbClr val="63666A"/>
                </a:solidFill>
                <a:latin typeface="GE Inspira Sans"/>
                <a:cs typeface="+mn-cs"/>
              </a:rPr>
              <a:t>Technology by Segment</a:t>
            </a:r>
          </a:p>
        </p:txBody>
      </p:sp>
      <p:cxnSp>
        <p:nvCxnSpPr>
          <p:cNvPr id="52" name="Straight Connector 51">
            <a:extLst>
              <a:ext uri="{FF2B5EF4-FFF2-40B4-BE49-F238E27FC236}">
                <a16:creationId xmlns:a16="http://schemas.microsoft.com/office/drawing/2014/main" id="{9FED31CA-3868-2B81-F140-6496F9351A37}"/>
              </a:ext>
            </a:extLst>
          </p:cNvPr>
          <p:cNvCxnSpPr>
            <a:cxnSpLocks/>
          </p:cNvCxnSpPr>
          <p:nvPr/>
        </p:nvCxnSpPr>
        <p:spPr>
          <a:xfrm>
            <a:off x="4698842" y="3597064"/>
            <a:ext cx="3495447" cy="0"/>
          </a:xfrm>
          <a:prstGeom prst="line">
            <a:avLst/>
          </a:prstGeom>
          <a:ln w="6350">
            <a:solidFill>
              <a:schemeClr val="bg2">
                <a:lumMod val="10000"/>
              </a:schemeClr>
            </a:solidFill>
          </a:ln>
          <a:effectLst/>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93BB61DB-138D-B544-0A3F-3CF331E9EEBF}"/>
              </a:ext>
            </a:extLst>
          </p:cNvPr>
          <p:cNvSpPr txBox="1"/>
          <p:nvPr/>
        </p:nvSpPr>
        <p:spPr>
          <a:xfrm>
            <a:off x="4632532" y="3668481"/>
            <a:ext cx="3981044" cy="215444"/>
          </a:xfrm>
          <a:prstGeom prst="rect">
            <a:avLst/>
          </a:prstGeom>
          <a:noFill/>
        </p:spPr>
        <p:txBody>
          <a:bodyPr wrap="square" rtlCol="0">
            <a:spAutoFit/>
          </a:bodyPr>
          <a:lstStyle/>
          <a:p>
            <a:pPr algn="just">
              <a:spcBef>
                <a:spcPts val="600"/>
              </a:spcBef>
            </a:pPr>
            <a:r>
              <a:rPr lang="en-US" sz="800">
                <a:solidFill>
                  <a:srgbClr val="C00000"/>
                </a:solidFill>
              </a:rPr>
              <a:t>place check mark(s) where appropriate for this deal across this image</a:t>
            </a:r>
            <a:endParaRPr lang="en-US" sz="1000" b="1"/>
          </a:p>
        </p:txBody>
      </p:sp>
      <p:sp>
        <p:nvSpPr>
          <p:cNvPr id="54" name="TextBox 53">
            <a:extLst>
              <a:ext uri="{FF2B5EF4-FFF2-40B4-BE49-F238E27FC236}">
                <a16:creationId xmlns:a16="http://schemas.microsoft.com/office/drawing/2014/main" id="{7ABBFD3A-5F0E-B781-8F74-4E75F4A8E730}"/>
              </a:ext>
            </a:extLst>
          </p:cNvPr>
          <p:cNvSpPr txBox="1"/>
          <p:nvPr/>
        </p:nvSpPr>
        <p:spPr>
          <a:xfrm>
            <a:off x="7889489" y="3678947"/>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60" name="TextBox 59">
            <a:extLst>
              <a:ext uri="{FF2B5EF4-FFF2-40B4-BE49-F238E27FC236}">
                <a16:creationId xmlns:a16="http://schemas.microsoft.com/office/drawing/2014/main" id="{65C52463-9058-6D7D-C79F-C79903C40AFB}"/>
              </a:ext>
            </a:extLst>
          </p:cNvPr>
          <p:cNvSpPr txBox="1"/>
          <p:nvPr/>
        </p:nvSpPr>
        <p:spPr>
          <a:xfrm>
            <a:off x="8475803" y="3320065"/>
            <a:ext cx="2836218" cy="276999"/>
          </a:xfrm>
          <a:prstGeom prst="rect">
            <a:avLst/>
          </a:prstGeom>
          <a:noFill/>
        </p:spPr>
        <p:txBody>
          <a:bodyPr wrap="none" lIns="91214" tIns="0" rIns="91214" bIns="0" rtlCol="0">
            <a:spAutoFit/>
          </a:bodyPr>
          <a:lstStyle/>
          <a:p>
            <a:pPr defTabSz="912114" fontAlgn="auto">
              <a:spcBef>
                <a:spcPts val="0"/>
              </a:spcBef>
              <a:spcAft>
                <a:spcPts val="0"/>
              </a:spcAft>
            </a:pPr>
            <a:r>
              <a:rPr lang="en-US" sz="1800" b="1">
                <a:solidFill>
                  <a:srgbClr val="63666A"/>
                </a:solidFill>
                <a:latin typeface="GE Inspira Sans"/>
                <a:cs typeface="+mn-cs"/>
              </a:rPr>
              <a:t>Opportunity Risk vs Reward</a:t>
            </a:r>
          </a:p>
        </p:txBody>
      </p:sp>
      <p:cxnSp>
        <p:nvCxnSpPr>
          <p:cNvPr id="61" name="Straight Connector 60">
            <a:extLst>
              <a:ext uri="{FF2B5EF4-FFF2-40B4-BE49-F238E27FC236}">
                <a16:creationId xmlns:a16="http://schemas.microsoft.com/office/drawing/2014/main" id="{84F2AA53-9D34-68D2-5B9E-B14CECE84CF0}"/>
              </a:ext>
            </a:extLst>
          </p:cNvPr>
          <p:cNvCxnSpPr>
            <a:cxnSpLocks/>
          </p:cNvCxnSpPr>
          <p:nvPr/>
        </p:nvCxnSpPr>
        <p:spPr>
          <a:xfrm>
            <a:off x="8569802" y="3597064"/>
            <a:ext cx="3495447" cy="0"/>
          </a:xfrm>
          <a:prstGeom prst="line">
            <a:avLst/>
          </a:prstGeom>
          <a:ln w="6350">
            <a:solidFill>
              <a:schemeClr val="bg2">
                <a:lumMod val="10000"/>
              </a:schemeClr>
            </a:solidFill>
          </a:ln>
          <a:effectLst/>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A494EF1C-2E20-124A-54E9-3ACB196F83EE}"/>
              </a:ext>
            </a:extLst>
          </p:cNvPr>
          <p:cNvSpPr txBox="1"/>
          <p:nvPr/>
        </p:nvSpPr>
        <p:spPr>
          <a:xfrm>
            <a:off x="8533325" y="3668481"/>
            <a:ext cx="3981044" cy="215444"/>
          </a:xfrm>
          <a:prstGeom prst="rect">
            <a:avLst/>
          </a:prstGeom>
          <a:noFill/>
        </p:spPr>
        <p:txBody>
          <a:bodyPr wrap="square" rtlCol="0">
            <a:spAutoFit/>
          </a:bodyPr>
          <a:lstStyle/>
          <a:p>
            <a:pPr algn="just">
              <a:spcBef>
                <a:spcPts val="600"/>
              </a:spcBef>
            </a:pPr>
            <a:r>
              <a:rPr lang="en-US" sz="800">
                <a:solidFill>
                  <a:srgbClr val="C00000"/>
                </a:solidFill>
              </a:rPr>
              <a:t>place dot for each technology on this deal across this image</a:t>
            </a:r>
            <a:endParaRPr lang="en-US" sz="1000" b="1"/>
          </a:p>
        </p:txBody>
      </p:sp>
      <p:pic>
        <p:nvPicPr>
          <p:cNvPr id="64" name="Picture 63">
            <a:extLst>
              <a:ext uri="{FF2B5EF4-FFF2-40B4-BE49-F238E27FC236}">
                <a16:creationId xmlns:a16="http://schemas.microsoft.com/office/drawing/2014/main" id="{35FBB7C4-4247-2298-0207-6554E0F46C8E}"/>
              </a:ext>
            </a:extLst>
          </p:cNvPr>
          <p:cNvPicPr>
            <a:picLocks noChangeAspect="1"/>
          </p:cNvPicPr>
          <p:nvPr/>
        </p:nvPicPr>
        <p:blipFill rotWithShape="1">
          <a:blip r:embed="rId4"/>
          <a:srcRect r="22032"/>
          <a:stretch/>
        </p:blipFill>
        <p:spPr>
          <a:xfrm>
            <a:off x="4800199" y="3894391"/>
            <a:ext cx="3144317" cy="2468880"/>
          </a:xfrm>
          <a:prstGeom prst="rect">
            <a:avLst/>
          </a:prstGeom>
        </p:spPr>
      </p:pic>
      <p:sp>
        <p:nvSpPr>
          <p:cNvPr id="65" name="TextBox 64">
            <a:extLst>
              <a:ext uri="{FF2B5EF4-FFF2-40B4-BE49-F238E27FC236}">
                <a16:creationId xmlns:a16="http://schemas.microsoft.com/office/drawing/2014/main" id="{DC353A85-A00E-C0CF-2F90-05ECDABD4945}"/>
              </a:ext>
            </a:extLst>
          </p:cNvPr>
          <p:cNvSpPr txBox="1"/>
          <p:nvPr/>
        </p:nvSpPr>
        <p:spPr>
          <a:xfrm>
            <a:off x="5973809" y="5183036"/>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67" name="TextBox 66">
            <a:extLst>
              <a:ext uri="{FF2B5EF4-FFF2-40B4-BE49-F238E27FC236}">
                <a16:creationId xmlns:a16="http://schemas.microsoft.com/office/drawing/2014/main" id="{117A5339-3FE5-F9C9-D16A-B700C96F81EB}"/>
              </a:ext>
            </a:extLst>
          </p:cNvPr>
          <p:cNvSpPr txBox="1"/>
          <p:nvPr/>
        </p:nvSpPr>
        <p:spPr>
          <a:xfrm>
            <a:off x="7268807" y="5183036"/>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68" name="TextBox 67">
            <a:extLst>
              <a:ext uri="{FF2B5EF4-FFF2-40B4-BE49-F238E27FC236}">
                <a16:creationId xmlns:a16="http://schemas.microsoft.com/office/drawing/2014/main" id="{77BA662C-F1A1-3B21-682F-6FDBD65E6931}"/>
              </a:ext>
            </a:extLst>
          </p:cNvPr>
          <p:cNvSpPr txBox="1"/>
          <p:nvPr/>
        </p:nvSpPr>
        <p:spPr>
          <a:xfrm>
            <a:off x="7621228" y="5183036"/>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pic>
        <p:nvPicPr>
          <p:cNvPr id="69" name="Picture 68">
            <a:extLst>
              <a:ext uri="{FF2B5EF4-FFF2-40B4-BE49-F238E27FC236}">
                <a16:creationId xmlns:a16="http://schemas.microsoft.com/office/drawing/2014/main" id="{4CD42267-2BF5-13DD-637B-E5240B7EB6DA}"/>
              </a:ext>
            </a:extLst>
          </p:cNvPr>
          <p:cNvPicPr>
            <a:picLocks noChangeAspect="1"/>
          </p:cNvPicPr>
          <p:nvPr/>
        </p:nvPicPr>
        <p:blipFill>
          <a:blip r:embed="rId5"/>
          <a:stretch>
            <a:fillRect/>
          </a:stretch>
        </p:blipFill>
        <p:spPr>
          <a:xfrm>
            <a:off x="8533325" y="3921924"/>
            <a:ext cx="3548180" cy="2469094"/>
          </a:xfrm>
          <a:prstGeom prst="rect">
            <a:avLst/>
          </a:prstGeom>
        </p:spPr>
      </p:pic>
      <p:sp>
        <p:nvSpPr>
          <p:cNvPr id="70" name="Oval 69">
            <a:extLst>
              <a:ext uri="{FF2B5EF4-FFF2-40B4-BE49-F238E27FC236}">
                <a16:creationId xmlns:a16="http://schemas.microsoft.com/office/drawing/2014/main" id="{623D7486-F02A-CE4B-0EF8-929DD44FFAE1}"/>
              </a:ext>
            </a:extLst>
          </p:cNvPr>
          <p:cNvSpPr/>
          <p:nvPr/>
        </p:nvSpPr>
        <p:spPr>
          <a:xfrm>
            <a:off x="9973329" y="4635149"/>
            <a:ext cx="91440" cy="91440"/>
          </a:xfrm>
          <a:prstGeom prst="ellipse">
            <a:avLst/>
          </a:prstGeom>
          <a:solidFill>
            <a:schemeClr val="tx2"/>
          </a:solidFill>
        </p:spPr>
        <p:txBody>
          <a:bodyPr wrap="none" rtlCol="0" anchor="ctr">
            <a:spAutoFit/>
          </a:bodyPr>
          <a:lstStyle/>
          <a:p>
            <a:pPr algn="ctr"/>
            <a:endParaRPr lang="en-US" sz="3600" b="1" spc="-150">
              <a:solidFill>
                <a:srgbClr val="FFFFFF"/>
              </a:solidFill>
              <a:latin typeface="Arial" pitchFamily="34" charset="0"/>
              <a:cs typeface="Arial" pitchFamily="34" charset="0"/>
            </a:endParaRPr>
          </a:p>
        </p:txBody>
      </p:sp>
      <p:sp>
        <p:nvSpPr>
          <p:cNvPr id="71" name="Oval 70">
            <a:extLst>
              <a:ext uri="{FF2B5EF4-FFF2-40B4-BE49-F238E27FC236}">
                <a16:creationId xmlns:a16="http://schemas.microsoft.com/office/drawing/2014/main" id="{324B72E8-4998-07E3-F77A-95E027F18FAD}"/>
              </a:ext>
            </a:extLst>
          </p:cNvPr>
          <p:cNvSpPr/>
          <p:nvPr/>
        </p:nvSpPr>
        <p:spPr>
          <a:xfrm>
            <a:off x="11421941" y="3734430"/>
            <a:ext cx="91440" cy="91440"/>
          </a:xfrm>
          <a:prstGeom prst="ellipse">
            <a:avLst/>
          </a:prstGeom>
          <a:solidFill>
            <a:schemeClr val="tx2"/>
          </a:solidFill>
        </p:spPr>
        <p:txBody>
          <a:bodyPr wrap="none" rtlCol="0" anchor="ctr">
            <a:spAutoFit/>
          </a:bodyPr>
          <a:lstStyle/>
          <a:p>
            <a:pPr algn="ctr"/>
            <a:endParaRPr lang="en-US" sz="3600" b="1" spc="-150">
              <a:solidFill>
                <a:srgbClr val="FFFFFF"/>
              </a:solidFill>
              <a:latin typeface="Arial" pitchFamily="34" charset="0"/>
              <a:cs typeface="Arial" pitchFamily="34" charset="0"/>
            </a:endParaRPr>
          </a:p>
        </p:txBody>
      </p:sp>
      <p:sp>
        <p:nvSpPr>
          <p:cNvPr id="73" name="Oval 72">
            <a:extLst>
              <a:ext uri="{FF2B5EF4-FFF2-40B4-BE49-F238E27FC236}">
                <a16:creationId xmlns:a16="http://schemas.microsoft.com/office/drawing/2014/main" id="{264E7D2C-02E3-278B-1E8F-8F8260FDDC7C}"/>
              </a:ext>
            </a:extLst>
          </p:cNvPr>
          <p:cNvSpPr/>
          <p:nvPr/>
        </p:nvSpPr>
        <p:spPr>
          <a:xfrm>
            <a:off x="11573807" y="3734430"/>
            <a:ext cx="91440" cy="91440"/>
          </a:xfrm>
          <a:prstGeom prst="ellipse">
            <a:avLst/>
          </a:prstGeom>
          <a:solidFill>
            <a:schemeClr val="tx2">
              <a:lumMod val="20000"/>
              <a:lumOff val="80000"/>
            </a:schemeClr>
          </a:solidFill>
        </p:spPr>
        <p:txBody>
          <a:bodyPr wrap="none" rtlCol="0" anchor="ctr">
            <a:spAutoFit/>
          </a:bodyPr>
          <a:lstStyle/>
          <a:p>
            <a:pPr algn="ctr"/>
            <a:endParaRPr lang="en-US" sz="3600" b="1" spc="-150">
              <a:solidFill>
                <a:srgbClr val="FFFFFF"/>
              </a:solidFill>
              <a:latin typeface="Arial" pitchFamily="34" charset="0"/>
              <a:cs typeface="Arial" pitchFamily="34" charset="0"/>
            </a:endParaRPr>
          </a:p>
        </p:txBody>
      </p:sp>
      <p:sp>
        <p:nvSpPr>
          <p:cNvPr id="74" name="Oval 73">
            <a:extLst>
              <a:ext uri="{FF2B5EF4-FFF2-40B4-BE49-F238E27FC236}">
                <a16:creationId xmlns:a16="http://schemas.microsoft.com/office/drawing/2014/main" id="{8A4A98D1-BBE0-7498-57FF-FF7571FAA10A}"/>
              </a:ext>
            </a:extLst>
          </p:cNvPr>
          <p:cNvSpPr/>
          <p:nvPr/>
        </p:nvSpPr>
        <p:spPr>
          <a:xfrm>
            <a:off x="11725673" y="3734430"/>
            <a:ext cx="91440" cy="91440"/>
          </a:xfrm>
          <a:prstGeom prst="ellipse">
            <a:avLst/>
          </a:prstGeom>
          <a:solidFill>
            <a:schemeClr val="tx1"/>
          </a:solidFill>
        </p:spPr>
        <p:txBody>
          <a:bodyPr wrap="none" rtlCol="0" anchor="ctr">
            <a:spAutoFit/>
          </a:bodyPr>
          <a:lstStyle/>
          <a:p>
            <a:pPr algn="ctr"/>
            <a:endParaRPr lang="en-US" sz="3600" b="1" spc="-150">
              <a:solidFill>
                <a:srgbClr val="FFFFFF"/>
              </a:solidFill>
              <a:latin typeface="Arial" pitchFamily="34" charset="0"/>
              <a:cs typeface="Arial" pitchFamily="34" charset="0"/>
            </a:endParaRPr>
          </a:p>
        </p:txBody>
      </p:sp>
      <p:sp>
        <p:nvSpPr>
          <p:cNvPr id="75" name="Oval 74">
            <a:extLst>
              <a:ext uri="{FF2B5EF4-FFF2-40B4-BE49-F238E27FC236}">
                <a16:creationId xmlns:a16="http://schemas.microsoft.com/office/drawing/2014/main" id="{F6F14C18-4E08-B3A1-A131-53C41B090CFF}"/>
              </a:ext>
            </a:extLst>
          </p:cNvPr>
          <p:cNvSpPr/>
          <p:nvPr/>
        </p:nvSpPr>
        <p:spPr>
          <a:xfrm>
            <a:off x="11877540" y="3734430"/>
            <a:ext cx="91440" cy="91440"/>
          </a:xfrm>
          <a:prstGeom prst="ellipse">
            <a:avLst/>
          </a:prstGeom>
          <a:solidFill>
            <a:schemeClr val="bg2"/>
          </a:solidFill>
        </p:spPr>
        <p:txBody>
          <a:bodyPr wrap="none" rtlCol="0" anchor="ctr">
            <a:spAutoFit/>
          </a:bodyPr>
          <a:lstStyle/>
          <a:p>
            <a:pPr algn="ctr"/>
            <a:endParaRPr lang="en-US" sz="3600" b="1" spc="-150">
              <a:solidFill>
                <a:srgbClr val="FFFFFF"/>
              </a:solidFill>
              <a:latin typeface="Arial" pitchFamily="34" charset="0"/>
              <a:cs typeface="Arial" pitchFamily="34" charset="0"/>
            </a:endParaRPr>
          </a:p>
        </p:txBody>
      </p:sp>
      <p:sp>
        <p:nvSpPr>
          <p:cNvPr id="76" name="TextBox 75">
            <a:extLst>
              <a:ext uri="{FF2B5EF4-FFF2-40B4-BE49-F238E27FC236}">
                <a16:creationId xmlns:a16="http://schemas.microsoft.com/office/drawing/2014/main" id="{FDA9F8C3-4630-6E8A-2113-9D8C263E1DAA}"/>
              </a:ext>
            </a:extLst>
          </p:cNvPr>
          <p:cNvSpPr txBox="1"/>
          <p:nvPr/>
        </p:nvSpPr>
        <p:spPr>
          <a:xfrm>
            <a:off x="10019049" y="4588536"/>
            <a:ext cx="1005840" cy="184666"/>
          </a:xfrm>
          <a:prstGeom prst="rect">
            <a:avLst/>
          </a:prstGeom>
          <a:noFill/>
        </p:spPr>
        <p:txBody>
          <a:bodyPr wrap="square" rtlCol="0">
            <a:spAutoFit/>
          </a:bodyPr>
          <a:lstStyle/>
          <a:p>
            <a:r>
              <a:rPr lang="en-US" sz="600">
                <a:latin typeface="+mn-lt"/>
              </a:rPr>
              <a:t>Conventional Signaling</a:t>
            </a:r>
          </a:p>
        </p:txBody>
      </p:sp>
      <p:pic>
        <p:nvPicPr>
          <p:cNvPr id="77" name="Picture 76">
            <a:extLst>
              <a:ext uri="{FF2B5EF4-FFF2-40B4-BE49-F238E27FC236}">
                <a16:creationId xmlns:a16="http://schemas.microsoft.com/office/drawing/2014/main" id="{07485ABE-B66C-1605-EEB3-17DBABAFEB98}"/>
              </a:ext>
            </a:extLst>
          </p:cNvPr>
          <p:cNvPicPr>
            <a:picLocks noChangeAspect="1"/>
          </p:cNvPicPr>
          <p:nvPr/>
        </p:nvPicPr>
        <p:blipFill>
          <a:blip r:embed="rId6"/>
          <a:stretch>
            <a:fillRect/>
          </a:stretch>
        </p:blipFill>
        <p:spPr>
          <a:xfrm>
            <a:off x="10026975" y="43042"/>
            <a:ext cx="2054530" cy="1176630"/>
          </a:xfrm>
          <a:prstGeom prst="rect">
            <a:avLst/>
          </a:prstGeom>
        </p:spPr>
      </p:pic>
      <p:sp>
        <p:nvSpPr>
          <p:cNvPr id="78" name="TextBox 77">
            <a:extLst>
              <a:ext uri="{FF2B5EF4-FFF2-40B4-BE49-F238E27FC236}">
                <a16:creationId xmlns:a16="http://schemas.microsoft.com/office/drawing/2014/main" id="{D34CE6C2-0BFF-B93E-75D6-6955ECEBCB44}"/>
              </a:ext>
            </a:extLst>
          </p:cNvPr>
          <p:cNvSpPr txBox="1"/>
          <p:nvPr/>
        </p:nvSpPr>
        <p:spPr>
          <a:xfrm>
            <a:off x="1409700" y="1638396"/>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79" name="TextBox 78">
            <a:extLst>
              <a:ext uri="{FF2B5EF4-FFF2-40B4-BE49-F238E27FC236}">
                <a16:creationId xmlns:a16="http://schemas.microsoft.com/office/drawing/2014/main" id="{38D140F2-39C7-0877-62B7-68671A3B3531}"/>
              </a:ext>
            </a:extLst>
          </p:cNvPr>
          <p:cNvSpPr txBox="1"/>
          <p:nvPr/>
        </p:nvSpPr>
        <p:spPr>
          <a:xfrm>
            <a:off x="3848100" y="2934236"/>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80" name="TextBox 79">
            <a:extLst>
              <a:ext uri="{FF2B5EF4-FFF2-40B4-BE49-F238E27FC236}">
                <a16:creationId xmlns:a16="http://schemas.microsoft.com/office/drawing/2014/main" id="{43D23776-679D-0A45-C3D8-739A6CF27966}"/>
              </a:ext>
            </a:extLst>
          </p:cNvPr>
          <p:cNvSpPr txBox="1"/>
          <p:nvPr/>
        </p:nvSpPr>
        <p:spPr>
          <a:xfrm>
            <a:off x="1318260" y="4711349"/>
            <a:ext cx="304800" cy="230832"/>
          </a:xfrm>
          <a:prstGeom prst="rect">
            <a:avLst/>
          </a:prstGeom>
          <a:noFill/>
        </p:spPr>
        <p:txBody>
          <a:bodyPr wrap="square" rtlCol="0">
            <a:spAutoFit/>
          </a:bodyPr>
          <a:lstStyle/>
          <a:p>
            <a:pPr marL="171450" indent="-171450">
              <a:buClr>
                <a:srgbClr val="00B050"/>
              </a:buClr>
              <a:buFont typeface="Wingdings" panose="05000000000000000000" pitchFamily="2" charset="2"/>
              <a:buChar char="ü"/>
            </a:pPr>
            <a:r>
              <a:rPr lang="en-US" sz="900" b="1"/>
              <a:t> </a:t>
            </a:r>
            <a:endParaRPr lang="en-US" sz="800" b="1"/>
          </a:p>
        </p:txBody>
      </p:sp>
      <p:sp>
        <p:nvSpPr>
          <p:cNvPr id="4" name="TextBox 3">
            <a:extLst>
              <a:ext uri="{FF2B5EF4-FFF2-40B4-BE49-F238E27FC236}">
                <a16:creationId xmlns:a16="http://schemas.microsoft.com/office/drawing/2014/main" id="{B7EAB9AC-3BA3-0BC2-F653-6A4EC1E16AFC}"/>
              </a:ext>
            </a:extLst>
          </p:cNvPr>
          <p:cNvSpPr txBox="1"/>
          <p:nvPr/>
        </p:nvSpPr>
        <p:spPr>
          <a:xfrm>
            <a:off x="3657600" y="5898408"/>
            <a:ext cx="407304" cy="230832"/>
          </a:xfrm>
          <a:prstGeom prst="rect">
            <a:avLst/>
          </a:prstGeom>
          <a:noFill/>
        </p:spPr>
        <p:txBody>
          <a:bodyPr wrap="square" rtlCol="0">
            <a:spAutoFit/>
          </a:bodyPr>
          <a:lstStyle/>
          <a:p>
            <a:pPr>
              <a:buClr>
                <a:srgbClr val="00B050"/>
              </a:buClr>
            </a:pPr>
            <a:r>
              <a:rPr lang="en-US" sz="800"/>
              <a:t>$x</a:t>
            </a:r>
            <a:r>
              <a:rPr lang="en-US" sz="900"/>
              <a:t> </a:t>
            </a:r>
            <a:endParaRPr lang="en-US" sz="800"/>
          </a:p>
        </p:txBody>
      </p:sp>
      <p:sp>
        <p:nvSpPr>
          <p:cNvPr id="5" name="TextBox 4">
            <a:extLst>
              <a:ext uri="{FF2B5EF4-FFF2-40B4-BE49-F238E27FC236}">
                <a16:creationId xmlns:a16="http://schemas.microsoft.com/office/drawing/2014/main" id="{D82D61F2-CB5D-FD2C-FBAB-32FDE6402346}"/>
              </a:ext>
            </a:extLst>
          </p:cNvPr>
          <p:cNvSpPr txBox="1"/>
          <p:nvPr/>
        </p:nvSpPr>
        <p:spPr>
          <a:xfrm>
            <a:off x="3657600" y="5689615"/>
            <a:ext cx="407304" cy="230832"/>
          </a:xfrm>
          <a:prstGeom prst="rect">
            <a:avLst/>
          </a:prstGeom>
          <a:noFill/>
        </p:spPr>
        <p:txBody>
          <a:bodyPr wrap="square" rtlCol="0">
            <a:spAutoFit/>
          </a:bodyPr>
          <a:lstStyle/>
          <a:p>
            <a:pPr>
              <a:buClr>
                <a:srgbClr val="00B050"/>
              </a:buClr>
            </a:pPr>
            <a:r>
              <a:rPr lang="en-US" sz="800"/>
              <a:t>$x</a:t>
            </a:r>
            <a:r>
              <a:rPr lang="en-US" sz="900"/>
              <a:t> </a:t>
            </a:r>
            <a:endParaRPr lang="en-US" sz="800"/>
          </a:p>
        </p:txBody>
      </p:sp>
      <p:sp>
        <p:nvSpPr>
          <p:cNvPr id="7" name="TextBox 6">
            <a:extLst>
              <a:ext uri="{FF2B5EF4-FFF2-40B4-BE49-F238E27FC236}">
                <a16:creationId xmlns:a16="http://schemas.microsoft.com/office/drawing/2014/main" id="{DF58E791-2B03-86AA-AA7F-D8C9620CE8B1}"/>
              </a:ext>
            </a:extLst>
          </p:cNvPr>
          <p:cNvSpPr txBox="1"/>
          <p:nvPr/>
        </p:nvSpPr>
        <p:spPr>
          <a:xfrm>
            <a:off x="3657600" y="5482934"/>
            <a:ext cx="407304" cy="230832"/>
          </a:xfrm>
          <a:prstGeom prst="rect">
            <a:avLst/>
          </a:prstGeom>
          <a:noFill/>
        </p:spPr>
        <p:txBody>
          <a:bodyPr wrap="square" rtlCol="0">
            <a:spAutoFit/>
          </a:bodyPr>
          <a:lstStyle/>
          <a:p>
            <a:pPr>
              <a:buClr>
                <a:srgbClr val="00B050"/>
              </a:buClr>
            </a:pPr>
            <a:r>
              <a:rPr lang="en-US" sz="800"/>
              <a:t>$x</a:t>
            </a:r>
            <a:r>
              <a:rPr lang="en-US" sz="900"/>
              <a:t> </a:t>
            </a:r>
            <a:endParaRPr lang="en-US" sz="800"/>
          </a:p>
        </p:txBody>
      </p:sp>
      <p:sp>
        <p:nvSpPr>
          <p:cNvPr id="8" name="TextBox 7">
            <a:extLst>
              <a:ext uri="{FF2B5EF4-FFF2-40B4-BE49-F238E27FC236}">
                <a16:creationId xmlns:a16="http://schemas.microsoft.com/office/drawing/2014/main" id="{1D0710BF-65DF-8D11-878F-0BECF0403697}"/>
              </a:ext>
            </a:extLst>
          </p:cNvPr>
          <p:cNvSpPr txBox="1"/>
          <p:nvPr/>
        </p:nvSpPr>
        <p:spPr>
          <a:xfrm>
            <a:off x="3657600" y="5260491"/>
            <a:ext cx="407304" cy="230832"/>
          </a:xfrm>
          <a:prstGeom prst="rect">
            <a:avLst/>
          </a:prstGeom>
          <a:noFill/>
        </p:spPr>
        <p:txBody>
          <a:bodyPr wrap="square" rtlCol="0">
            <a:spAutoFit/>
          </a:bodyPr>
          <a:lstStyle/>
          <a:p>
            <a:pPr>
              <a:buClr>
                <a:srgbClr val="00B050"/>
              </a:buClr>
            </a:pPr>
            <a:r>
              <a:rPr lang="en-US" sz="800"/>
              <a:t>N/A</a:t>
            </a:r>
            <a:r>
              <a:rPr lang="en-US" sz="900"/>
              <a:t> </a:t>
            </a:r>
            <a:endParaRPr lang="en-US" sz="800"/>
          </a:p>
        </p:txBody>
      </p:sp>
      <p:sp>
        <p:nvSpPr>
          <p:cNvPr id="13" name="Content Placeholder 4">
            <a:extLst>
              <a:ext uri="{FF2B5EF4-FFF2-40B4-BE49-F238E27FC236}">
                <a16:creationId xmlns:a16="http://schemas.microsoft.com/office/drawing/2014/main" id="{A1B7708E-6131-2941-25E3-4C1EC7F31C22}"/>
              </a:ext>
            </a:extLst>
          </p:cNvPr>
          <p:cNvSpPr txBox="1">
            <a:spLocks/>
          </p:cNvSpPr>
          <p:nvPr/>
        </p:nvSpPr>
        <p:spPr>
          <a:xfrm>
            <a:off x="2806834" y="2418795"/>
            <a:ext cx="5235055" cy="971643"/>
          </a:xfrm>
          <a:prstGeom prst="rect">
            <a:avLst/>
          </a:prstGeom>
        </p:spPr>
        <p:txBody>
          <a:bodyPr lIns="121725" tIns="60862" rIns="121725" bIns="60862"/>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pPr marL="0" indent="0">
              <a:buFont typeface="Arial"/>
              <a:buNone/>
            </a:pPr>
            <a:r>
              <a:rPr lang="pt-BR" sz="4400" err="1">
                <a:solidFill>
                  <a:srgbClr val="FF0000"/>
                </a:solidFill>
                <a:highlight>
                  <a:srgbClr val="FFFF00"/>
                </a:highlight>
              </a:rPr>
              <a:t>Example</a:t>
            </a:r>
            <a:r>
              <a:rPr lang="pt-BR" sz="4400">
                <a:solidFill>
                  <a:srgbClr val="FF0000"/>
                </a:solidFill>
                <a:highlight>
                  <a:srgbClr val="FFFF00"/>
                </a:highlight>
              </a:rPr>
              <a:t> </a:t>
            </a:r>
            <a:r>
              <a:rPr lang="pt-BR" sz="4400" err="1">
                <a:solidFill>
                  <a:srgbClr val="FF0000"/>
                </a:solidFill>
                <a:highlight>
                  <a:srgbClr val="FFFF00"/>
                </a:highlight>
              </a:rPr>
              <a:t>of</a:t>
            </a:r>
            <a:r>
              <a:rPr lang="pt-BR" sz="4400">
                <a:solidFill>
                  <a:srgbClr val="FF0000"/>
                </a:solidFill>
                <a:highlight>
                  <a:srgbClr val="FFFF00"/>
                </a:highlight>
              </a:rPr>
              <a:t> </a:t>
            </a:r>
            <a:r>
              <a:rPr lang="pt-BR" sz="4400" err="1">
                <a:solidFill>
                  <a:srgbClr val="FF0000"/>
                </a:solidFill>
                <a:highlight>
                  <a:srgbClr val="FFFF00"/>
                </a:highlight>
              </a:rPr>
              <a:t>filling</a:t>
            </a:r>
            <a:endParaRPr lang="en-US" sz="4400">
              <a:solidFill>
                <a:srgbClr val="FF0000"/>
              </a:solidFill>
              <a:highlight>
                <a:srgbClr val="FFFF00"/>
              </a:highlight>
            </a:endParaRPr>
          </a:p>
        </p:txBody>
      </p:sp>
    </p:spTree>
    <p:extLst>
      <p:ext uri="{BB962C8B-B14F-4D97-AF65-F5344CB8AC3E}">
        <p14:creationId xmlns:p14="http://schemas.microsoft.com/office/powerpoint/2010/main" val="2432198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0408C6D3-7180-80DE-E70C-312D561767B0}"/>
              </a:ext>
            </a:extLst>
          </p:cNvPr>
          <p:cNvSpPr txBox="1"/>
          <p:nvPr/>
        </p:nvSpPr>
        <p:spPr>
          <a:xfrm>
            <a:off x="339644" y="4308598"/>
            <a:ext cx="2057487" cy="1015663"/>
          </a:xfrm>
          <a:prstGeom prst="rect">
            <a:avLst/>
          </a:prstGeom>
          <a:noFill/>
        </p:spPr>
        <p:txBody>
          <a:bodyPr wrap="square">
            <a:spAutoFit/>
          </a:bodyPr>
          <a:lstStyle/>
          <a:p>
            <a:r>
              <a:rPr lang="pt-BR" sz="1000">
                <a:solidFill>
                  <a:schemeClr val="bg2">
                    <a:lumMod val="10000"/>
                  </a:schemeClr>
                </a:solidFill>
              </a:rPr>
              <a:t>RFP Release: </a:t>
            </a:r>
            <a:r>
              <a:rPr lang="pt-BR" sz="1000">
                <a:solidFill>
                  <a:srgbClr val="FF0000"/>
                </a:solidFill>
              </a:rPr>
              <a:t>XX/XX/XX</a:t>
            </a:r>
          </a:p>
          <a:p>
            <a:endParaRPr lang="pt-BR" sz="1000">
              <a:solidFill>
                <a:schemeClr val="bg2">
                  <a:lumMod val="10000"/>
                </a:schemeClr>
              </a:solidFill>
            </a:endParaRPr>
          </a:p>
          <a:p>
            <a:r>
              <a:rPr lang="pt-BR" sz="1000" err="1">
                <a:solidFill>
                  <a:schemeClr val="bg2">
                    <a:lumMod val="10000"/>
                  </a:schemeClr>
                </a:solidFill>
              </a:rPr>
              <a:t>Pre-proposal</a:t>
            </a:r>
            <a:r>
              <a:rPr lang="pt-BR" sz="1000">
                <a:solidFill>
                  <a:schemeClr val="bg2">
                    <a:lumMod val="10000"/>
                  </a:schemeClr>
                </a:solidFill>
              </a:rPr>
              <a:t> Meeting: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a:p>
            <a:r>
              <a:rPr lang="pt-BR" sz="1000">
                <a:solidFill>
                  <a:schemeClr val="bg2">
                    <a:lumMod val="10000"/>
                  </a:schemeClr>
                </a:solidFill>
              </a:rPr>
              <a:t>Q&amp;A/RFI Deadlines: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p:txBody>
      </p:sp>
      <p:sp>
        <p:nvSpPr>
          <p:cNvPr id="7" name="Rectangle 19">
            <a:extLst>
              <a:ext uri="{FF2B5EF4-FFF2-40B4-BE49-F238E27FC236}">
                <a16:creationId xmlns:a16="http://schemas.microsoft.com/office/drawing/2014/main" id="{CAC9185A-21AD-7969-5686-2867C4C50E86}"/>
              </a:ext>
            </a:extLst>
          </p:cNvPr>
          <p:cNvSpPr/>
          <p:nvPr/>
        </p:nvSpPr>
        <p:spPr>
          <a:xfrm>
            <a:off x="303173" y="4216388"/>
            <a:ext cx="5101894" cy="1107873"/>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10" name="TextBox 25">
            <a:extLst>
              <a:ext uri="{FF2B5EF4-FFF2-40B4-BE49-F238E27FC236}">
                <a16:creationId xmlns:a16="http://schemas.microsoft.com/office/drawing/2014/main" id="{C84D756B-15A7-B677-2D69-7411AD7BE46C}"/>
              </a:ext>
            </a:extLst>
          </p:cNvPr>
          <p:cNvSpPr txBox="1"/>
          <p:nvPr/>
        </p:nvSpPr>
        <p:spPr>
          <a:xfrm>
            <a:off x="224925" y="3965930"/>
            <a:ext cx="3131603" cy="246221"/>
          </a:xfrm>
          <a:prstGeom prst="rect">
            <a:avLst/>
          </a:prstGeom>
          <a:noFill/>
        </p:spPr>
        <p:txBody>
          <a:bodyPr wrap="square" lIns="91214" tIns="0" rIns="91214" bIns="0" rtlCol="0">
            <a:spAutoFit/>
          </a:bodyPr>
          <a:lstStyle/>
          <a:p>
            <a:pPr defTabSz="912114" fontAlgn="auto">
              <a:spcBef>
                <a:spcPts val="0"/>
              </a:spcBef>
              <a:spcAft>
                <a:spcPts val="0"/>
              </a:spcAft>
            </a:pPr>
            <a:r>
              <a:rPr lang="pt-BR" sz="1600" b="1">
                <a:latin typeface="GE Inspira Sans"/>
                <a:cs typeface="+mn-cs"/>
              </a:rPr>
              <a:t>KEY DATES</a:t>
            </a:r>
            <a:endParaRPr lang="en-US" sz="1600" b="1">
              <a:latin typeface="GE Inspira Sans"/>
              <a:cs typeface="+mn-cs"/>
            </a:endParaRPr>
          </a:p>
        </p:txBody>
      </p:sp>
      <p:sp>
        <p:nvSpPr>
          <p:cNvPr id="12" name="CaixaDeTexto 11">
            <a:extLst>
              <a:ext uri="{FF2B5EF4-FFF2-40B4-BE49-F238E27FC236}">
                <a16:creationId xmlns:a16="http://schemas.microsoft.com/office/drawing/2014/main" id="{7E7CE4E4-4039-3726-6E41-7A3C3B4F501D}"/>
              </a:ext>
            </a:extLst>
          </p:cNvPr>
          <p:cNvSpPr txBox="1"/>
          <p:nvPr/>
        </p:nvSpPr>
        <p:spPr>
          <a:xfrm>
            <a:off x="3152895" y="4269610"/>
            <a:ext cx="2356313" cy="861774"/>
          </a:xfrm>
          <a:prstGeom prst="rect">
            <a:avLst/>
          </a:prstGeom>
          <a:noFill/>
        </p:spPr>
        <p:txBody>
          <a:bodyPr wrap="square">
            <a:spAutoFit/>
          </a:bodyPr>
          <a:lstStyle/>
          <a:p>
            <a:r>
              <a:rPr lang="pt-BR" sz="1000" err="1">
                <a:solidFill>
                  <a:schemeClr val="bg2">
                    <a:lumMod val="10000"/>
                  </a:schemeClr>
                </a:solidFill>
              </a:rPr>
              <a:t>Wabtec’s</a:t>
            </a:r>
            <a:r>
              <a:rPr lang="pt-BR" sz="1000">
                <a:solidFill>
                  <a:schemeClr val="bg2">
                    <a:lumMod val="10000"/>
                  </a:schemeClr>
                </a:solidFill>
              </a:rPr>
              <a:t> </a:t>
            </a:r>
            <a:r>
              <a:rPr lang="pt-BR" sz="1000" err="1">
                <a:solidFill>
                  <a:schemeClr val="bg2">
                    <a:lumMod val="10000"/>
                  </a:schemeClr>
                </a:solidFill>
              </a:rPr>
              <a:t>Proposal</a:t>
            </a:r>
            <a:r>
              <a:rPr lang="pt-BR" sz="1000">
                <a:solidFill>
                  <a:schemeClr val="bg2">
                    <a:lumMod val="10000"/>
                  </a:schemeClr>
                </a:solidFill>
              </a:rPr>
              <a:t> </a:t>
            </a:r>
            <a:r>
              <a:rPr lang="pt-BR" sz="1000" err="1">
                <a:solidFill>
                  <a:schemeClr val="bg2">
                    <a:lumMod val="10000"/>
                  </a:schemeClr>
                </a:solidFill>
              </a:rPr>
              <a:t>Due</a:t>
            </a:r>
            <a:r>
              <a:rPr lang="pt-BR" sz="1000">
                <a:solidFill>
                  <a:schemeClr val="bg2">
                    <a:lumMod val="10000"/>
                  </a:schemeClr>
                </a:solidFill>
              </a:rPr>
              <a:t>: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a:p>
            <a:r>
              <a:rPr lang="pt-BR" sz="1000" err="1">
                <a:solidFill>
                  <a:schemeClr val="bg2">
                    <a:lumMod val="10000"/>
                  </a:schemeClr>
                </a:solidFill>
              </a:rPr>
              <a:t>Proposal</a:t>
            </a:r>
            <a:r>
              <a:rPr lang="pt-BR" sz="1000">
                <a:solidFill>
                  <a:schemeClr val="bg2">
                    <a:lumMod val="10000"/>
                  </a:schemeClr>
                </a:solidFill>
              </a:rPr>
              <a:t> </a:t>
            </a:r>
            <a:r>
              <a:rPr lang="pt-BR" sz="1000" err="1">
                <a:solidFill>
                  <a:schemeClr val="bg2">
                    <a:lumMod val="10000"/>
                  </a:schemeClr>
                </a:solidFill>
              </a:rPr>
              <a:t>Due</a:t>
            </a:r>
            <a:r>
              <a:rPr lang="pt-BR" sz="1000">
                <a:solidFill>
                  <a:schemeClr val="bg2">
                    <a:lumMod val="10000"/>
                  </a:schemeClr>
                </a:solidFill>
              </a:rPr>
              <a:t>: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a:p>
            <a:r>
              <a:rPr lang="pt-BR" sz="1000" err="1">
                <a:solidFill>
                  <a:schemeClr val="bg2">
                    <a:lumMod val="10000"/>
                  </a:schemeClr>
                </a:solidFill>
              </a:rPr>
              <a:t>Anticipated</a:t>
            </a:r>
            <a:r>
              <a:rPr lang="pt-BR" sz="1000">
                <a:solidFill>
                  <a:schemeClr val="bg2">
                    <a:lumMod val="10000"/>
                  </a:schemeClr>
                </a:solidFill>
              </a:rPr>
              <a:t> </a:t>
            </a:r>
            <a:r>
              <a:rPr lang="pt-BR" sz="1000" err="1">
                <a:solidFill>
                  <a:schemeClr val="bg2">
                    <a:lumMod val="10000"/>
                  </a:schemeClr>
                </a:solidFill>
              </a:rPr>
              <a:t>Award</a:t>
            </a:r>
            <a:r>
              <a:rPr lang="pt-BR" sz="1000">
                <a:solidFill>
                  <a:schemeClr val="bg2">
                    <a:lumMod val="10000"/>
                  </a:schemeClr>
                </a:solidFill>
              </a:rPr>
              <a:t>: </a:t>
            </a:r>
            <a:r>
              <a:rPr lang="pt-BR" sz="1000">
                <a:solidFill>
                  <a:srgbClr val="FF0000"/>
                </a:solidFill>
              </a:rPr>
              <a:t>XX/XX/XX</a:t>
            </a:r>
          </a:p>
        </p:txBody>
      </p:sp>
      <p:sp>
        <p:nvSpPr>
          <p:cNvPr id="13" name="TextBox 29">
            <a:extLst>
              <a:ext uri="{FF2B5EF4-FFF2-40B4-BE49-F238E27FC236}">
                <a16:creationId xmlns:a16="http://schemas.microsoft.com/office/drawing/2014/main" id="{40983FC5-26C6-DF0B-231B-F39D7E8747E7}"/>
              </a:ext>
            </a:extLst>
          </p:cNvPr>
          <p:cNvSpPr txBox="1"/>
          <p:nvPr/>
        </p:nvSpPr>
        <p:spPr>
          <a:xfrm>
            <a:off x="275323" y="5840734"/>
            <a:ext cx="6080760" cy="246221"/>
          </a:xfrm>
          <a:prstGeom prst="rect">
            <a:avLst/>
          </a:prstGeom>
          <a:noFill/>
        </p:spPr>
        <p:txBody>
          <a:bodyPr wrap="square" rtlCol="0">
            <a:spAutoFit/>
          </a:bodyPr>
          <a:lstStyle/>
          <a:p>
            <a:r>
              <a:rPr lang="pt-BR" sz="1000" err="1">
                <a:solidFill>
                  <a:schemeClr val="bg2">
                    <a:lumMod val="10000"/>
                  </a:schemeClr>
                </a:solidFill>
              </a:rPr>
              <a:t>Project’s</a:t>
            </a:r>
            <a:r>
              <a:rPr lang="pt-BR" sz="1000">
                <a:solidFill>
                  <a:schemeClr val="bg2">
                    <a:lumMod val="10000"/>
                  </a:schemeClr>
                </a:solidFill>
              </a:rPr>
              <a:t> folder </a:t>
            </a:r>
            <a:r>
              <a:rPr lang="pt-BR" sz="1000" err="1">
                <a:solidFill>
                  <a:schemeClr val="bg2">
                    <a:lumMod val="10000"/>
                  </a:schemeClr>
                </a:solidFill>
              </a:rPr>
              <a:t>on</a:t>
            </a:r>
            <a:r>
              <a:rPr lang="pt-BR" sz="1000">
                <a:solidFill>
                  <a:schemeClr val="bg2">
                    <a:lumMod val="10000"/>
                  </a:schemeClr>
                </a:solidFill>
              </a:rPr>
              <a:t> Teams: </a:t>
            </a:r>
            <a:r>
              <a:rPr lang="pt-BR" sz="1000">
                <a:solidFill>
                  <a:srgbClr val="FF0000"/>
                </a:solidFill>
              </a:rPr>
              <a:t>Sharepoint/Teams Link</a:t>
            </a:r>
            <a:endParaRPr lang="en-US" sz="1000">
              <a:solidFill>
                <a:srgbClr val="FF0000"/>
              </a:solidFill>
            </a:endParaRPr>
          </a:p>
        </p:txBody>
      </p:sp>
      <p:sp>
        <p:nvSpPr>
          <p:cNvPr id="31" name="TextBox 21">
            <a:extLst>
              <a:ext uri="{FF2B5EF4-FFF2-40B4-BE49-F238E27FC236}">
                <a16:creationId xmlns:a16="http://schemas.microsoft.com/office/drawing/2014/main" id="{E77DCEDC-05E8-6C38-5808-0F046D654EC3}"/>
              </a:ext>
            </a:extLst>
          </p:cNvPr>
          <p:cNvSpPr txBox="1"/>
          <p:nvPr/>
        </p:nvSpPr>
        <p:spPr>
          <a:xfrm>
            <a:off x="231361" y="1086831"/>
            <a:ext cx="2696564"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ADDITIONAL PROPOSAL INFO</a:t>
            </a:r>
          </a:p>
        </p:txBody>
      </p:sp>
      <p:sp>
        <p:nvSpPr>
          <p:cNvPr id="32" name="TextBox 10">
            <a:extLst>
              <a:ext uri="{FF2B5EF4-FFF2-40B4-BE49-F238E27FC236}">
                <a16:creationId xmlns:a16="http://schemas.microsoft.com/office/drawing/2014/main" id="{67616FA1-5A64-4403-42C9-ECAE5344F8C1}"/>
              </a:ext>
            </a:extLst>
          </p:cNvPr>
          <p:cNvSpPr txBox="1"/>
          <p:nvPr/>
        </p:nvSpPr>
        <p:spPr>
          <a:xfrm>
            <a:off x="416535" y="1447257"/>
            <a:ext cx="4988532" cy="2246769"/>
          </a:xfrm>
          <a:prstGeom prst="rect">
            <a:avLst/>
          </a:prstGeom>
          <a:noFill/>
        </p:spPr>
        <p:txBody>
          <a:bodyPr wrap="square" rtlCol="0">
            <a:spAutoFit/>
          </a:bodyPr>
          <a:lstStyle/>
          <a:p>
            <a:pPr marL="285750" indent="-285750">
              <a:buFont typeface="Arial" panose="020B0604020202020204" pitchFamily="34" charset="0"/>
              <a:buChar char="•"/>
            </a:pPr>
            <a:r>
              <a:rPr lang="pt-BR" sz="1000" err="1">
                <a:solidFill>
                  <a:schemeClr val="bg2">
                    <a:lumMod val="10000"/>
                  </a:schemeClr>
                </a:solidFill>
              </a:rPr>
              <a:t>Type</a:t>
            </a:r>
            <a:r>
              <a:rPr lang="pt-BR" sz="1000">
                <a:solidFill>
                  <a:schemeClr val="bg2">
                    <a:lumMod val="10000"/>
                  </a:schemeClr>
                </a:solidFill>
              </a:rPr>
              <a:t> </a:t>
            </a:r>
            <a:r>
              <a:rPr lang="pt-BR" sz="1000" err="1">
                <a:solidFill>
                  <a:schemeClr val="bg2">
                    <a:lumMod val="10000"/>
                  </a:schemeClr>
                </a:solidFill>
              </a:rPr>
              <a:t>of</a:t>
            </a:r>
            <a:r>
              <a:rPr lang="pt-BR" sz="1000">
                <a:solidFill>
                  <a:schemeClr val="bg2">
                    <a:lumMod val="10000"/>
                  </a:schemeClr>
                </a:solidFill>
              </a:rPr>
              <a:t> </a:t>
            </a:r>
            <a:r>
              <a:rPr lang="pt-BR" sz="1000" err="1">
                <a:solidFill>
                  <a:schemeClr val="bg2">
                    <a:lumMod val="10000"/>
                  </a:schemeClr>
                </a:solidFill>
              </a:rPr>
              <a:t>Bid</a:t>
            </a:r>
            <a:r>
              <a:rPr lang="pt-BR" sz="1000">
                <a:solidFill>
                  <a:schemeClr val="bg2">
                    <a:lumMod val="10000"/>
                  </a:schemeClr>
                </a:solidFill>
              </a:rPr>
              <a:t>: </a:t>
            </a:r>
            <a:r>
              <a:rPr lang="pt-BR" sz="1000">
                <a:solidFill>
                  <a:srgbClr val="FF0000"/>
                </a:solidFill>
              </a:rPr>
              <a:t>(</a:t>
            </a:r>
            <a:r>
              <a:rPr lang="pt-BR" sz="1000" err="1">
                <a:solidFill>
                  <a:srgbClr val="FF0000"/>
                </a:solidFill>
              </a:rPr>
              <a:t>Firm</a:t>
            </a:r>
            <a:r>
              <a:rPr lang="pt-BR" sz="1000">
                <a:solidFill>
                  <a:srgbClr val="FF0000"/>
                </a:solidFill>
              </a:rPr>
              <a:t> </a:t>
            </a:r>
            <a:r>
              <a:rPr lang="pt-BR" sz="1000" err="1">
                <a:solidFill>
                  <a:srgbClr val="FF0000"/>
                </a:solidFill>
              </a:rPr>
              <a:t>Fixed</a:t>
            </a:r>
            <a:r>
              <a:rPr lang="pt-BR" sz="1000">
                <a:solidFill>
                  <a:srgbClr val="FF0000"/>
                </a:solidFill>
              </a:rPr>
              <a:t> </a:t>
            </a:r>
            <a:r>
              <a:rPr lang="pt-BR" sz="1000" err="1">
                <a:solidFill>
                  <a:srgbClr val="FF0000"/>
                </a:solidFill>
              </a:rPr>
              <a:t>Price</a:t>
            </a:r>
            <a:r>
              <a:rPr lang="pt-BR" sz="1000">
                <a:solidFill>
                  <a:srgbClr val="FF0000"/>
                </a:solidFill>
              </a:rPr>
              <a:t>, Time/Material (T&amp;M), Design-build, ROM, ...)</a:t>
            </a:r>
          </a:p>
          <a:p>
            <a:endParaRPr lang="pt-BR" sz="1000">
              <a:solidFill>
                <a:srgbClr val="FF0000"/>
              </a:solidFill>
            </a:endParaRPr>
          </a:p>
          <a:p>
            <a:pPr marL="285750" indent="-285750">
              <a:buFont typeface="Arial" panose="020B0604020202020204" pitchFamily="34" charset="0"/>
              <a:buChar char="•"/>
            </a:pPr>
            <a:r>
              <a:rPr lang="pt-BR" sz="1000" err="1">
                <a:solidFill>
                  <a:schemeClr val="bg2">
                    <a:lumMod val="10000"/>
                  </a:schemeClr>
                </a:solidFill>
              </a:rPr>
              <a:t>Pre-Bid</a:t>
            </a:r>
            <a:r>
              <a:rPr lang="pt-BR" sz="1000">
                <a:solidFill>
                  <a:schemeClr val="bg2">
                    <a:lumMod val="10000"/>
                  </a:schemeClr>
                </a:solidFill>
              </a:rPr>
              <a:t> </a:t>
            </a:r>
            <a:r>
              <a:rPr lang="pt-BR" sz="1000" err="1">
                <a:solidFill>
                  <a:schemeClr val="bg2">
                    <a:lumMod val="10000"/>
                  </a:schemeClr>
                </a:solidFill>
              </a:rPr>
              <a:t>info</a:t>
            </a:r>
            <a:r>
              <a:rPr lang="pt-BR" sz="1000">
                <a:solidFill>
                  <a:schemeClr val="bg2">
                    <a:lumMod val="10000"/>
                  </a:schemeClr>
                </a:solidFill>
              </a:rPr>
              <a:t>: </a:t>
            </a:r>
            <a:r>
              <a:rPr lang="pt-BR" sz="1000">
                <a:solidFill>
                  <a:srgbClr val="FF0000"/>
                </a:solidFill>
              </a:rPr>
              <a:t>Design Status (0%, 30%, Complete, ...) </a:t>
            </a:r>
          </a:p>
          <a:p>
            <a:endParaRPr lang="pt-BR" sz="1000">
              <a:solidFill>
                <a:schemeClr val="bg2">
                  <a:lumMod val="10000"/>
                </a:schemeClr>
              </a:solidFill>
            </a:endParaRPr>
          </a:p>
          <a:p>
            <a:pPr marL="285750" indent="-285750">
              <a:buFont typeface="Arial" panose="020B0604020202020204" pitchFamily="34" charset="0"/>
              <a:buChar char="•"/>
            </a:pPr>
            <a:r>
              <a:rPr lang="pt-BR" sz="1000">
                <a:solidFill>
                  <a:schemeClr val="bg2">
                    <a:lumMod val="10000"/>
                  </a:schemeClr>
                </a:solidFill>
              </a:rPr>
              <a:t>Site </a:t>
            </a:r>
            <a:r>
              <a:rPr lang="pt-BR" sz="1000" err="1">
                <a:solidFill>
                  <a:schemeClr val="bg2">
                    <a:lumMod val="10000"/>
                  </a:schemeClr>
                </a:solidFill>
              </a:rPr>
              <a:t>survey</a:t>
            </a:r>
            <a:r>
              <a:rPr lang="pt-BR" sz="1000">
                <a:solidFill>
                  <a:schemeClr val="bg2">
                    <a:lumMod val="10000"/>
                  </a:schemeClr>
                </a:solidFill>
              </a:rPr>
              <a:t> </a:t>
            </a:r>
            <a:r>
              <a:rPr lang="pt-BR" sz="1000" err="1">
                <a:solidFill>
                  <a:schemeClr val="bg2">
                    <a:lumMod val="10000"/>
                  </a:schemeClr>
                </a:solidFill>
              </a:rPr>
              <a:t>info</a:t>
            </a:r>
            <a:r>
              <a:rPr lang="pt-BR" sz="1000">
                <a:solidFill>
                  <a:schemeClr val="bg2">
                    <a:lumMod val="10000"/>
                  </a:schemeClr>
                </a:solidFill>
              </a:rPr>
              <a:t>:</a:t>
            </a:r>
          </a:p>
          <a:p>
            <a:endParaRPr lang="pt-BR" sz="1000">
              <a:solidFill>
                <a:schemeClr val="bg2">
                  <a:lumMod val="10000"/>
                </a:schemeClr>
              </a:solidFill>
            </a:endParaRPr>
          </a:p>
          <a:p>
            <a:pPr marL="285750" indent="-285750">
              <a:buFont typeface="Arial" panose="020B0604020202020204" pitchFamily="34" charset="0"/>
              <a:buChar char="•"/>
            </a:pPr>
            <a:r>
              <a:rPr lang="pt-BR" sz="1000" err="1">
                <a:solidFill>
                  <a:schemeClr val="bg2">
                    <a:lumMod val="10000"/>
                  </a:schemeClr>
                </a:solidFill>
              </a:rPr>
              <a:t>Applicable</a:t>
            </a:r>
            <a:r>
              <a:rPr lang="pt-BR" sz="1000">
                <a:solidFill>
                  <a:schemeClr val="bg2">
                    <a:lumMod val="10000"/>
                  </a:schemeClr>
                </a:solidFill>
              </a:rPr>
              <a:t> </a:t>
            </a:r>
            <a:r>
              <a:rPr lang="pt-BR" sz="1000" err="1">
                <a:solidFill>
                  <a:schemeClr val="bg2">
                    <a:lumMod val="10000"/>
                  </a:schemeClr>
                </a:solidFill>
              </a:rPr>
              <a:t>laws</a:t>
            </a:r>
            <a:r>
              <a:rPr lang="pt-BR" sz="1000">
                <a:solidFill>
                  <a:schemeClr val="bg2">
                    <a:lumMod val="10000"/>
                  </a:schemeClr>
                </a:solidFill>
              </a:rPr>
              <a:t>/</a:t>
            </a:r>
            <a:r>
              <a:rPr lang="pt-BR" sz="1000" err="1">
                <a:solidFill>
                  <a:schemeClr val="bg2">
                    <a:lumMod val="10000"/>
                  </a:schemeClr>
                </a:solidFill>
              </a:rPr>
              <a:t>regulations</a:t>
            </a:r>
            <a:r>
              <a:rPr lang="pt-BR" sz="1000">
                <a:solidFill>
                  <a:schemeClr val="bg2">
                    <a:lumMod val="10000"/>
                  </a:schemeClr>
                </a:solidFill>
              </a:rPr>
              <a:t>: </a:t>
            </a:r>
            <a:r>
              <a:rPr lang="pt-BR" sz="1000">
                <a:solidFill>
                  <a:srgbClr val="FF0000"/>
                </a:solidFill>
              </a:rPr>
              <a:t>(</a:t>
            </a:r>
            <a:r>
              <a:rPr lang="pt-BR" sz="1000" err="1">
                <a:solidFill>
                  <a:srgbClr val="FF0000"/>
                </a:solidFill>
              </a:rPr>
              <a:t>Buy</a:t>
            </a:r>
            <a:r>
              <a:rPr lang="pt-BR" sz="1000">
                <a:solidFill>
                  <a:srgbClr val="FF0000"/>
                </a:solidFill>
              </a:rPr>
              <a:t> </a:t>
            </a:r>
            <a:r>
              <a:rPr lang="pt-BR" sz="1000" err="1">
                <a:solidFill>
                  <a:srgbClr val="FF0000"/>
                </a:solidFill>
              </a:rPr>
              <a:t>America</a:t>
            </a:r>
            <a:r>
              <a:rPr lang="pt-BR" sz="1000">
                <a:solidFill>
                  <a:srgbClr val="FF0000"/>
                </a:solidFill>
              </a:rPr>
              <a:t>, Davis Bacon, FRA, FTA, USDOT, ...)</a:t>
            </a:r>
          </a:p>
          <a:p>
            <a:pPr marL="285750" indent="-285750">
              <a:buFont typeface="Arial" panose="020B0604020202020204" pitchFamily="34" charset="0"/>
              <a:buChar char="•"/>
            </a:pPr>
            <a:endParaRPr lang="pt-BR" sz="1000">
              <a:solidFill>
                <a:srgbClr val="FF0000"/>
              </a:solidFill>
            </a:endParaRPr>
          </a:p>
          <a:p>
            <a:pPr marL="285750" indent="-285750">
              <a:buFont typeface="Arial" panose="020B0604020202020204" pitchFamily="34" charset="0"/>
              <a:buChar char="•"/>
            </a:pPr>
            <a:r>
              <a:rPr lang="pt-BR" sz="1000" err="1">
                <a:solidFill>
                  <a:schemeClr val="bg2">
                    <a:lumMod val="10000"/>
                  </a:schemeClr>
                </a:solidFill>
              </a:rPr>
              <a:t>Validity</a:t>
            </a:r>
            <a:endParaRPr lang="pt-BR" sz="1000">
              <a:solidFill>
                <a:schemeClr val="bg2">
                  <a:lumMod val="10000"/>
                </a:schemeClr>
              </a:solidFill>
            </a:endParaRPr>
          </a:p>
          <a:p>
            <a:pPr marL="285750" indent="-285750">
              <a:buFont typeface="Arial" panose="020B0604020202020204" pitchFamily="34" charset="0"/>
              <a:buChar char="•"/>
            </a:pPr>
            <a:endParaRPr lang="pt-BR" sz="1000">
              <a:solidFill>
                <a:schemeClr val="bg2">
                  <a:lumMod val="10000"/>
                </a:schemeClr>
              </a:solidFill>
            </a:endParaRPr>
          </a:p>
          <a:p>
            <a:pPr marL="285750" indent="-285750">
              <a:buFont typeface="Arial" panose="020B0604020202020204" pitchFamily="34" charset="0"/>
              <a:buChar char="•"/>
            </a:pPr>
            <a:r>
              <a:rPr lang="en-US" sz="1000">
                <a:solidFill>
                  <a:schemeClr val="bg2">
                    <a:lumMod val="10000"/>
                  </a:schemeClr>
                </a:solidFill>
              </a:rPr>
              <a:t>Required Taxes, Insurance, and Bond</a:t>
            </a:r>
          </a:p>
          <a:p>
            <a:endParaRPr lang="en-US" sz="1000">
              <a:solidFill>
                <a:schemeClr val="bg2">
                  <a:lumMod val="10000"/>
                </a:schemeClr>
              </a:solidFill>
            </a:endParaRPr>
          </a:p>
          <a:p>
            <a:pPr marL="285750" indent="-285750">
              <a:buFont typeface="Arial" panose="020B0604020202020204" pitchFamily="34" charset="0"/>
              <a:buChar char="•"/>
            </a:pPr>
            <a:r>
              <a:rPr lang="en-US" sz="1000">
                <a:solidFill>
                  <a:schemeClr val="bg2">
                    <a:lumMod val="10000"/>
                  </a:schemeClr>
                </a:solidFill>
              </a:rPr>
              <a:t>CATO or CARA process required?</a:t>
            </a:r>
            <a:endParaRPr lang="pt-BR" sz="1000">
              <a:solidFill>
                <a:schemeClr val="bg2">
                  <a:lumMod val="10000"/>
                </a:schemeClr>
              </a:solidFill>
            </a:endParaRPr>
          </a:p>
          <a:p>
            <a:endParaRPr lang="pt-BR" sz="1000">
              <a:solidFill>
                <a:srgbClr val="FF0000"/>
              </a:solidFill>
            </a:endParaRPr>
          </a:p>
        </p:txBody>
      </p:sp>
      <p:sp>
        <p:nvSpPr>
          <p:cNvPr id="33" name="Rectangle 18">
            <a:extLst>
              <a:ext uri="{FF2B5EF4-FFF2-40B4-BE49-F238E27FC236}">
                <a16:creationId xmlns:a16="http://schemas.microsoft.com/office/drawing/2014/main" id="{740F031A-5257-D70E-E607-3C2F2DDF7A57}"/>
              </a:ext>
            </a:extLst>
          </p:cNvPr>
          <p:cNvSpPr/>
          <p:nvPr/>
        </p:nvSpPr>
        <p:spPr>
          <a:xfrm>
            <a:off x="339644" y="1332940"/>
            <a:ext cx="5065423" cy="2401860"/>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4" name="Rectangle 2">
            <a:extLst>
              <a:ext uri="{FF2B5EF4-FFF2-40B4-BE49-F238E27FC236}">
                <a16:creationId xmlns:a16="http://schemas.microsoft.com/office/drawing/2014/main" id="{BE91E47F-30BF-7A4E-DF0D-2ECC2497222C}"/>
              </a:ext>
            </a:extLst>
          </p:cNvPr>
          <p:cNvSpPr>
            <a:spLocks noChangeArrowheads="1"/>
          </p:cNvSpPr>
          <p:nvPr/>
        </p:nvSpPr>
        <p:spPr bwMode="auto">
          <a:xfrm>
            <a:off x="5217133" y="418910"/>
            <a:ext cx="39434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indent="0" defTabSz="914400" eaLnBrk="0" hangingPunct="0"/>
            <a:r>
              <a:rPr kumimoji="0" lang="en-US" altLang="en-US" sz="1600" b="1" i="0" u="none" strike="noStrike" cap="none" normalizeH="0" baseline="0">
                <a:ln>
                  <a:noFill/>
                </a:ln>
                <a:solidFill>
                  <a:schemeClr val="tx1"/>
                </a:solidFill>
                <a:effectLst/>
                <a:latin typeface="GE Inspira Sans"/>
                <a:ea typeface="Calibri" panose="020F0502020204030204" pitchFamily="34" charset="0"/>
                <a:cs typeface="Calibri" panose="020F0502020204030204" pitchFamily="34" charset="0"/>
              </a:rPr>
              <a:t>ROLES AND RESPONSIBILITIES</a:t>
            </a:r>
            <a:endParaRPr kumimoji="0" lang="en-US" altLang="en-US" sz="1600" b="0" i="0" u="none" strike="noStrike" cap="none" normalizeH="0" baseline="0">
              <a:ln>
                <a:noFill/>
              </a:ln>
              <a:solidFill>
                <a:schemeClr val="tx1"/>
              </a:solidFill>
              <a:effectLst/>
              <a:latin typeface="GE Inspira Sans"/>
            </a:endParaRPr>
          </a:p>
        </p:txBody>
      </p:sp>
      <p:graphicFrame>
        <p:nvGraphicFramePr>
          <p:cNvPr id="9" name="Tabela 8">
            <a:extLst>
              <a:ext uri="{FF2B5EF4-FFF2-40B4-BE49-F238E27FC236}">
                <a16:creationId xmlns:a16="http://schemas.microsoft.com/office/drawing/2014/main" id="{F8BF314A-F64B-462F-1DF7-C74231641794}"/>
              </a:ext>
            </a:extLst>
          </p:cNvPr>
          <p:cNvGraphicFramePr>
            <a:graphicFrameLocks noGrp="1"/>
          </p:cNvGraphicFramePr>
          <p:nvPr>
            <p:extLst>
              <p:ext uri="{D42A27DB-BD31-4B8C-83A1-F6EECF244321}">
                <p14:modId xmlns:p14="http://schemas.microsoft.com/office/powerpoint/2010/main" val="3603643485"/>
              </p:ext>
            </p:extLst>
          </p:nvPr>
        </p:nvGraphicFramePr>
        <p:xfrm>
          <a:off x="5907505" y="738626"/>
          <a:ext cx="5563699" cy="2952712"/>
        </p:xfrm>
        <a:graphic>
          <a:graphicData uri="http://schemas.openxmlformats.org/drawingml/2006/table">
            <a:tbl>
              <a:tblPr firstRow="1" firstCol="1" bandRow="1"/>
              <a:tblGrid>
                <a:gridCol w="3399452">
                  <a:extLst>
                    <a:ext uri="{9D8B030D-6E8A-4147-A177-3AD203B41FA5}">
                      <a16:colId xmlns:a16="http://schemas.microsoft.com/office/drawing/2014/main" val="2027353555"/>
                    </a:ext>
                  </a:extLst>
                </a:gridCol>
                <a:gridCol w="1199698">
                  <a:extLst>
                    <a:ext uri="{9D8B030D-6E8A-4147-A177-3AD203B41FA5}">
                      <a16:colId xmlns:a16="http://schemas.microsoft.com/office/drawing/2014/main" val="2567704708"/>
                    </a:ext>
                  </a:extLst>
                </a:gridCol>
                <a:gridCol w="964549">
                  <a:extLst>
                    <a:ext uri="{9D8B030D-6E8A-4147-A177-3AD203B41FA5}">
                      <a16:colId xmlns:a16="http://schemas.microsoft.com/office/drawing/2014/main" val="2682274165"/>
                    </a:ext>
                  </a:extLst>
                </a:gridCol>
              </a:tblGrid>
              <a:tr h="245170">
                <a:tc>
                  <a:txBody>
                    <a:bodyPr/>
                    <a:lstStyle/>
                    <a:p>
                      <a:pPr algn="ctr">
                        <a:lnSpc>
                          <a:spcPct val="107000"/>
                        </a:lnSpc>
                        <a:spcAft>
                          <a:spcPts val="800"/>
                        </a:spcAft>
                      </a:pPr>
                      <a:r>
                        <a:rPr lang="pt-BR" sz="1000" b="1" err="1">
                          <a:solidFill>
                            <a:srgbClr val="000000"/>
                          </a:solidFill>
                          <a:effectLst/>
                          <a:latin typeface="+mn-lt"/>
                          <a:ea typeface="Times New Roman" panose="02020603050405020304" pitchFamily="18" charset="0"/>
                          <a:cs typeface="Calibri" panose="020F0502020204030204" pitchFamily="34" charset="0"/>
                        </a:rPr>
                        <a:t>Scope</a:t>
                      </a:r>
                      <a:r>
                        <a:rPr lang="pt-BR" sz="1000" b="1">
                          <a:solidFill>
                            <a:srgbClr val="000000"/>
                          </a:solidFill>
                          <a:effectLst/>
                          <a:latin typeface="+mn-lt"/>
                          <a:ea typeface="Times New Roman" panose="02020603050405020304" pitchFamily="18" charset="0"/>
                          <a:cs typeface="Calibri" panose="020F0502020204030204" pitchFamily="34" charset="0"/>
                        </a:rPr>
                        <a:t> </a:t>
                      </a:r>
                      <a:r>
                        <a:rPr lang="pt-BR" sz="1000" b="1" err="1">
                          <a:solidFill>
                            <a:srgbClr val="000000"/>
                          </a:solidFill>
                          <a:effectLst/>
                          <a:latin typeface="+mn-lt"/>
                          <a:ea typeface="Times New Roman" panose="02020603050405020304" pitchFamily="18" charset="0"/>
                          <a:cs typeface="Calibri" panose="020F0502020204030204" pitchFamily="34" charset="0"/>
                        </a:rPr>
                        <a:t>of</a:t>
                      </a:r>
                      <a:r>
                        <a:rPr lang="pt-BR" sz="1000" b="1">
                          <a:solidFill>
                            <a:srgbClr val="000000"/>
                          </a:solidFill>
                          <a:effectLst/>
                          <a:latin typeface="+mn-lt"/>
                          <a:ea typeface="Times New Roman" panose="02020603050405020304" pitchFamily="18" charset="0"/>
                          <a:cs typeface="Calibri" panose="020F0502020204030204" pitchFamily="34" charset="0"/>
                        </a:rPr>
                        <a:t> </a:t>
                      </a:r>
                      <a:r>
                        <a:rPr lang="pt-BR" sz="1000" b="1" err="1">
                          <a:solidFill>
                            <a:srgbClr val="000000"/>
                          </a:solidFill>
                          <a:effectLst/>
                          <a:latin typeface="+mn-lt"/>
                          <a:ea typeface="Times New Roman" panose="02020603050405020304" pitchFamily="18" charset="0"/>
                          <a:cs typeface="Calibri" panose="020F0502020204030204" pitchFamily="34" charset="0"/>
                        </a:rPr>
                        <a:t>Work</a:t>
                      </a:r>
                      <a:endParaRPr lang="en-US" sz="1000" b="1">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lnSpc>
                          <a:spcPct val="107000"/>
                        </a:lnSpc>
                        <a:spcAft>
                          <a:spcPts val="800"/>
                        </a:spcAft>
                      </a:pPr>
                      <a:r>
                        <a:rPr lang="pt-BR" sz="1000" b="1">
                          <a:solidFill>
                            <a:srgbClr val="000000"/>
                          </a:solidFill>
                          <a:effectLst/>
                          <a:latin typeface="+mn-lt"/>
                          <a:ea typeface="Times New Roman" panose="02020603050405020304" pitchFamily="18" charset="0"/>
                          <a:cs typeface="Calibri" panose="020F0502020204030204" pitchFamily="34" charset="0"/>
                        </a:rPr>
                        <a:t>Wabtec</a:t>
                      </a:r>
                      <a:endParaRPr lang="en-US" sz="1000" b="1">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lnSpc>
                          <a:spcPct val="107000"/>
                        </a:lnSpc>
                        <a:spcAft>
                          <a:spcPts val="800"/>
                        </a:spcAft>
                      </a:pPr>
                      <a:r>
                        <a:rPr lang="en-GB" sz="1000" b="1">
                          <a:solidFill>
                            <a:srgbClr val="000000"/>
                          </a:solidFill>
                          <a:effectLst/>
                          <a:latin typeface="+mn-lt"/>
                          <a:ea typeface="Times New Roman" panose="02020603050405020304" pitchFamily="18" charset="0"/>
                          <a:cs typeface="Calibri" panose="020F0502020204030204" pitchFamily="34" charset="0"/>
                        </a:rPr>
                        <a:t>Sub/Prime</a:t>
                      </a:r>
                      <a:endParaRPr lang="en-US" sz="1000" b="1">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4285133295"/>
                  </a:ext>
                </a:extLst>
              </a:tr>
              <a:tr h="245170">
                <a:tc>
                  <a:txBody>
                    <a:bodyPr/>
                    <a:lstStyle/>
                    <a:p>
                      <a:pPr marL="0" algn="l" defTabSz="608625" rtl="0" eaLnBrk="1" fontAlgn="b" latinLnBrk="0" hangingPunct="1">
                        <a:lnSpc>
                          <a:spcPct val="107000"/>
                        </a:lnSpc>
                        <a:spcBef>
                          <a:spcPts val="0"/>
                        </a:spcBef>
                        <a:spcAft>
                          <a:spcPts val="800"/>
                        </a:spcAft>
                      </a:pPr>
                      <a:r>
                        <a:rPr lang="en-US" sz="1050" b="1" i="0" u="none" strike="noStrike" kern="1200">
                          <a:solidFill>
                            <a:srgbClr val="FF0000"/>
                          </a:solidFill>
                          <a:effectLst/>
                          <a:latin typeface="Tahoma" panose="020B0604030504040204" pitchFamily="34" charset="0"/>
                          <a:cs typeface="Calibri" panose="020F0502020204030204" pitchFamily="34" charset="0"/>
                        </a:rPr>
                        <a:t>Proposal technical leader</a:t>
                      </a:r>
                      <a:endParaRPr lang="en-US" sz="1050" b="1" i="0" u="none" strike="noStrike" kern="1200">
                        <a:solidFill>
                          <a:srgbClr val="FF0000"/>
                        </a:solidFill>
                        <a:effectLst/>
                        <a:latin typeface="Tahoma" panose="020B0604030504040204" pitchFamily="34" charset="0"/>
                        <a:ea typeface="Calibri" panose="020F0502020204030204" pitchFamily="34" charset="0"/>
                        <a:cs typeface="Calibri" panose="020F050202020403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r>
                        <a:rPr lang="pt-BR" sz="1000" b="0" i="0" u="none" strike="noStrike" kern="1200">
                          <a:solidFill>
                            <a:srgbClr val="FF0000"/>
                          </a:solidFill>
                          <a:effectLst/>
                          <a:latin typeface="Tahoma" panose="020B0604030504040204" pitchFamily="34" charset="0"/>
                          <a:cs typeface="Calibri" panose="020F0502020204030204" pitchFamily="34" charset="0"/>
                        </a:rPr>
                        <a:t>Lead</a:t>
                      </a: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98215"/>
                  </a:ext>
                </a:extLst>
              </a:tr>
              <a:tr h="245170">
                <a:tc>
                  <a:txBody>
                    <a:bodyPr/>
                    <a:lstStyle/>
                    <a:p>
                      <a:pPr>
                        <a:lnSpc>
                          <a:spcPct val="107000"/>
                        </a:lnSpc>
                        <a:spcAft>
                          <a:spcPts val="800"/>
                        </a:spcAft>
                      </a:pPr>
                      <a:r>
                        <a:rPr lang="pt-BR" sz="1000" err="1">
                          <a:solidFill>
                            <a:srgbClr val="FF0000"/>
                          </a:solidFill>
                          <a:effectLst/>
                          <a:latin typeface="+mn-lt"/>
                          <a:ea typeface="Times New Roman" panose="02020603050405020304" pitchFamily="18" charset="0"/>
                          <a:cs typeface="Calibri" panose="020F0502020204030204" pitchFamily="34" charset="0"/>
                        </a:rPr>
                        <a:t>Manage</a:t>
                      </a:r>
                      <a:r>
                        <a:rPr lang="pt-BR" sz="1000">
                          <a:solidFill>
                            <a:srgbClr val="FF0000"/>
                          </a:solidFill>
                          <a:effectLst/>
                          <a:latin typeface="+mn-lt"/>
                          <a:ea typeface="Times New Roman" panose="02020603050405020304" pitchFamily="18" charset="0"/>
                          <a:cs typeface="Calibri" panose="020F0502020204030204" pitchFamily="34" charset="0"/>
                        </a:rPr>
                        <a:t> </a:t>
                      </a:r>
                      <a:r>
                        <a:rPr lang="pt-BR" sz="1000" err="1">
                          <a:solidFill>
                            <a:srgbClr val="FF0000"/>
                          </a:solidFill>
                          <a:effectLst/>
                          <a:latin typeface="+mn-lt"/>
                          <a:ea typeface="Times New Roman" panose="02020603050405020304" pitchFamily="18" charset="0"/>
                          <a:cs typeface="Calibri" panose="020F0502020204030204" pitchFamily="34" charset="0"/>
                        </a:rPr>
                        <a:t>Customer</a:t>
                      </a:r>
                      <a:r>
                        <a:rPr lang="pt-BR" sz="1000">
                          <a:solidFill>
                            <a:srgbClr val="FF0000"/>
                          </a:solidFill>
                          <a:effectLst/>
                          <a:latin typeface="+mn-lt"/>
                          <a:ea typeface="Times New Roman" panose="02020603050405020304" pitchFamily="18" charset="0"/>
                          <a:cs typeface="Calibri" panose="020F0502020204030204" pitchFamily="34" charset="0"/>
                        </a:rPr>
                        <a:t> </a:t>
                      </a:r>
                      <a:r>
                        <a:rPr lang="pt-BR" sz="1000" err="1">
                          <a:solidFill>
                            <a:srgbClr val="FF0000"/>
                          </a:solidFill>
                          <a:effectLst/>
                          <a:latin typeface="+mn-lt"/>
                          <a:ea typeface="Times New Roman" panose="02020603050405020304" pitchFamily="18" charset="0"/>
                          <a:cs typeface="Calibri" panose="020F0502020204030204" pitchFamily="34" charset="0"/>
                        </a:rPr>
                        <a:t>Contract</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Lead</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err="1">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Support</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3487923"/>
                  </a:ext>
                </a:extLst>
              </a:tr>
              <a:tr h="245170">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Project Management</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Lead</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err="1">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Support</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2291791"/>
                  </a:ext>
                </a:extLst>
              </a:tr>
              <a:tr h="245170">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System Requirements &amp; Conceptual Design</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141685"/>
                  </a:ext>
                </a:extLst>
              </a:tr>
              <a:tr h="245170">
                <a:tc>
                  <a:txBody>
                    <a:bodyPr/>
                    <a:lstStyle/>
                    <a:p>
                      <a:pPr>
                        <a:lnSpc>
                          <a:spcPct val="107000"/>
                        </a:lnSpc>
                        <a:spcAft>
                          <a:spcPts val="800"/>
                        </a:spcAft>
                      </a:pPr>
                      <a:r>
                        <a:rPr lang="en-US" sz="1000">
                          <a:solidFill>
                            <a:srgbClr val="FF0000"/>
                          </a:solidFill>
                          <a:effectLst/>
                          <a:latin typeface="+mn-lt"/>
                          <a:ea typeface="Times New Roman" panose="02020603050405020304" pitchFamily="18" charset="0"/>
                          <a:cs typeface="Calibri" panose="020F0502020204030204" pitchFamily="34" charset="0"/>
                        </a:rPr>
                        <a:t>Wayside Design (incl Application Data Prep)</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8439588"/>
                  </a:ext>
                </a:extLst>
              </a:tr>
              <a:tr h="245170">
                <a:tc>
                  <a:txBody>
                    <a:bodyPr/>
                    <a:lstStyle/>
                    <a:p>
                      <a:pPr>
                        <a:lnSpc>
                          <a:spcPct val="107000"/>
                        </a:lnSpc>
                        <a:spcAft>
                          <a:spcPts val="800"/>
                        </a:spcAft>
                      </a:pPr>
                      <a:r>
                        <a:rPr lang="en-US" sz="1000">
                          <a:solidFill>
                            <a:srgbClr val="FF0000"/>
                          </a:solidFill>
                          <a:effectLst/>
                          <a:latin typeface="+mn-lt"/>
                          <a:ea typeface="Times New Roman" panose="02020603050405020304" pitchFamily="18" charset="0"/>
                          <a:cs typeface="Calibri" panose="020F0502020204030204" pitchFamily="34" charset="0"/>
                        </a:rPr>
                        <a:t>Control Centre Design and Adaptation</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GB" sz="1000">
                          <a:solidFill>
                            <a:srgbClr val="FF0000"/>
                          </a:solidFill>
                          <a:effectLst/>
                          <a:latin typeface="+mn-lt"/>
                          <a:ea typeface="Calibri" panose="020F0502020204030204" pitchFamily="34"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026220"/>
                  </a:ext>
                </a:extLst>
              </a:tr>
              <a:tr h="245170">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Communication </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1020664"/>
                  </a:ext>
                </a:extLst>
              </a:tr>
              <a:tr h="245170">
                <a:tc>
                  <a:txBody>
                    <a:bodyPr/>
                    <a:lstStyle/>
                    <a:p>
                      <a:pPr>
                        <a:lnSpc>
                          <a:spcPct val="107000"/>
                        </a:lnSpc>
                        <a:spcAft>
                          <a:spcPts val="800"/>
                        </a:spcAft>
                      </a:pPr>
                      <a:r>
                        <a:rPr lang="pt-BR" sz="1000" err="1">
                          <a:solidFill>
                            <a:srgbClr val="FF0000"/>
                          </a:solidFill>
                          <a:effectLst/>
                          <a:latin typeface="+mn-lt"/>
                          <a:ea typeface="Times New Roman" panose="02020603050405020304" pitchFamily="18" charset="0"/>
                          <a:cs typeface="Calibri" panose="020F0502020204030204" pitchFamily="34" charset="0"/>
                        </a:rPr>
                        <a:t>Signaling</a:t>
                      </a:r>
                      <a:r>
                        <a:rPr lang="pt-BR" sz="1000">
                          <a:solidFill>
                            <a:srgbClr val="FF0000"/>
                          </a:solidFill>
                          <a:effectLst/>
                          <a:latin typeface="+mn-lt"/>
                          <a:ea typeface="Times New Roman" panose="02020603050405020304" pitchFamily="18" charset="0"/>
                          <a:cs typeface="Calibri" panose="020F0502020204030204" pitchFamily="34" charset="0"/>
                        </a:rPr>
                        <a:t> </a:t>
                      </a:r>
                      <a:r>
                        <a:rPr lang="pt-BR" sz="1000" err="1">
                          <a:solidFill>
                            <a:srgbClr val="FF0000"/>
                          </a:solidFill>
                          <a:effectLst/>
                          <a:latin typeface="+mn-lt"/>
                          <a:ea typeface="Times New Roman" panose="02020603050405020304" pitchFamily="18" charset="0"/>
                          <a:cs typeface="Calibri" panose="020F0502020204030204" pitchFamily="34" charset="0"/>
                        </a:rPr>
                        <a:t>Construction</a:t>
                      </a:r>
                      <a:r>
                        <a:rPr lang="pt-BR" sz="1000">
                          <a:solidFill>
                            <a:srgbClr val="FF0000"/>
                          </a:solidFill>
                          <a:effectLst/>
                          <a:latin typeface="+mn-lt"/>
                          <a:ea typeface="Times New Roman" panose="02020603050405020304" pitchFamily="18" charset="0"/>
                          <a:cs typeface="Calibri" panose="020F0502020204030204" pitchFamily="34" charset="0"/>
                        </a:rPr>
                        <a:t> </a:t>
                      </a:r>
                      <a:r>
                        <a:rPr lang="pt-BR" sz="1000" err="1">
                          <a:solidFill>
                            <a:srgbClr val="FF0000"/>
                          </a:solidFill>
                          <a:effectLst/>
                          <a:latin typeface="+mn-lt"/>
                          <a:ea typeface="Times New Roman" panose="02020603050405020304" pitchFamily="18" charset="0"/>
                          <a:cs typeface="Calibri" panose="020F0502020204030204" pitchFamily="34" charset="0"/>
                        </a:rPr>
                        <a:t>and</a:t>
                      </a:r>
                      <a:r>
                        <a:rPr lang="pt-BR" sz="1000">
                          <a:solidFill>
                            <a:srgbClr val="FF0000"/>
                          </a:solidFill>
                          <a:effectLst/>
                          <a:latin typeface="+mn-lt"/>
                          <a:ea typeface="Times New Roman" panose="02020603050405020304" pitchFamily="18" charset="0"/>
                          <a:cs typeface="Calibri" panose="020F0502020204030204" pitchFamily="34" charset="0"/>
                        </a:rPr>
                        <a:t> </a:t>
                      </a:r>
                      <a:r>
                        <a:rPr lang="pt-BR" sz="1000" err="1">
                          <a:solidFill>
                            <a:srgbClr val="FF0000"/>
                          </a:solidFill>
                          <a:effectLst/>
                          <a:latin typeface="+mn-lt"/>
                          <a:ea typeface="Times New Roman" panose="02020603050405020304" pitchFamily="18" charset="0"/>
                          <a:cs typeface="Calibri" panose="020F0502020204030204" pitchFamily="34" charset="0"/>
                        </a:rPr>
                        <a:t>Instalation</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err="1">
                          <a:solidFill>
                            <a:srgbClr val="FF0000"/>
                          </a:solidFill>
                          <a:effectLst/>
                          <a:latin typeface="+mn-lt"/>
                          <a:ea typeface="Calibri" panose="020F0502020204030204" pitchFamily="34" charset="0"/>
                          <a:cs typeface="Times New Roman" panose="02020603050405020304" pitchFamily="18" charset="0"/>
                        </a:rPr>
                        <a:t>Support</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 </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5460261"/>
                  </a:ext>
                </a:extLst>
              </a:tr>
              <a:tr h="245170">
                <a:tc>
                  <a:txBody>
                    <a:bodyPr/>
                    <a:lstStyle/>
                    <a:p>
                      <a:pPr>
                        <a:lnSpc>
                          <a:spcPct val="107000"/>
                        </a:lnSpc>
                        <a:spcAft>
                          <a:spcPts val="800"/>
                        </a:spcAft>
                      </a:pPr>
                      <a:r>
                        <a:rPr lang="pt-BR" sz="1000" b="0">
                          <a:solidFill>
                            <a:srgbClr val="FF0000"/>
                          </a:solidFill>
                          <a:effectLst/>
                          <a:latin typeface="+mn-lt"/>
                          <a:ea typeface="Times New Roman" panose="02020603050405020304" pitchFamily="18" charset="0"/>
                          <a:cs typeface="Calibri" panose="020F0502020204030204" pitchFamily="34" charset="0"/>
                        </a:rPr>
                        <a:t>Procure</a:t>
                      </a:r>
                      <a:endParaRPr lang="en-US" sz="1000" b="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NA </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264842"/>
                  </a:ext>
                </a:extLst>
              </a:tr>
              <a:tr h="245170">
                <a:tc>
                  <a:txBody>
                    <a:bodyPr/>
                    <a:lstStyle/>
                    <a:p>
                      <a:pPr>
                        <a:lnSpc>
                          <a:spcPct val="107000"/>
                        </a:lnSpc>
                        <a:spcAft>
                          <a:spcPts val="800"/>
                        </a:spcAft>
                      </a:pPr>
                      <a:r>
                        <a:rPr lang="pt-BR" sz="1000" b="0">
                          <a:solidFill>
                            <a:srgbClr val="FF0000"/>
                          </a:solidFill>
                          <a:effectLst/>
                          <a:latin typeface="+mn-lt"/>
                          <a:ea typeface="Calibri" panose="020F0502020204030204" pitchFamily="34" charset="0"/>
                          <a:cs typeface="Times New Roman" panose="02020603050405020304" pitchFamily="18" charset="0"/>
                        </a:rPr>
                        <a:t>...</a:t>
                      </a:r>
                      <a:endParaRPr lang="en-US" sz="1000" b="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4386186"/>
                  </a:ext>
                </a:extLst>
              </a:tr>
              <a:tr h="245170">
                <a:tc>
                  <a:txBody>
                    <a:bodyPr/>
                    <a:lstStyle/>
                    <a:p>
                      <a:pPr>
                        <a:lnSpc>
                          <a:spcPct val="107000"/>
                        </a:lnSpc>
                        <a:spcAft>
                          <a:spcPts val="800"/>
                        </a:spcAft>
                      </a:pPr>
                      <a:r>
                        <a:rPr lang="pt-BR" sz="1000" b="0">
                          <a:solidFill>
                            <a:srgbClr val="FF0000"/>
                          </a:solidFill>
                          <a:effectLst/>
                          <a:latin typeface="+mn-lt"/>
                          <a:ea typeface="Calibri" panose="020F0502020204030204" pitchFamily="34" charset="0"/>
                          <a:cs typeface="Times New Roman" panose="02020603050405020304" pitchFamily="18" charset="0"/>
                        </a:rPr>
                        <a:t>...</a:t>
                      </a:r>
                      <a:endParaRPr lang="en-US" sz="1000" b="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854370"/>
                  </a:ext>
                </a:extLst>
              </a:tr>
            </a:tbl>
          </a:graphicData>
        </a:graphic>
      </p:graphicFrame>
      <p:sp>
        <p:nvSpPr>
          <p:cNvPr id="11" name="TextBox 67">
            <a:extLst>
              <a:ext uri="{FF2B5EF4-FFF2-40B4-BE49-F238E27FC236}">
                <a16:creationId xmlns:a16="http://schemas.microsoft.com/office/drawing/2014/main" id="{625AF1BE-8529-4749-8B01-9C4D459D87CE}"/>
              </a:ext>
            </a:extLst>
          </p:cNvPr>
          <p:cNvSpPr txBox="1"/>
          <p:nvPr/>
        </p:nvSpPr>
        <p:spPr>
          <a:xfrm>
            <a:off x="5830110" y="3710972"/>
            <a:ext cx="1606971"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SEGMENT LEADS</a:t>
            </a:r>
          </a:p>
        </p:txBody>
      </p:sp>
      <p:sp>
        <p:nvSpPr>
          <p:cNvPr id="19" name="TextBox 69">
            <a:extLst>
              <a:ext uri="{FF2B5EF4-FFF2-40B4-BE49-F238E27FC236}">
                <a16:creationId xmlns:a16="http://schemas.microsoft.com/office/drawing/2014/main" id="{A2FF86FC-F65A-D828-7412-ACE376496F44}"/>
              </a:ext>
            </a:extLst>
          </p:cNvPr>
          <p:cNvSpPr txBox="1"/>
          <p:nvPr/>
        </p:nvSpPr>
        <p:spPr>
          <a:xfrm>
            <a:off x="6046957" y="4002691"/>
            <a:ext cx="2348573" cy="2123658"/>
          </a:xfrm>
          <a:prstGeom prst="rect">
            <a:avLst/>
          </a:prstGeom>
          <a:noFill/>
        </p:spPr>
        <p:txBody>
          <a:bodyPr wrap="square" rtlCol="0">
            <a:spAutoFit/>
          </a:bodyPr>
          <a:lstStyle/>
          <a:p>
            <a:pPr marL="285750" indent="-285750">
              <a:buFont typeface="Arial" panose="020B0604020202020204" pitchFamily="34" charset="0"/>
              <a:buChar char="•"/>
            </a:pPr>
            <a:r>
              <a:rPr lang="pt-BR" sz="1100">
                <a:solidFill>
                  <a:srgbClr val="FF0000"/>
                </a:solidFill>
              </a:rPr>
              <a:t>Signaling Eng </a:t>
            </a:r>
            <a:r>
              <a:rPr lang="pt-BR" sz="1100" err="1">
                <a:solidFill>
                  <a:srgbClr val="FF0000"/>
                </a:solidFill>
              </a:rPr>
              <a:t>team</a:t>
            </a:r>
            <a:r>
              <a:rPr lang="pt-BR" sz="1100">
                <a:solidFill>
                  <a:srgbClr val="FF0000"/>
                </a:solidFill>
              </a:rPr>
              <a:t> </a:t>
            </a:r>
          </a:p>
          <a:p>
            <a:r>
              <a:rPr lang="pt-BR" sz="1100">
                <a:solidFill>
                  <a:srgbClr val="FF0000"/>
                </a:solidFill>
              </a:rPr>
              <a:t>      TBD</a:t>
            </a:r>
          </a:p>
          <a:p>
            <a:endParaRPr lang="pt-BR" sz="1100">
              <a:solidFill>
                <a:srgbClr val="FF0000"/>
              </a:solidFill>
            </a:endParaRPr>
          </a:p>
          <a:p>
            <a:pPr marL="285750" indent="-285750">
              <a:buFont typeface="Arial" panose="020B0604020202020204" pitchFamily="34" charset="0"/>
              <a:buChar char="•"/>
            </a:pPr>
            <a:r>
              <a:rPr lang="pt-BR" sz="1100">
                <a:solidFill>
                  <a:srgbClr val="FF0000"/>
                </a:solidFill>
              </a:rPr>
              <a:t>Wire Shop Team </a:t>
            </a:r>
          </a:p>
          <a:p>
            <a:r>
              <a:rPr lang="pt-BR" sz="1100">
                <a:solidFill>
                  <a:srgbClr val="FF0000"/>
                </a:solidFill>
              </a:rPr>
              <a:t>      TBD</a:t>
            </a:r>
          </a:p>
          <a:p>
            <a:pPr marL="285750" indent="-285750">
              <a:buFont typeface="Arial" panose="020B0604020202020204" pitchFamily="34" charset="0"/>
              <a:buChar char="•"/>
            </a:pPr>
            <a:endParaRPr lang="pt-BR" sz="1100">
              <a:solidFill>
                <a:srgbClr val="FF0000"/>
              </a:solidFill>
            </a:endParaRPr>
          </a:p>
          <a:p>
            <a:pPr marL="285750" indent="-285750">
              <a:buFont typeface="Arial" panose="020B0604020202020204" pitchFamily="34" charset="0"/>
              <a:buChar char="•"/>
            </a:pPr>
            <a:r>
              <a:rPr lang="pt-BR" sz="1100" err="1">
                <a:solidFill>
                  <a:srgbClr val="FF0000"/>
                </a:solidFill>
              </a:rPr>
              <a:t>Construction</a:t>
            </a:r>
            <a:r>
              <a:rPr lang="pt-BR" sz="1100">
                <a:solidFill>
                  <a:srgbClr val="FF0000"/>
                </a:solidFill>
              </a:rPr>
              <a:t> </a:t>
            </a:r>
            <a:r>
              <a:rPr lang="pt-BR" sz="1100" err="1">
                <a:solidFill>
                  <a:srgbClr val="FF0000"/>
                </a:solidFill>
              </a:rPr>
              <a:t>team</a:t>
            </a:r>
            <a:r>
              <a:rPr lang="pt-BR" sz="1100">
                <a:solidFill>
                  <a:srgbClr val="FF0000"/>
                </a:solidFill>
              </a:rPr>
              <a:t> </a:t>
            </a:r>
          </a:p>
          <a:p>
            <a:r>
              <a:rPr lang="pt-BR" sz="1100">
                <a:solidFill>
                  <a:srgbClr val="FF0000"/>
                </a:solidFill>
              </a:rPr>
              <a:t>      TBD</a:t>
            </a:r>
          </a:p>
          <a:p>
            <a:pPr marL="285750" indent="-285750">
              <a:buFont typeface="Arial" panose="020B0604020202020204" pitchFamily="34" charset="0"/>
              <a:buChar char="•"/>
            </a:pPr>
            <a:endParaRPr lang="pt-BR" sz="1100">
              <a:solidFill>
                <a:srgbClr val="FF0000"/>
              </a:solidFill>
            </a:endParaRPr>
          </a:p>
          <a:p>
            <a:pPr marL="285750" indent="-285750">
              <a:buFont typeface="Arial" panose="020B0604020202020204" pitchFamily="34" charset="0"/>
              <a:buChar char="•"/>
            </a:pPr>
            <a:r>
              <a:rPr lang="pt-BR" sz="1100" err="1">
                <a:solidFill>
                  <a:srgbClr val="FF0000"/>
                </a:solidFill>
              </a:rPr>
              <a:t>Contracts</a:t>
            </a:r>
            <a:r>
              <a:rPr lang="pt-BR" sz="1100">
                <a:solidFill>
                  <a:srgbClr val="FF0000"/>
                </a:solidFill>
              </a:rPr>
              <a:t> </a:t>
            </a:r>
            <a:r>
              <a:rPr lang="pt-BR" sz="1100" err="1">
                <a:solidFill>
                  <a:srgbClr val="FF0000"/>
                </a:solidFill>
              </a:rPr>
              <a:t>team</a:t>
            </a:r>
            <a:r>
              <a:rPr lang="pt-BR" sz="1100">
                <a:solidFill>
                  <a:srgbClr val="FF0000"/>
                </a:solidFill>
              </a:rPr>
              <a:t> </a:t>
            </a:r>
          </a:p>
          <a:p>
            <a:r>
              <a:rPr lang="pt-BR" sz="1100">
                <a:solidFill>
                  <a:srgbClr val="FF0000"/>
                </a:solidFill>
              </a:rPr>
              <a:t>      TBD</a:t>
            </a:r>
          </a:p>
          <a:p>
            <a:pPr marL="285750" indent="-285750">
              <a:buFont typeface="Arial" panose="020B0604020202020204" pitchFamily="34" charset="0"/>
              <a:buChar char="•"/>
            </a:pPr>
            <a:endParaRPr lang="pt-BR" sz="1100">
              <a:solidFill>
                <a:srgbClr val="FF0000"/>
              </a:solidFill>
            </a:endParaRPr>
          </a:p>
        </p:txBody>
      </p:sp>
      <p:sp>
        <p:nvSpPr>
          <p:cNvPr id="21" name="Rectangle 19">
            <a:extLst>
              <a:ext uri="{FF2B5EF4-FFF2-40B4-BE49-F238E27FC236}">
                <a16:creationId xmlns:a16="http://schemas.microsoft.com/office/drawing/2014/main" id="{01476675-5D8B-C8B9-F6FE-DE9C329CB177}"/>
              </a:ext>
            </a:extLst>
          </p:cNvPr>
          <p:cNvSpPr/>
          <p:nvPr/>
        </p:nvSpPr>
        <p:spPr>
          <a:xfrm>
            <a:off x="5907506" y="3963501"/>
            <a:ext cx="5563698" cy="2141598"/>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22" name="CaixaDeTexto 21">
            <a:extLst>
              <a:ext uri="{FF2B5EF4-FFF2-40B4-BE49-F238E27FC236}">
                <a16:creationId xmlns:a16="http://schemas.microsoft.com/office/drawing/2014/main" id="{6D4F4493-8F56-EA2E-E680-85C4EDD56742}"/>
              </a:ext>
            </a:extLst>
          </p:cNvPr>
          <p:cNvSpPr txBox="1"/>
          <p:nvPr/>
        </p:nvSpPr>
        <p:spPr>
          <a:xfrm>
            <a:off x="9192126" y="4002691"/>
            <a:ext cx="2109836" cy="1785104"/>
          </a:xfrm>
          <a:prstGeom prst="rect">
            <a:avLst/>
          </a:prstGeom>
          <a:noFill/>
        </p:spPr>
        <p:txBody>
          <a:bodyPr wrap="square">
            <a:spAutoFit/>
          </a:bodyPr>
          <a:lstStyle/>
          <a:p>
            <a:pPr marL="285750" indent="-285750">
              <a:buFont typeface="Arial" panose="020B0604020202020204" pitchFamily="34" charset="0"/>
              <a:buChar char="•"/>
            </a:pPr>
            <a:r>
              <a:rPr lang="pt-BR" sz="1100">
                <a:solidFill>
                  <a:srgbClr val="FF0000"/>
                </a:solidFill>
              </a:rPr>
              <a:t>Communications</a:t>
            </a:r>
          </a:p>
          <a:p>
            <a:r>
              <a:rPr lang="pt-BR" sz="1100">
                <a:solidFill>
                  <a:srgbClr val="FF0000"/>
                </a:solidFill>
              </a:rPr>
              <a:t>      TBD</a:t>
            </a:r>
          </a:p>
          <a:p>
            <a:pPr marL="285750" indent="-285750">
              <a:buFont typeface="Arial" panose="020B0604020202020204" pitchFamily="34" charset="0"/>
              <a:buChar char="•"/>
            </a:pPr>
            <a:endParaRPr lang="pt-BR" sz="1100">
              <a:solidFill>
                <a:srgbClr val="FF0000"/>
              </a:solidFill>
            </a:endParaRPr>
          </a:p>
          <a:p>
            <a:pPr marL="285750" indent="-285750">
              <a:buFont typeface="Arial" panose="020B0604020202020204" pitchFamily="34" charset="0"/>
              <a:buChar char="•"/>
            </a:pPr>
            <a:r>
              <a:rPr lang="pt-BR" sz="1100" err="1">
                <a:solidFill>
                  <a:srgbClr val="FF0000"/>
                </a:solidFill>
              </a:rPr>
              <a:t>Integration</a:t>
            </a:r>
            <a:endParaRPr lang="pt-BR" sz="1100">
              <a:solidFill>
                <a:srgbClr val="FF0000"/>
              </a:solidFill>
            </a:endParaRPr>
          </a:p>
          <a:p>
            <a:r>
              <a:rPr lang="pt-BR" sz="1100">
                <a:solidFill>
                  <a:srgbClr val="FF0000"/>
                </a:solidFill>
              </a:rPr>
              <a:t>      TBD</a:t>
            </a:r>
          </a:p>
          <a:p>
            <a:pPr marL="285750" indent="-285750">
              <a:buFont typeface="Arial" panose="020B0604020202020204" pitchFamily="34" charset="0"/>
              <a:buChar char="•"/>
            </a:pPr>
            <a:endParaRPr lang="pt-BR" sz="1100">
              <a:solidFill>
                <a:srgbClr val="FF0000"/>
              </a:solidFill>
            </a:endParaRPr>
          </a:p>
          <a:p>
            <a:pPr marL="285750" indent="-285750">
              <a:buFont typeface="Arial" panose="020B0604020202020204" pitchFamily="34" charset="0"/>
              <a:buChar char="•"/>
            </a:pPr>
            <a:r>
              <a:rPr lang="pt-BR" sz="1100" err="1">
                <a:solidFill>
                  <a:srgbClr val="FF0000"/>
                </a:solidFill>
              </a:rPr>
              <a:t>CommOps</a:t>
            </a:r>
            <a:endParaRPr lang="pt-BR" sz="1100">
              <a:solidFill>
                <a:srgbClr val="FF0000"/>
              </a:solidFill>
            </a:endParaRPr>
          </a:p>
          <a:p>
            <a:r>
              <a:rPr lang="pt-BR" sz="1100">
                <a:solidFill>
                  <a:srgbClr val="FF0000"/>
                </a:solidFill>
              </a:rPr>
              <a:t>      TBD</a:t>
            </a:r>
          </a:p>
          <a:p>
            <a:endParaRPr lang="pt-BR" sz="1100">
              <a:solidFill>
                <a:srgbClr val="FF0000"/>
              </a:solidFill>
            </a:endParaRPr>
          </a:p>
          <a:p>
            <a:endParaRPr lang="en-US" sz="1100">
              <a:solidFill>
                <a:srgbClr val="FF0000"/>
              </a:solidFill>
            </a:endParaRPr>
          </a:p>
        </p:txBody>
      </p:sp>
      <p:sp>
        <p:nvSpPr>
          <p:cNvPr id="5" name="TextBox 25">
            <a:extLst>
              <a:ext uri="{FF2B5EF4-FFF2-40B4-BE49-F238E27FC236}">
                <a16:creationId xmlns:a16="http://schemas.microsoft.com/office/drawing/2014/main" id="{C98D3E00-C1A2-3F90-DCF3-558B103250A4}"/>
              </a:ext>
            </a:extLst>
          </p:cNvPr>
          <p:cNvSpPr txBox="1"/>
          <p:nvPr/>
        </p:nvSpPr>
        <p:spPr>
          <a:xfrm>
            <a:off x="191966" y="5582823"/>
            <a:ext cx="4423577" cy="246221"/>
          </a:xfrm>
          <a:prstGeom prst="rect">
            <a:avLst/>
          </a:prstGeom>
          <a:noFill/>
        </p:spPr>
        <p:txBody>
          <a:bodyPr wrap="square" lIns="91214" tIns="0" rIns="91214" bIns="0" rtlCol="0">
            <a:spAutoFit/>
          </a:bodyPr>
          <a:lstStyle/>
          <a:p>
            <a:pPr defTabSz="912114" fontAlgn="auto">
              <a:spcBef>
                <a:spcPts val="0"/>
              </a:spcBef>
              <a:spcAft>
                <a:spcPts val="0"/>
              </a:spcAft>
            </a:pPr>
            <a:r>
              <a:rPr lang="pt-BR" sz="1600" b="1">
                <a:latin typeface="GE Inspira Sans"/>
                <a:cs typeface="+mn-cs"/>
              </a:rPr>
              <a:t>RFP/PROJECT DOCUMENTATION</a:t>
            </a:r>
            <a:endParaRPr lang="en-US" sz="1600" b="1">
              <a:latin typeface="GE Inspira Sans"/>
              <a:cs typeface="+mn-cs"/>
            </a:endParaRPr>
          </a:p>
        </p:txBody>
      </p:sp>
      <p:sp>
        <p:nvSpPr>
          <p:cNvPr id="8" name="Rectangle 19">
            <a:extLst>
              <a:ext uri="{FF2B5EF4-FFF2-40B4-BE49-F238E27FC236}">
                <a16:creationId xmlns:a16="http://schemas.microsoft.com/office/drawing/2014/main" id="{4AEB5687-F310-62A9-18CC-17F78A51E339}"/>
              </a:ext>
            </a:extLst>
          </p:cNvPr>
          <p:cNvSpPr/>
          <p:nvPr/>
        </p:nvSpPr>
        <p:spPr>
          <a:xfrm>
            <a:off x="275322" y="5828100"/>
            <a:ext cx="5123505" cy="269875"/>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14" name="TextBox 9">
            <a:extLst>
              <a:ext uri="{FF2B5EF4-FFF2-40B4-BE49-F238E27FC236}">
                <a16:creationId xmlns:a16="http://schemas.microsoft.com/office/drawing/2014/main" id="{AA04CA2C-53EA-9F27-46B5-3B2FC13C5ED2}"/>
              </a:ext>
            </a:extLst>
          </p:cNvPr>
          <p:cNvSpPr txBox="1"/>
          <p:nvPr/>
        </p:nvSpPr>
        <p:spPr>
          <a:xfrm>
            <a:off x="10521090" y="155075"/>
            <a:ext cx="950114" cy="461665"/>
          </a:xfrm>
          <a:prstGeom prst="rect">
            <a:avLst/>
          </a:prstGeom>
          <a:solidFill>
            <a:srgbClr val="FFFF00"/>
          </a:solidFill>
        </p:spPr>
        <p:txBody>
          <a:bodyPr wrap="square" rtlCol="0">
            <a:spAutoFit/>
          </a:bodyPr>
          <a:lstStyle/>
          <a:p>
            <a:pPr algn="ctr"/>
            <a:r>
              <a:rPr lang="pt-BR" sz="1200" b="1" err="1">
                <a:solidFill>
                  <a:srgbClr val="FF0000"/>
                </a:solidFill>
                <a:highlight>
                  <a:srgbClr val="FFFF00"/>
                </a:highlight>
                <a:latin typeface="+mj-lt"/>
              </a:rPr>
              <a:t>Customer</a:t>
            </a:r>
            <a:r>
              <a:rPr lang="pt-BR" sz="1200" b="1">
                <a:solidFill>
                  <a:srgbClr val="FF0000"/>
                </a:solidFill>
                <a:highlight>
                  <a:srgbClr val="FFFF00"/>
                </a:highlight>
                <a:latin typeface="+mj-lt"/>
              </a:rPr>
              <a:t> Logo</a:t>
            </a:r>
            <a:endParaRPr lang="en-US" sz="1200" b="1">
              <a:solidFill>
                <a:srgbClr val="FF0000"/>
              </a:solidFill>
              <a:highlight>
                <a:srgbClr val="FFFF00"/>
              </a:highlight>
              <a:latin typeface="+mj-lt"/>
            </a:endParaRPr>
          </a:p>
        </p:txBody>
      </p:sp>
      <p:sp>
        <p:nvSpPr>
          <p:cNvPr id="20" name="Titre 2">
            <a:extLst>
              <a:ext uri="{FF2B5EF4-FFF2-40B4-BE49-F238E27FC236}">
                <a16:creationId xmlns:a16="http://schemas.microsoft.com/office/drawing/2014/main" id="{B5DCEE7B-FFBF-2EAB-3B0D-2CC7CDF29B57}"/>
              </a:ext>
            </a:extLst>
          </p:cNvPr>
          <p:cNvSpPr>
            <a:spLocks noGrp="1"/>
          </p:cNvSpPr>
          <p:nvPr>
            <p:ph type="title"/>
          </p:nvPr>
        </p:nvSpPr>
        <p:spPr>
          <a:xfrm>
            <a:off x="191966" y="-74493"/>
            <a:ext cx="3664680" cy="815975"/>
          </a:xfrm>
        </p:spPr>
        <p:txBody>
          <a:bodyPr/>
          <a:lstStyle/>
          <a:p>
            <a:pPr defTabSz="608625" fontAlgn="auto">
              <a:spcAft>
                <a:spcPts val="0"/>
              </a:spcAft>
              <a:defRPr/>
            </a:pPr>
            <a:r>
              <a:rPr lang="en-US" sz="2400">
                <a:ea typeface="+mj-ea"/>
              </a:rPr>
              <a:t>Customer - Project Name</a:t>
            </a:r>
          </a:p>
        </p:txBody>
      </p:sp>
      <p:sp>
        <p:nvSpPr>
          <p:cNvPr id="23" name="Text Placeholder 1">
            <a:extLst>
              <a:ext uri="{FF2B5EF4-FFF2-40B4-BE49-F238E27FC236}">
                <a16:creationId xmlns:a16="http://schemas.microsoft.com/office/drawing/2014/main" id="{140B574D-2531-7BE9-A9B0-C1B901891034}"/>
              </a:ext>
            </a:extLst>
          </p:cNvPr>
          <p:cNvSpPr>
            <a:spLocks noGrp="1"/>
          </p:cNvSpPr>
          <p:nvPr>
            <p:ph type="body" sz="quarter" idx="12"/>
          </p:nvPr>
        </p:nvSpPr>
        <p:spPr>
          <a:xfrm>
            <a:off x="191966" y="631283"/>
            <a:ext cx="4131405" cy="257674"/>
          </a:xfrm>
        </p:spPr>
        <p:txBody>
          <a:bodyPr/>
          <a:lstStyle/>
          <a:p>
            <a:pPr defTabSz="608625" fontAlgn="auto">
              <a:spcAft>
                <a:spcPts val="0"/>
              </a:spcAft>
              <a:defRPr/>
            </a:pPr>
            <a:r>
              <a:rPr lang="en-US" sz="1400">
                <a:ea typeface="+mn-ea"/>
              </a:rPr>
              <a:t>Deal Overview</a:t>
            </a:r>
          </a:p>
        </p:txBody>
      </p:sp>
      <p:sp>
        <p:nvSpPr>
          <p:cNvPr id="2" name="TextBox 1">
            <a:extLst>
              <a:ext uri="{FF2B5EF4-FFF2-40B4-BE49-F238E27FC236}">
                <a16:creationId xmlns:a16="http://schemas.microsoft.com/office/drawing/2014/main" id="{175453F5-47BC-57AE-A0D7-B9238CC26375}"/>
              </a:ext>
            </a:extLst>
          </p:cNvPr>
          <p:cNvSpPr txBox="1"/>
          <p:nvPr/>
        </p:nvSpPr>
        <p:spPr>
          <a:xfrm>
            <a:off x="8770743" y="5815720"/>
            <a:ext cx="2579552" cy="246221"/>
          </a:xfrm>
          <a:prstGeom prst="rect">
            <a:avLst/>
          </a:prstGeom>
          <a:noFill/>
        </p:spPr>
        <p:txBody>
          <a:bodyPr wrap="none" rtlCol="0">
            <a:spAutoFit/>
          </a:bodyPr>
          <a:lstStyle/>
          <a:p>
            <a:r>
              <a:rPr lang="pt-BR" sz="1000">
                <a:solidFill>
                  <a:srgbClr val="FF0000"/>
                </a:solidFill>
              </a:rPr>
              <a:t>*</a:t>
            </a:r>
            <a:r>
              <a:rPr lang="pt-BR" sz="1000" err="1">
                <a:solidFill>
                  <a:srgbClr val="FF0000"/>
                </a:solidFill>
              </a:rPr>
              <a:t>Discuss</a:t>
            </a:r>
            <a:r>
              <a:rPr lang="pt-BR" sz="1000">
                <a:solidFill>
                  <a:srgbClr val="FF0000"/>
                </a:solidFill>
              </a:rPr>
              <a:t> </a:t>
            </a:r>
            <a:r>
              <a:rPr lang="pt-BR" sz="1000" err="1">
                <a:solidFill>
                  <a:srgbClr val="FF0000"/>
                </a:solidFill>
              </a:rPr>
              <a:t>resource</a:t>
            </a:r>
            <a:r>
              <a:rPr lang="pt-BR" sz="1000">
                <a:solidFill>
                  <a:srgbClr val="FF0000"/>
                </a:solidFill>
              </a:rPr>
              <a:t> </a:t>
            </a:r>
            <a:r>
              <a:rPr lang="pt-BR" sz="1000" err="1">
                <a:solidFill>
                  <a:srgbClr val="FF0000"/>
                </a:solidFill>
              </a:rPr>
              <a:t>capacity</a:t>
            </a:r>
            <a:r>
              <a:rPr lang="pt-BR" sz="1000">
                <a:solidFill>
                  <a:srgbClr val="FF0000"/>
                </a:solidFill>
              </a:rPr>
              <a:t> </a:t>
            </a:r>
            <a:r>
              <a:rPr lang="pt-BR" sz="1000" err="1">
                <a:solidFill>
                  <a:srgbClr val="FF0000"/>
                </a:solidFill>
              </a:rPr>
              <a:t>and</a:t>
            </a:r>
            <a:r>
              <a:rPr lang="pt-BR" sz="1000">
                <a:solidFill>
                  <a:srgbClr val="FF0000"/>
                </a:solidFill>
              </a:rPr>
              <a:t> </a:t>
            </a:r>
            <a:r>
              <a:rPr lang="pt-BR" sz="1000" err="1">
                <a:solidFill>
                  <a:srgbClr val="FF0000"/>
                </a:solidFill>
              </a:rPr>
              <a:t>availability</a:t>
            </a:r>
            <a:endParaRPr lang="en-US" sz="1000">
              <a:solidFill>
                <a:srgbClr val="FF0000"/>
              </a:solidFill>
            </a:endParaRPr>
          </a:p>
        </p:txBody>
      </p:sp>
      <p:sp>
        <p:nvSpPr>
          <p:cNvPr id="15" name="TextBox 14">
            <a:extLst>
              <a:ext uri="{FF2B5EF4-FFF2-40B4-BE49-F238E27FC236}">
                <a16:creationId xmlns:a16="http://schemas.microsoft.com/office/drawing/2014/main" id="{9A3F170B-DFED-7A22-C333-D33FA08283B9}"/>
              </a:ext>
            </a:extLst>
          </p:cNvPr>
          <p:cNvSpPr txBox="1"/>
          <p:nvPr/>
        </p:nvSpPr>
        <p:spPr>
          <a:xfrm>
            <a:off x="3594181" y="684126"/>
            <a:ext cx="1804646" cy="307777"/>
          </a:xfrm>
          <a:prstGeom prst="rect">
            <a:avLst/>
          </a:prstGeom>
          <a:noFill/>
        </p:spPr>
        <p:txBody>
          <a:bodyPr wrap="square">
            <a:spAutoFit/>
          </a:bodyPr>
          <a:lstStyle/>
          <a:p>
            <a:r>
              <a:rPr lang="en-US" sz="1400"/>
              <a:t>Need to be Assigned</a:t>
            </a:r>
          </a:p>
        </p:txBody>
      </p:sp>
      <p:cxnSp>
        <p:nvCxnSpPr>
          <p:cNvPr id="17" name="Straight Arrow Connector 16">
            <a:extLst>
              <a:ext uri="{FF2B5EF4-FFF2-40B4-BE49-F238E27FC236}">
                <a16:creationId xmlns:a16="http://schemas.microsoft.com/office/drawing/2014/main" id="{951F46E9-24AC-AD4C-C288-D0D5054F2656}"/>
              </a:ext>
            </a:extLst>
          </p:cNvPr>
          <p:cNvCxnSpPr>
            <a:cxnSpLocks/>
            <a:stCxn id="15" idx="3"/>
          </p:cNvCxnSpPr>
          <p:nvPr/>
        </p:nvCxnSpPr>
        <p:spPr>
          <a:xfrm>
            <a:off x="5398827" y="838015"/>
            <a:ext cx="554213" cy="2756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68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936E9-5B61-F291-8F15-3A83F54E335E}"/>
            </a:ext>
          </a:extLst>
        </p:cNvPr>
        <p:cNvGrpSpPr/>
        <p:nvPr/>
      </p:nvGrpSpPr>
      <p:grpSpPr>
        <a:xfrm>
          <a:off x="0" y="0"/>
          <a:ext cx="0" cy="0"/>
          <a:chOff x="0" y="0"/>
          <a:chExt cx="0" cy="0"/>
        </a:xfrm>
      </p:grpSpPr>
      <p:sp>
        <p:nvSpPr>
          <p:cNvPr id="6" name="CaixaDeTexto 5">
            <a:extLst>
              <a:ext uri="{FF2B5EF4-FFF2-40B4-BE49-F238E27FC236}">
                <a16:creationId xmlns:a16="http://schemas.microsoft.com/office/drawing/2014/main" id="{8B6A53D3-E4A2-44B2-42CE-8E37E0EE5664}"/>
              </a:ext>
            </a:extLst>
          </p:cNvPr>
          <p:cNvSpPr txBox="1"/>
          <p:nvPr/>
        </p:nvSpPr>
        <p:spPr>
          <a:xfrm>
            <a:off x="339644" y="4308598"/>
            <a:ext cx="2057487" cy="1015663"/>
          </a:xfrm>
          <a:prstGeom prst="rect">
            <a:avLst/>
          </a:prstGeom>
          <a:noFill/>
        </p:spPr>
        <p:txBody>
          <a:bodyPr wrap="square">
            <a:spAutoFit/>
          </a:bodyPr>
          <a:lstStyle/>
          <a:p>
            <a:r>
              <a:rPr lang="pt-BR" sz="1000">
                <a:solidFill>
                  <a:schemeClr val="bg2">
                    <a:lumMod val="10000"/>
                  </a:schemeClr>
                </a:solidFill>
              </a:rPr>
              <a:t>RFP Release: </a:t>
            </a:r>
            <a:r>
              <a:rPr lang="pt-BR" sz="1000">
                <a:solidFill>
                  <a:srgbClr val="FF0000"/>
                </a:solidFill>
              </a:rPr>
              <a:t>XX/XX/XX</a:t>
            </a:r>
          </a:p>
          <a:p>
            <a:endParaRPr lang="pt-BR" sz="1000">
              <a:solidFill>
                <a:schemeClr val="bg2">
                  <a:lumMod val="10000"/>
                </a:schemeClr>
              </a:solidFill>
            </a:endParaRPr>
          </a:p>
          <a:p>
            <a:r>
              <a:rPr lang="pt-BR" sz="1000" err="1">
                <a:solidFill>
                  <a:schemeClr val="bg2">
                    <a:lumMod val="10000"/>
                  </a:schemeClr>
                </a:solidFill>
              </a:rPr>
              <a:t>Pre-proposal</a:t>
            </a:r>
            <a:r>
              <a:rPr lang="pt-BR" sz="1000">
                <a:solidFill>
                  <a:schemeClr val="bg2">
                    <a:lumMod val="10000"/>
                  </a:schemeClr>
                </a:solidFill>
              </a:rPr>
              <a:t> Meeting: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a:p>
            <a:r>
              <a:rPr lang="pt-BR" sz="1000">
                <a:solidFill>
                  <a:schemeClr val="bg2">
                    <a:lumMod val="10000"/>
                  </a:schemeClr>
                </a:solidFill>
              </a:rPr>
              <a:t>Q&amp;A/RFI Deadlines: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p:txBody>
      </p:sp>
      <p:sp>
        <p:nvSpPr>
          <p:cNvPr id="7" name="Rectangle 19">
            <a:extLst>
              <a:ext uri="{FF2B5EF4-FFF2-40B4-BE49-F238E27FC236}">
                <a16:creationId xmlns:a16="http://schemas.microsoft.com/office/drawing/2014/main" id="{3C3D841D-FF41-2539-CAA9-48882F5211FB}"/>
              </a:ext>
            </a:extLst>
          </p:cNvPr>
          <p:cNvSpPr/>
          <p:nvPr/>
        </p:nvSpPr>
        <p:spPr>
          <a:xfrm>
            <a:off x="303173" y="4216388"/>
            <a:ext cx="5101894" cy="1107873"/>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10" name="TextBox 25">
            <a:extLst>
              <a:ext uri="{FF2B5EF4-FFF2-40B4-BE49-F238E27FC236}">
                <a16:creationId xmlns:a16="http://schemas.microsoft.com/office/drawing/2014/main" id="{CBC30995-96AD-F6FB-8549-410655134DD7}"/>
              </a:ext>
            </a:extLst>
          </p:cNvPr>
          <p:cNvSpPr txBox="1"/>
          <p:nvPr/>
        </p:nvSpPr>
        <p:spPr>
          <a:xfrm>
            <a:off x="224925" y="3965930"/>
            <a:ext cx="3131603" cy="246221"/>
          </a:xfrm>
          <a:prstGeom prst="rect">
            <a:avLst/>
          </a:prstGeom>
          <a:noFill/>
        </p:spPr>
        <p:txBody>
          <a:bodyPr wrap="square" lIns="91214" tIns="0" rIns="91214" bIns="0" rtlCol="0">
            <a:spAutoFit/>
          </a:bodyPr>
          <a:lstStyle/>
          <a:p>
            <a:pPr defTabSz="912114" fontAlgn="auto">
              <a:spcBef>
                <a:spcPts val="0"/>
              </a:spcBef>
              <a:spcAft>
                <a:spcPts val="0"/>
              </a:spcAft>
            </a:pPr>
            <a:r>
              <a:rPr lang="pt-BR" sz="1600" b="1">
                <a:latin typeface="GE Inspira Sans"/>
                <a:cs typeface="+mn-cs"/>
              </a:rPr>
              <a:t>KEY DATES</a:t>
            </a:r>
            <a:endParaRPr lang="en-US" sz="1600" b="1">
              <a:latin typeface="GE Inspira Sans"/>
              <a:cs typeface="+mn-cs"/>
            </a:endParaRPr>
          </a:p>
        </p:txBody>
      </p:sp>
      <p:sp>
        <p:nvSpPr>
          <p:cNvPr id="12" name="CaixaDeTexto 11">
            <a:extLst>
              <a:ext uri="{FF2B5EF4-FFF2-40B4-BE49-F238E27FC236}">
                <a16:creationId xmlns:a16="http://schemas.microsoft.com/office/drawing/2014/main" id="{612914D2-F395-D67F-44BB-BD0832705BC8}"/>
              </a:ext>
            </a:extLst>
          </p:cNvPr>
          <p:cNvSpPr txBox="1"/>
          <p:nvPr/>
        </p:nvSpPr>
        <p:spPr>
          <a:xfrm>
            <a:off x="3152895" y="4269610"/>
            <a:ext cx="2356313" cy="861774"/>
          </a:xfrm>
          <a:prstGeom prst="rect">
            <a:avLst/>
          </a:prstGeom>
          <a:noFill/>
        </p:spPr>
        <p:txBody>
          <a:bodyPr wrap="square">
            <a:spAutoFit/>
          </a:bodyPr>
          <a:lstStyle/>
          <a:p>
            <a:r>
              <a:rPr lang="pt-BR" sz="1000" err="1">
                <a:solidFill>
                  <a:schemeClr val="bg2">
                    <a:lumMod val="10000"/>
                  </a:schemeClr>
                </a:solidFill>
              </a:rPr>
              <a:t>Wabtec’s</a:t>
            </a:r>
            <a:r>
              <a:rPr lang="pt-BR" sz="1000">
                <a:solidFill>
                  <a:schemeClr val="bg2">
                    <a:lumMod val="10000"/>
                  </a:schemeClr>
                </a:solidFill>
              </a:rPr>
              <a:t> </a:t>
            </a:r>
            <a:r>
              <a:rPr lang="pt-BR" sz="1000" err="1">
                <a:solidFill>
                  <a:schemeClr val="bg2">
                    <a:lumMod val="10000"/>
                  </a:schemeClr>
                </a:solidFill>
              </a:rPr>
              <a:t>Proposal</a:t>
            </a:r>
            <a:r>
              <a:rPr lang="pt-BR" sz="1000">
                <a:solidFill>
                  <a:schemeClr val="bg2">
                    <a:lumMod val="10000"/>
                  </a:schemeClr>
                </a:solidFill>
              </a:rPr>
              <a:t> </a:t>
            </a:r>
            <a:r>
              <a:rPr lang="pt-BR" sz="1000" err="1">
                <a:solidFill>
                  <a:schemeClr val="bg2">
                    <a:lumMod val="10000"/>
                  </a:schemeClr>
                </a:solidFill>
              </a:rPr>
              <a:t>Due</a:t>
            </a:r>
            <a:r>
              <a:rPr lang="pt-BR" sz="1000">
                <a:solidFill>
                  <a:schemeClr val="bg2">
                    <a:lumMod val="10000"/>
                  </a:schemeClr>
                </a:solidFill>
              </a:rPr>
              <a:t>: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a:p>
            <a:r>
              <a:rPr lang="pt-BR" sz="1000" err="1">
                <a:solidFill>
                  <a:schemeClr val="bg2">
                    <a:lumMod val="10000"/>
                  </a:schemeClr>
                </a:solidFill>
              </a:rPr>
              <a:t>Proposal</a:t>
            </a:r>
            <a:r>
              <a:rPr lang="pt-BR" sz="1000">
                <a:solidFill>
                  <a:schemeClr val="bg2">
                    <a:lumMod val="10000"/>
                  </a:schemeClr>
                </a:solidFill>
              </a:rPr>
              <a:t> </a:t>
            </a:r>
            <a:r>
              <a:rPr lang="pt-BR" sz="1000" err="1">
                <a:solidFill>
                  <a:schemeClr val="bg2">
                    <a:lumMod val="10000"/>
                  </a:schemeClr>
                </a:solidFill>
              </a:rPr>
              <a:t>Due</a:t>
            </a:r>
            <a:r>
              <a:rPr lang="pt-BR" sz="1000">
                <a:solidFill>
                  <a:schemeClr val="bg2">
                    <a:lumMod val="10000"/>
                  </a:schemeClr>
                </a:solidFill>
              </a:rPr>
              <a:t>: </a:t>
            </a:r>
            <a:r>
              <a:rPr lang="pt-BR" sz="1000">
                <a:solidFill>
                  <a:srgbClr val="FF0000"/>
                </a:solidFill>
              </a:rPr>
              <a:t>XX/XX/XX</a:t>
            </a:r>
            <a:endParaRPr lang="pt-BR" sz="1000">
              <a:solidFill>
                <a:schemeClr val="bg2">
                  <a:lumMod val="10000"/>
                </a:schemeClr>
              </a:solidFill>
            </a:endParaRPr>
          </a:p>
          <a:p>
            <a:endParaRPr lang="pt-BR" sz="1000">
              <a:solidFill>
                <a:schemeClr val="bg2">
                  <a:lumMod val="10000"/>
                </a:schemeClr>
              </a:solidFill>
            </a:endParaRPr>
          </a:p>
          <a:p>
            <a:r>
              <a:rPr lang="pt-BR" sz="1000" err="1">
                <a:solidFill>
                  <a:schemeClr val="bg2">
                    <a:lumMod val="10000"/>
                  </a:schemeClr>
                </a:solidFill>
              </a:rPr>
              <a:t>Anticipated</a:t>
            </a:r>
            <a:r>
              <a:rPr lang="pt-BR" sz="1000">
                <a:solidFill>
                  <a:schemeClr val="bg2">
                    <a:lumMod val="10000"/>
                  </a:schemeClr>
                </a:solidFill>
              </a:rPr>
              <a:t> </a:t>
            </a:r>
            <a:r>
              <a:rPr lang="pt-BR" sz="1000" err="1">
                <a:solidFill>
                  <a:schemeClr val="bg2">
                    <a:lumMod val="10000"/>
                  </a:schemeClr>
                </a:solidFill>
              </a:rPr>
              <a:t>Award</a:t>
            </a:r>
            <a:r>
              <a:rPr lang="pt-BR" sz="1000">
                <a:solidFill>
                  <a:schemeClr val="bg2">
                    <a:lumMod val="10000"/>
                  </a:schemeClr>
                </a:solidFill>
              </a:rPr>
              <a:t>: </a:t>
            </a:r>
            <a:r>
              <a:rPr lang="pt-BR" sz="1000">
                <a:solidFill>
                  <a:srgbClr val="FF0000"/>
                </a:solidFill>
              </a:rPr>
              <a:t>XX/XX/XX</a:t>
            </a:r>
          </a:p>
        </p:txBody>
      </p:sp>
      <p:sp>
        <p:nvSpPr>
          <p:cNvPr id="13" name="TextBox 29">
            <a:extLst>
              <a:ext uri="{FF2B5EF4-FFF2-40B4-BE49-F238E27FC236}">
                <a16:creationId xmlns:a16="http://schemas.microsoft.com/office/drawing/2014/main" id="{887A6755-1CD7-BC89-AB1E-EF522E02432C}"/>
              </a:ext>
            </a:extLst>
          </p:cNvPr>
          <p:cNvSpPr txBox="1"/>
          <p:nvPr/>
        </p:nvSpPr>
        <p:spPr>
          <a:xfrm>
            <a:off x="275323" y="5840734"/>
            <a:ext cx="6080760" cy="246221"/>
          </a:xfrm>
          <a:prstGeom prst="rect">
            <a:avLst/>
          </a:prstGeom>
          <a:noFill/>
        </p:spPr>
        <p:txBody>
          <a:bodyPr wrap="square" rtlCol="0">
            <a:spAutoFit/>
          </a:bodyPr>
          <a:lstStyle/>
          <a:p>
            <a:r>
              <a:rPr lang="pt-BR" sz="1000" err="1">
                <a:solidFill>
                  <a:schemeClr val="bg2">
                    <a:lumMod val="10000"/>
                  </a:schemeClr>
                </a:solidFill>
              </a:rPr>
              <a:t>Project’s</a:t>
            </a:r>
            <a:r>
              <a:rPr lang="pt-BR" sz="1000">
                <a:solidFill>
                  <a:schemeClr val="bg2">
                    <a:lumMod val="10000"/>
                  </a:schemeClr>
                </a:solidFill>
              </a:rPr>
              <a:t> folder </a:t>
            </a:r>
            <a:r>
              <a:rPr lang="pt-BR" sz="1000" err="1">
                <a:solidFill>
                  <a:schemeClr val="bg2">
                    <a:lumMod val="10000"/>
                  </a:schemeClr>
                </a:solidFill>
              </a:rPr>
              <a:t>on</a:t>
            </a:r>
            <a:r>
              <a:rPr lang="pt-BR" sz="1000">
                <a:solidFill>
                  <a:schemeClr val="bg2">
                    <a:lumMod val="10000"/>
                  </a:schemeClr>
                </a:solidFill>
              </a:rPr>
              <a:t> Teams: </a:t>
            </a:r>
            <a:r>
              <a:rPr lang="pt-BR" sz="1000">
                <a:solidFill>
                  <a:srgbClr val="FF0000"/>
                </a:solidFill>
              </a:rPr>
              <a:t>Sharepoint/Teams Link</a:t>
            </a:r>
            <a:endParaRPr lang="en-US" sz="1000">
              <a:solidFill>
                <a:srgbClr val="FF0000"/>
              </a:solidFill>
            </a:endParaRPr>
          </a:p>
        </p:txBody>
      </p:sp>
      <p:sp>
        <p:nvSpPr>
          <p:cNvPr id="31" name="TextBox 21">
            <a:extLst>
              <a:ext uri="{FF2B5EF4-FFF2-40B4-BE49-F238E27FC236}">
                <a16:creationId xmlns:a16="http://schemas.microsoft.com/office/drawing/2014/main" id="{451E35E5-B807-C58A-67CF-012379238731}"/>
              </a:ext>
            </a:extLst>
          </p:cNvPr>
          <p:cNvSpPr txBox="1"/>
          <p:nvPr/>
        </p:nvSpPr>
        <p:spPr>
          <a:xfrm>
            <a:off x="231361" y="1086831"/>
            <a:ext cx="2696564" cy="246221"/>
          </a:xfrm>
          <a:prstGeom prst="rect">
            <a:avLst/>
          </a:prstGeom>
          <a:noFill/>
        </p:spPr>
        <p:txBody>
          <a:bodyPr wrap="none" lIns="91214" tIns="0" rIns="91214" bIns="0" rtlCol="0">
            <a:spAutoFit/>
          </a:bodyPr>
          <a:lstStyle/>
          <a:p>
            <a:pPr defTabSz="912114" fontAlgn="auto">
              <a:spcBef>
                <a:spcPts val="0"/>
              </a:spcBef>
              <a:spcAft>
                <a:spcPts val="0"/>
              </a:spcAft>
            </a:pPr>
            <a:r>
              <a:rPr lang="en-US" sz="1600" b="1">
                <a:solidFill>
                  <a:srgbClr val="63666A"/>
                </a:solidFill>
                <a:latin typeface="GE Inspira Sans"/>
                <a:cs typeface="+mn-cs"/>
              </a:rPr>
              <a:t>ADDITIONAL PROPOSAL INFO</a:t>
            </a:r>
          </a:p>
        </p:txBody>
      </p:sp>
      <p:sp>
        <p:nvSpPr>
          <p:cNvPr id="32" name="TextBox 10">
            <a:extLst>
              <a:ext uri="{FF2B5EF4-FFF2-40B4-BE49-F238E27FC236}">
                <a16:creationId xmlns:a16="http://schemas.microsoft.com/office/drawing/2014/main" id="{FE015329-AF5B-3124-E4C0-7426FE3D1C32}"/>
              </a:ext>
            </a:extLst>
          </p:cNvPr>
          <p:cNvSpPr txBox="1"/>
          <p:nvPr/>
        </p:nvSpPr>
        <p:spPr>
          <a:xfrm>
            <a:off x="416535" y="1447257"/>
            <a:ext cx="4988532" cy="2246769"/>
          </a:xfrm>
          <a:prstGeom prst="rect">
            <a:avLst/>
          </a:prstGeom>
          <a:noFill/>
        </p:spPr>
        <p:txBody>
          <a:bodyPr wrap="square" rtlCol="0">
            <a:spAutoFit/>
          </a:bodyPr>
          <a:lstStyle/>
          <a:p>
            <a:pPr marL="285750" indent="-285750">
              <a:buFont typeface="Arial" panose="020B0604020202020204" pitchFamily="34" charset="0"/>
              <a:buChar char="•"/>
            </a:pPr>
            <a:r>
              <a:rPr lang="pt-BR" sz="1000" err="1">
                <a:solidFill>
                  <a:schemeClr val="bg2">
                    <a:lumMod val="10000"/>
                  </a:schemeClr>
                </a:solidFill>
              </a:rPr>
              <a:t>Type</a:t>
            </a:r>
            <a:r>
              <a:rPr lang="pt-BR" sz="1000">
                <a:solidFill>
                  <a:schemeClr val="bg2">
                    <a:lumMod val="10000"/>
                  </a:schemeClr>
                </a:solidFill>
              </a:rPr>
              <a:t> </a:t>
            </a:r>
            <a:r>
              <a:rPr lang="pt-BR" sz="1000" err="1">
                <a:solidFill>
                  <a:schemeClr val="bg2">
                    <a:lumMod val="10000"/>
                  </a:schemeClr>
                </a:solidFill>
              </a:rPr>
              <a:t>of</a:t>
            </a:r>
            <a:r>
              <a:rPr lang="pt-BR" sz="1000">
                <a:solidFill>
                  <a:schemeClr val="bg2">
                    <a:lumMod val="10000"/>
                  </a:schemeClr>
                </a:solidFill>
              </a:rPr>
              <a:t> </a:t>
            </a:r>
            <a:r>
              <a:rPr lang="pt-BR" sz="1000" err="1">
                <a:solidFill>
                  <a:schemeClr val="bg2">
                    <a:lumMod val="10000"/>
                  </a:schemeClr>
                </a:solidFill>
              </a:rPr>
              <a:t>Bid</a:t>
            </a:r>
            <a:r>
              <a:rPr lang="pt-BR" sz="1000">
                <a:solidFill>
                  <a:schemeClr val="bg2">
                    <a:lumMod val="10000"/>
                  </a:schemeClr>
                </a:solidFill>
              </a:rPr>
              <a:t>: </a:t>
            </a:r>
            <a:r>
              <a:rPr lang="pt-BR" sz="1000">
                <a:solidFill>
                  <a:srgbClr val="FF0000"/>
                </a:solidFill>
              </a:rPr>
              <a:t>(</a:t>
            </a:r>
            <a:r>
              <a:rPr lang="pt-BR" sz="1000" err="1">
                <a:solidFill>
                  <a:srgbClr val="FF0000"/>
                </a:solidFill>
              </a:rPr>
              <a:t>Firm</a:t>
            </a:r>
            <a:r>
              <a:rPr lang="pt-BR" sz="1000">
                <a:solidFill>
                  <a:srgbClr val="FF0000"/>
                </a:solidFill>
              </a:rPr>
              <a:t> </a:t>
            </a:r>
            <a:r>
              <a:rPr lang="pt-BR" sz="1000" err="1">
                <a:solidFill>
                  <a:srgbClr val="FF0000"/>
                </a:solidFill>
              </a:rPr>
              <a:t>Fixed</a:t>
            </a:r>
            <a:r>
              <a:rPr lang="pt-BR" sz="1000">
                <a:solidFill>
                  <a:srgbClr val="FF0000"/>
                </a:solidFill>
              </a:rPr>
              <a:t> </a:t>
            </a:r>
            <a:r>
              <a:rPr lang="pt-BR" sz="1000" err="1">
                <a:solidFill>
                  <a:srgbClr val="FF0000"/>
                </a:solidFill>
              </a:rPr>
              <a:t>Price</a:t>
            </a:r>
            <a:r>
              <a:rPr lang="pt-BR" sz="1000">
                <a:solidFill>
                  <a:srgbClr val="FF0000"/>
                </a:solidFill>
              </a:rPr>
              <a:t>, Time/Material (T&amp;M), Design-build, ROM, ...)</a:t>
            </a:r>
          </a:p>
          <a:p>
            <a:endParaRPr lang="pt-BR" sz="1000">
              <a:solidFill>
                <a:srgbClr val="FF0000"/>
              </a:solidFill>
            </a:endParaRPr>
          </a:p>
          <a:p>
            <a:pPr marL="285750" indent="-285750">
              <a:buFont typeface="Arial" panose="020B0604020202020204" pitchFamily="34" charset="0"/>
              <a:buChar char="•"/>
            </a:pPr>
            <a:r>
              <a:rPr lang="pt-BR" sz="1000" err="1">
                <a:solidFill>
                  <a:schemeClr val="bg2">
                    <a:lumMod val="10000"/>
                  </a:schemeClr>
                </a:solidFill>
              </a:rPr>
              <a:t>Pre-Bid</a:t>
            </a:r>
            <a:r>
              <a:rPr lang="pt-BR" sz="1000">
                <a:solidFill>
                  <a:schemeClr val="bg2">
                    <a:lumMod val="10000"/>
                  </a:schemeClr>
                </a:solidFill>
              </a:rPr>
              <a:t> </a:t>
            </a:r>
            <a:r>
              <a:rPr lang="pt-BR" sz="1000" err="1">
                <a:solidFill>
                  <a:schemeClr val="bg2">
                    <a:lumMod val="10000"/>
                  </a:schemeClr>
                </a:solidFill>
              </a:rPr>
              <a:t>info</a:t>
            </a:r>
            <a:r>
              <a:rPr lang="pt-BR" sz="1000">
                <a:solidFill>
                  <a:schemeClr val="bg2">
                    <a:lumMod val="10000"/>
                  </a:schemeClr>
                </a:solidFill>
              </a:rPr>
              <a:t>: </a:t>
            </a:r>
            <a:r>
              <a:rPr lang="pt-BR" sz="1000">
                <a:solidFill>
                  <a:srgbClr val="FF0000"/>
                </a:solidFill>
              </a:rPr>
              <a:t>Design Status (0%, 30%, Complete, ...) </a:t>
            </a:r>
          </a:p>
          <a:p>
            <a:endParaRPr lang="pt-BR" sz="1000">
              <a:solidFill>
                <a:schemeClr val="bg2">
                  <a:lumMod val="10000"/>
                </a:schemeClr>
              </a:solidFill>
            </a:endParaRPr>
          </a:p>
          <a:p>
            <a:pPr marL="285750" indent="-285750">
              <a:buFont typeface="Arial" panose="020B0604020202020204" pitchFamily="34" charset="0"/>
              <a:buChar char="•"/>
            </a:pPr>
            <a:r>
              <a:rPr lang="pt-BR" sz="1000">
                <a:solidFill>
                  <a:schemeClr val="bg2">
                    <a:lumMod val="10000"/>
                  </a:schemeClr>
                </a:solidFill>
              </a:rPr>
              <a:t>Site </a:t>
            </a:r>
            <a:r>
              <a:rPr lang="pt-BR" sz="1000" err="1">
                <a:solidFill>
                  <a:schemeClr val="bg2">
                    <a:lumMod val="10000"/>
                  </a:schemeClr>
                </a:solidFill>
              </a:rPr>
              <a:t>survey</a:t>
            </a:r>
            <a:r>
              <a:rPr lang="pt-BR" sz="1000">
                <a:solidFill>
                  <a:schemeClr val="bg2">
                    <a:lumMod val="10000"/>
                  </a:schemeClr>
                </a:solidFill>
              </a:rPr>
              <a:t> </a:t>
            </a:r>
            <a:r>
              <a:rPr lang="pt-BR" sz="1000" err="1">
                <a:solidFill>
                  <a:schemeClr val="bg2">
                    <a:lumMod val="10000"/>
                  </a:schemeClr>
                </a:solidFill>
              </a:rPr>
              <a:t>info</a:t>
            </a:r>
            <a:r>
              <a:rPr lang="pt-BR" sz="1000">
                <a:solidFill>
                  <a:schemeClr val="bg2">
                    <a:lumMod val="10000"/>
                  </a:schemeClr>
                </a:solidFill>
              </a:rPr>
              <a:t>:</a:t>
            </a:r>
          </a:p>
          <a:p>
            <a:endParaRPr lang="pt-BR" sz="1000">
              <a:solidFill>
                <a:schemeClr val="bg2">
                  <a:lumMod val="10000"/>
                </a:schemeClr>
              </a:solidFill>
            </a:endParaRPr>
          </a:p>
          <a:p>
            <a:pPr marL="285750" indent="-285750">
              <a:buFont typeface="Arial" panose="020B0604020202020204" pitchFamily="34" charset="0"/>
              <a:buChar char="•"/>
            </a:pPr>
            <a:r>
              <a:rPr lang="pt-BR" sz="1000" err="1">
                <a:solidFill>
                  <a:schemeClr val="bg2">
                    <a:lumMod val="10000"/>
                  </a:schemeClr>
                </a:solidFill>
              </a:rPr>
              <a:t>Applicable</a:t>
            </a:r>
            <a:r>
              <a:rPr lang="pt-BR" sz="1000">
                <a:solidFill>
                  <a:schemeClr val="bg2">
                    <a:lumMod val="10000"/>
                  </a:schemeClr>
                </a:solidFill>
              </a:rPr>
              <a:t> </a:t>
            </a:r>
            <a:r>
              <a:rPr lang="pt-BR" sz="1000" err="1">
                <a:solidFill>
                  <a:schemeClr val="bg2">
                    <a:lumMod val="10000"/>
                  </a:schemeClr>
                </a:solidFill>
              </a:rPr>
              <a:t>laws</a:t>
            </a:r>
            <a:r>
              <a:rPr lang="pt-BR" sz="1000">
                <a:solidFill>
                  <a:schemeClr val="bg2">
                    <a:lumMod val="10000"/>
                  </a:schemeClr>
                </a:solidFill>
              </a:rPr>
              <a:t>/</a:t>
            </a:r>
            <a:r>
              <a:rPr lang="pt-BR" sz="1000" err="1">
                <a:solidFill>
                  <a:schemeClr val="bg2">
                    <a:lumMod val="10000"/>
                  </a:schemeClr>
                </a:solidFill>
              </a:rPr>
              <a:t>regulations</a:t>
            </a:r>
            <a:r>
              <a:rPr lang="pt-BR" sz="1000">
                <a:solidFill>
                  <a:schemeClr val="bg2">
                    <a:lumMod val="10000"/>
                  </a:schemeClr>
                </a:solidFill>
              </a:rPr>
              <a:t>: </a:t>
            </a:r>
            <a:r>
              <a:rPr lang="pt-BR" sz="1000">
                <a:solidFill>
                  <a:srgbClr val="FF0000"/>
                </a:solidFill>
              </a:rPr>
              <a:t>(</a:t>
            </a:r>
            <a:r>
              <a:rPr lang="pt-BR" sz="1000" err="1">
                <a:solidFill>
                  <a:srgbClr val="FF0000"/>
                </a:solidFill>
              </a:rPr>
              <a:t>Buy</a:t>
            </a:r>
            <a:r>
              <a:rPr lang="pt-BR" sz="1000">
                <a:solidFill>
                  <a:srgbClr val="FF0000"/>
                </a:solidFill>
              </a:rPr>
              <a:t> </a:t>
            </a:r>
            <a:r>
              <a:rPr lang="pt-BR" sz="1000" err="1">
                <a:solidFill>
                  <a:srgbClr val="FF0000"/>
                </a:solidFill>
              </a:rPr>
              <a:t>America</a:t>
            </a:r>
            <a:r>
              <a:rPr lang="pt-BR" sz="1000">
                <a:solidFill>
                  <a:srgbClr val="FF0000"/>
                </a:solidFill>
              </a:rPr>
              <a:t>, Davis Bacon, FRA, FTA, USDOT, ...)</a:t>
            </a:r>
          </a:p>
          <a:p>
            <a:pPr marL="285750" indent="-285750">
              <a:buFont typeface="Arial" panose="020B0604020202020204" pitchFamily="34" charset="0"/>
              <a:buChar char="•"/>
            </a:pPr>
            <a:endParaRPr lang="pt-BR" sz="1000">
              <a:solidFill>
                <a:srgbClr val="FF0000"/>
              </a:solidFill>
            </a:endParaRPr>
          </a:p>
          <a:p>
            <a:pPr marL="285750" indent="-285750">
              <a:buFont typeface="Arial" panose="020B0604020202020204" pitchFamily="34" charset="0"/>
              <a:buChar char="•"/>
            </a:pPr>
            <a:r>
              <a:rPr lang="pt-BR" sz="1000" err="1">
                <a:solidFill>
                  <a:schemeClr val="bg2">
                    <a:lumMod val="10000"/>
                  </a:schemeClr>
                </a:solidFill>
              </a:rPr>
              <a:t>Validity</a:t>
            </a:r>
            <a:endParaRPr lang="pt-BR" sz="1000">
              <a:solidFill>
                <a:schemeClr val="bg2">
                  <a:lumMod val="10000"/>
                </a:schemeClr>
              </a:solidFill>
            </a:endParaRPr>
          </a:p>
          <a:p>
            <a:pPr marL="285750" indent="-285750">
              <a:buFont typeface="Arial" panose="020B0604020202020204" pitchFamily="34" charset="0"/>
              <a:buChar char="•"/>
            </a:pPr>
            <a:endParaRPr lang="pt-BR" sz="1000">
              <a:solidFill>
                <a:schemeClr val="bg2">
                  <a:lumMod val="10000"/>
                </a:schemeClr>
              </a:solidFill>
            </a:endParaRPr>
          </a:p>
          <a:p>
            <a:pPr marL="285750" indent="-285750">
              <a:buFont typeface="Arial" panose="020B0604020202020204" pitchFamily="34" charset="0"/>
              <a:buChar char="•"/>
            </a:pPr>
            <a:r>
              <a:rPr lang="en-US" sz="1000">
                <a:solidFill>
                  <a:schemeClr val="bg2">
                    <a:lumMod val="10000"/>
                  </a:schemeClr>
                </a:solidFill>
              </a:rPr>
              <a:t>Required Taxes, Insurance, and Bond</a:t>
            </a:r>
          </a:p>
          <a:p>
            <a:endParaRPr lang="en-US" sz="1000">
              <a:solidFill>
                <a:schemeClr val="bg2">
                  <a:lumMod val="10000"/>
                </a:schemeClr>
              </a:solidFill>
            </a:endParaRPr>
          </a:p>
          <a:p>
            <a:pPr marL="285750" indent="-285750">
              <a:buFont typeface="Arial" panose="020B0604020202020204" pitchFamily="34" charset="0"/>
              <a:buChar char="•"/>
            </a:pPr>
            <a:r>
              <a:rPr lang="en-US" sz="1000">
                <a:solidFill>
                  <a:schemeClr val="bg2">
                    <a:lumMod val="10000"/>
                  </a:schemeClr>
                </a:solidFill>
              </a:rPr>
              <a:t>CATO or CARA process required?</a:t>
            </a:r>
            <a:endParaRPr lang="pt-BR" sz="1000">
              <a:solidFill>
                <a:schemeClr val="bg2">
                  <a:lumMod val="10000"/>
                </a:schemeClr>
              </a:solidFill>
            </a:endParaRPr>
          </a:p>
          <a:p>
            <a:endParaRPr lang="pt-BR" sz="1000">
              <a:solidFill>
                <a:srgbClr val="FF0000"/>
              </a:solidFill>
            </a:endParaRPr>
          </a:p>
        </p:txBody>
      </p:sp>
      <p:sp>
        <p:nvSpPr>
          <p:cNvPr id="33" name="Rectangle 18">
            <a:extLst>
              <a:ext uri="{FF2B5EF4-FFF2-40B4-BE49-F238E27FC236}">
                <a16:creationId xmlns:a16="http://schemas.microsoft.com/office/drawing/2014/main" id="{B7ECAFDD-42E4-46F1-14DF-4981CB83221B}"/>
              </a:ext>
            </a:extLst>
          </p:cNvPr>
          <p:cNvSpPr/>
          <p:nvPr/>
        </p:nvSpPr>
        <p:spPr>
          <a:xfrm>
            <a:off x="339644" y="1332940"/>
            <a:ext cx="5065423" cy="2401860"/>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4" name="Rectangle 2">
            <a:extLst>
              <a:ext uri="{FF2B5EF4-FFF2-40B4-BE49-F238E27FC236}">
                <a16:creationId xmlns:a16="http://schemas.microsoft.com/office/drawing/2014/main" id="{819D690D-B0AD-AB95-3131-9121A0658157}"/>
              </a:ext>
            </a:extLst>
          </p:cNvPr>
          <p:cNvSpPr>
            <a:spLocks noChangeArrowheads="1"/>
          </p:cNvSpPr>
          <p:nvPr/>
        </p:nvSpPr>
        <p:spPr bwMode="auto">
          <a:xfrm>
            <a:off x="5217133" y="418910"/>
            <a:ext cx="39434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1" indent="0" defTabSz="914400" eaLnBrk="0" hangingPunct="0"/>
            <a:r>
              <a:rPr kumimoji="0" lang="en-US" altLang="en-US" sz="1600" b="1" i="0" u="none" strike="noStrike" cap="none" normalizeH="0" baseline="0">
                <a:ln>
                  <a:noFill/>
                </a:ln>
                <a:solidFill>
                  <a:schemeClr val="tx1"/>
                </a:solidFill>
                <a:effectLst/>
                <a:latin typeface="GE Inspira Sans"/>
                <a:ea typeface="Calibri" panose="020F0502020204030204" pitchFamily="34" charset="0"/>
                <a:cs typeface="Calibri" panose="020F0502020204030204" pitchFamily="34" charset="0"/>
              </a:rPr>
              <a:t>ROLES AND RESPONSIBILITIES</a:t>
            </a:r>
            <a:endParaRPr kumimoji="0" lang="en-US" altLang="en-US" sz="1600" b="0" i="0" u="none" strike="noStrike" cap="none" normalizeH="0" baseline="0">
              <a:ln>
                <a:noFill/>
              </a:ln>
              <a:solidFill>
                <a:schemeClr val="tx1"/>
              </a:solidFill>
              <a:effectLst/>
              <a:latin typeface="GE Inspira Sans"/>
            </a:endParaRPr>
          </a:p>
        </p:txBody>
      </p:sp>
      <p:graphicFrame>
        <p:nvGraphicFramePr>
          <p:cNvPr id="9" name="Tabela 8">
            <a:extLst>
              <a:ext uri="{FF2B5EF4-FFF2-40B4-BE49-F238E27FC236}">
                <a16:creationId xmlns:a16="http://schemas.microsoft.com/office/drawing/2014/main" id="{226C7045-2CE2-0D89-AB98-B6753443EEE0}"/>
              </a:ext>
            </a:extLst>
          </p:cNvPr>
          <p:cNvGraphicFramePr>
            <a:graphicFrameLocks noGrp="1"/>
          </p:cNvGraphicFramePr>
          <p:nvPr>
            <p:extLst>
              <p:ext uri="{D42A27DB-BD31-4B8C-83A1-F6EECF244321}">
                <p14:modId xmlns:p14="http://schemas.microsoft.com/office/powerpoint/2010/main" val="408986771"/>
              </p:ext>
            </p:extLst>
          </p:nvPr>
        </p:nvGraphicFramePr>
        <p:xfrm>
          <a:off x="5925312" y="738626"/>
          <a:ext cx="5896881" cy="4319564"/>
        </p:xfrm>
        <a:graphic>
          <a:graphicData uri="http://schemas.openxmlformats.org/drawingml/2006/table">
            <a:tbl>
              <a:tblPr firstRow="1" firstCol="1" bandRow="1"/>
              <a:tblGrid>
                <a:gridCol w="2509809">
                  <a:extLst>
                    <a:ext uri="{9D8B030D-6E8A-4147-A177-3AD203B41FA5}">
                      <a16:colId xmlns:a16="http://schemas.microsoft.com/office/drawing/2014/main" val="2027353555"/>
                    </a:ext>
                  </a:extLst>
                </a:gridCol>
                <a:gridCol w="890399">
                  <a:extLst>
                    <a:ext uri="{9D8B030D-6E8A-4147-A177-3AD203B41FA5}">
                      <a16:colId xmlns:a16="http://schemas.microsoft.com/office/drawing/2014/main" val="2567704708"/>
                    </a:ext>
                  </a:extLst>
                </a:gridCol>
                <a:gridCol w="890399">
                  <a:extLst>
                    <a:ext uri="{9D8B030D-6E8A-4147-A177-3AD203B41FA5}">
                      <a16:colId xmlns:a16="http://schemas.microsoft.com/office/drawing/2014/main" val="3964837539"/>
                    </a:ext>
                  </a:extLst>
                </a:gridCol>
                <a:gridCol w="890399">
                  <a:extLst>
                    <a:ext uri="{9D8B030D-6E8A-4147-A177-3AD203B41FA5}">
                      <a16:colId xmlns:a16="http://schemas.microsoft.com/office/drawing/2014/main" val="4265193194"/>
                    </a:ext>
                  </a:extLst>
                </a:gridCol>
                <a:gridCol w="715875">
                  <a:extLst>
                    <a:ext uri="{9D8B030D-6E8A-4147-A177-3AD203B41FA5}">
                      <a16:colId xmlns:a16="http://schemas.microsoft.com/office/drawing/2014/main" val="2682274165"/>
                    </a:ext>
                  </a:extLst>
                </a:gridCol>
              </a:tblGrid>
              <a:tr h="245170">
                <a:tc>
                  <a:txBody>
                    <a:bodyPr/>
                    <a:lstStyle/>
                    <a:p>
                      <a:pPr algn="ctr">
                        <a:lnSpc>
                          <a:spcPct val="107000"/>
                        </a:lnSpc>
                        <a:spcAft>
                          <a:spcPts val="800"/>
                        </a:spcAft>
                      </a:pPr>
                      <a:r>
                        <a:rPr lang="pt-BR" sz="1000" b="1" err="1">
                          <a:solidFill>
                            <a:srgbClr val="000000"/>
                          </a:solidFill>
                          <a:effectLst/>
                          <a:latin typeface="+mn-lt"/>
                          <a:ea typeface="Times New Roman" panose="02020603050405020304" pitchFamily="18" charset="0"/>
                          <a:cs typeface="Calibri" panose="020F0502020204030204" pitchFamily="34" charset="0"/>
                        </a:rPr>
                        <a:t>Scope</a:t>
                      </a:r>
                      <a:r>
                        <a:rPr lang="pt-BR" sz="1000" b="1">
                          <a:solidFill>
                            <a:srgbClr val="000000"/>
                          </a:solidFill>
                          <a:effectLst/>
                          <a:latin typeface="+mn-lt"/>
                          <a:ea typeface="Times New Roman" panose="02020603050405020304" pitchFamily="18" charset="0"/>
                          <a:cs typeface="Calibri" panose="020F0502020204030204" pitchFamily="34" charset="0"/>
                        </a:rPr>
                        <a:t> </a:t>
                      </a:r>
                      <a:r>
                        <a:rPr lang="pt-BR" sz="1000" b="1" err="1">
                          <a:solidFill>
                            <a:srgbClr val="000000"/>
                          </a:solidFill>
                          <a:effectLst/>
                          <a:latin typeface="+mn-lt"/>
                          <a:ea typeface="Times New Roman" panose="02020603050405020304" pitchFamily="18" charset="0"/>
                          <a:cs typeface="Calibri" panose="020F0502020204030204" pitchFamily="34" charset="0"/>
                        </a:rPr>
                        <a:t>of</a:t>
                      </a:r>
                      <a:r>
                        <a:rPr lang="pt-BR" sz="1000" b="1">
                          <a:solidFill>
                            <a:srgbClr val="000000"/>
                          </a:solidFill>
                          <a:effectLst/>
                          <a:latin typeface="+mn-lt"/>
                          <a:ea typeface="Times New Roman" panose="02020603050405020304" pitchFamily="18" charset="0"/>
                          <a:cs typeface="Calibri" panose="020F0502020204030204" pitchFamily="34" charset="0"/>
                        </a:rPr>
                        <a:t> </a:t>
                      </a:r>
                      <a:r>
                        <a:rPr lang="pt-BR" sz="1000" b="1" err="1">
                          <a:solidFill>
                            <a:srgbClr val="000000"/>
                          </a:solidFill>
                          <a:effectLst/>
                          <a:latin typeface="+mn-lt"/>
                          <a:ea typeface="Times New Roman" panose="02020603050405020304" pitchFamily="18" charset="0"/>
                          <a:cs typeface="Calibri" panose="020F0502020204030204" pitchFamily="34" charset="0"/>
                        </a:rPr>
                        <a:t>Work</a:t>
                      </a:r>
                      <a:endParaRPr lang="en-US" sz="1000" b="1">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lnSpc>
                          <a:spcPct val="107000"/>
                        </a:lnSpc>
                        <a:spcAft>
                          <a:spcPts val="800"/>
                        </a:spcAft>
                      </a:pPr>
                      <a:r>
                        <a:rPr lang="pt-BR" sz="1000" b="1">
                          <a:solidFill>
                            <a:srgbClr val="000000"/>
                          </a:solidFill>
                          <a:effectLst/>
                          <a:latin typeface="+mn-lt"/>
                          <a:ea typeface="Times New Roman" panose="02020603050405020304" pitchFamily="18" charset="0"/>
                          <a:cs typeface="Calibri" panose="020F0502020204030204" pitchFamily="34" charset="0"/>
                        </a:rPr>
                        <a:t>Segment Leader</a:t>
                      </a:r>
                      <a:endParaRPr lang="en-US" sz="1000" b="1">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lnSpc>
                          <a:spcPct val="107000"/>
                        </a:lnSpc>
                        <a:spcAft>
                          <a:spcPts val="800"/>
                        </a:spcAft>
                      </a:pPr>
                      <a:r>
                        <a:rPr lang="pt-BR" sz="1000" b="1">
                          <a:solidFill>
                            <a:srgbClr val="000000"/>
                          </a:solidFill>
                          <a:effectLst/>
                          <a:latin typeface="+mn-lt"/>
                          <a:ea typeface="Times New Roman" panose="02020603050405020304" pitchFamily="18" charset="0"/>
                          <a:cs typeface="Calibri" panose="020F0502020204030204" pitchFamily="34" charset="0"/>
                        </a:rPr>
                        <a:t>Latam</a:t>
                      </a:r>
                      <a:endParaRPr lang="en-US" sz="1000" b="1">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marL="0" algn="ctr" defTabSz="608625" rtl="0" eaLnBrk="1" latinLnBrk="0" hangingPunct="1">
                        <a:lnSpc>
                          <a:spcPct val="107000"/>
                        </a:lnSpc>
                        <a:spcAft>
                          <a:spcPts val="800"/>
                        </a:spcAft>
                      </a:pPr>
                      <a:r>
                        <a:rPr lang="en-US" sz="1000" b="1" kern="1200">
                          <a:solidFill>
                            <a:srgbClr val="000000"/>
                          </a:solidFill>
                          <a:effectLst/>
                          <a:latin typeface="+mn-lt"/>
                          <a:ea typeface="Calibri" panose="020F0502020204030204" pitchFamily="34" charset="0"/>
                          <a:cs typeface="Calibri" panose="020F0502020204030204" pitchFamily="34" charset="0"/>
                        </a:rPr>
                        <a:t>NAM</a:t>
                      </a: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lnSpc>
                          <a:spcPct val="107000"/>
                        </a:lnSpc>
                        <a:spcAft>
                          <a:spcPts val="800"/>
                        </a:spcAft>
                      </a:pPr>
                      <a:r>
                        <a:rPr lang="en-GB" sz="1000" b="1">
                          <a:solidFill>
                            <a:srgbClr val="000000"/>
                          </a:solidFill>
                          <a:effectLst/>
                          <a:latin typeface="+mn-lt"/>
                          <a:ea typeface="Times New Roman" panose="02020603050405020304" pitchFamily="18" charset="0"/>
                          <a:cs typeface="Calibri" panose="020F0502020204030204" pitchFamily="34" charset="0"/>
                        </a:rPr>
                        <a:t>Sub/Prime</a:t>
                      </a:r>
                      <a:endParaRPr lang="en-US" sz="1000" b="1">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extLst>
                  <a:ext uri="{0D108BD9-81ED-4DB2-BD59-A6C34878D82A}">
                    <a16:rowId xmlns:a16="http://schemas.microsoft.com/office/drawing/2014/main" val="4285133295"/>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cs typeface="Calibri" panose="020F0502020204030204" pitchFamily="34" charset="0"/>
                        </a:rPr>
                        <a:t>Product Management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r>
                        <a:rPr lang="pt-BR" sz="1000" b="0" i="0" u="none" strike="noStrike" kern="1200">
                          <a:solidFill>
                            <a:srgbClr val="FF0000"/>
                          </a:solidFill>
                          <a:effectLst/>
                          <a:latin typeface="Tahoma" panose="020B0604030504040204" pitchFamily="34" charset="0"/>
                          <a:cs typeface="Calibri" panose="020F0502020204030204" pitchFamily="34" charset="0"/>
                        </a:rPr>
                        <a:t>Lead</a:t>
                      </a: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98215"/>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ComOps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111975"/>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Signaling</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0593376"/>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Deployment</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7887377"/>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Subcontractor</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9295110"/>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Supply Chain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608625" rtl="0" eaLnBrk="1" fontAlgn="b" latinLnBrk="0" hangingPunct="1">
                        <a:lnSpc>
                          <a:spcPct val="107000"/>
                        </a:lnSpc>
                        <a:spcBef>
                          <a:spcPts val="0"/>
                        </a:spcBef>
                        <a:spcAft>
                          <a:spcPts val="800"/>
                        </a:spcAft>
                      </a:pPr>
                      <a:endParaRPr lang="pt-BR" sz="1000" b="0" i="0" u="none" strike="noStrike" kern="1200">
                        <a:solidFill>
                          <a:srgbClr val="FF0000"/>
                        </a:solidFill>
                        <a:effectLst/>
                        <a:latin typeface="Tahoma" panose="020B0604030504040204" pitchFamily="34" charset="0"/>
                        <a:cs typeface="Calibri" panose="020F050202020403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7343061"/>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Office</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Lead</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err="1">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Support</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3487923"/>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Track DB</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Lead</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rtl="0" eaLnBrk="1" fontAlgn="b" latinLnBrk="0" hangingPunct="1">
                        <a:lnSpc>
                          <a:spcPct val="107000"/>
                        </a:lnSpc>
                        <a:spcBef>
                          <a:spcPts val="0"/>
                        </a:spcBef>
                        <a:spcAft>
                          <a:spcPts val="800"/>
                        </a:spcAft>
                      </a:pPr>
                      <a:r>
                        <a:rPr lang="pt-BR" sz="1000" b="0" i="0" u="none" strike="noStrike" kern="1200" err="1">
                          <a:solidFill>
                            <a:srgbClr val="FF0000"/>
                          </a:solidFill>
                          <a:effectLst/>
                          <a:latin typeface="Tahoma" panose="020B0604030504040204" pitchFamily="34" charset="0"/>
                          <a:ea typeface="Times New Roman" panose="02020603050405020304" pitchFamily="18" charset="0"/>
                          <a:cs typeface="Calibri" panose="020F0502020204030204" pitchFamily="34" charset="0"/>
                        </a:rPr>
                        <a:t>Support</a:t>
                      </a:r>
                      <a:endParaRPr lang="pt-BR" sz="1800" b="0" i="0" u="none" strike="noStrike">
                        <a:effectLst/>
                        <a:latin typeface="Arial" panose="020B0604020202020204" pitchFamily="34" charset="0"/>
                      </a:endParaRPr>
                    </a:p>
                  </a:txBody>
                  <a:tcPr marL="68580" marR="68580" marT="9525"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2291791"/>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Onboard</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141685"/>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Comms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8439588"/>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Integration</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GB" sz="1000">
                          <a:solidFill>
                            <a:srgbClr val="FF0000"/>
                          </a:solidFill>
                          <a:effectLst/>
                          <a:latin typeface="+mn-lt"/>
                          <a:ea typeface="Calibri" panose="020F0502020204030204" pitchFamily="34"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026220"/>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Safety Assurance</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 NA</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1020664"/>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Services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err="1">
                          <a:solidFill>
                            <a:srgbClr val="FF0000"/>
                          </a:solidFill>
                          <a:effectLst/>
                          <a:latin typeface="+mn-lt"/>
                          <a:ea typeface="Calibri" panose="020F0502020204030204" pitchFamily="34" charset="0"/>
                          <a:cs typeface="Times New Roman" panose="02020603050405020304" pitchFamily="18" charset="0"/>
                        </a:rPr>
                        <a:t>Support</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 </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5460261"/>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PM</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Lead</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pt-BR" sz="1000">
                          <a:solidFill>
                            <a:srgbClr val="FF0000"/>
                          </a:solidFill>
                          <a:effectLst/>
                          <a:latin typeface="+mn-lt"/>
                          <a:ea typeface="Times New Roman" panose="02020603050405020304" pitchFamily="18" charset="0"/>
                          <a:cs typeface="Calibri" panose="020F0502020204030204" pitchFamily="34" charset="0"/>
                        </a:rPr>
                        <a:t>NA </a:t>
                      </a: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264842"/>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EHS</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4386186"/>
                  </a:ext>
                </a:extLst>
              </a:tr>
              <a:tr h="245170">
                <a:tc>
                  <a:txBody>
                    <a:bodyPr/>
                    <a:lstStyle/>
                    <a:p>
                      <a:pPr marL="0" algn="l" defTabSz="608625" rtl="0" eaLnBrk="1" latinLnBrk="0" hangingPunct="1">
                        <a:lnSpc>
                          <a:spcPct val="107000"/>
                        </a:lnSpc>
                        <a:spcAft>
                          <a:spcPts val="800"/>
                        </a:spcAft>
                        <a:buNone/>
                      </a:pPr>
                      <a:r>
                        <a:rPr lang="en-US" sz="1000" b="0" kern="1200">
                          <a:solidFill>
                            <a:srgbClr val="FF0000"/>
                          </a:solidFill>
                          <a:effectLst/>
                          <a:latin typeface="+mn-lt"/>
                          <a:ea typeface="+mn-ea"/>
                          <a:cs typeface="Calibri" panose="020F0502020204030204" pitchFamily="34" charset="0"/>
                        </a:rPr>
                        <a:t>Quality &amp; Operational Excellence</a:t>
                      </a: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endParaRPr lang="en-US" sz="1000">
                        <a:solidFill>
                          <a:srgbClr val="FF0000"/>
                        </a:solidFill>
                        <a:effectLst/>
                        <a:latin typeface="+mn-lt"/>
                        <a:ea typeface="Calibri" panose="020F0502020204030204" pitchFamily="34" charset="0"/>
                        <a:cs typeface="Times New Roman" panose="02020603050405020304" pitchFamily="18"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854370"/>
                  </a:ext>
                </a:extLst>
              </a:tr>
            </a:tbl>
          </a:graphicData>
        </a:graphic>
      </p:graphicFrame>
      <p:sp>
        <p:nvSpPr>
          <p:cNvPr id="5" name="TextBox 25">
            <a:extLst>
              <a:ext uri="{FF2B5EF4-FFF2-40B4-BE49-F238E27FC236}">
                <a16:creationId xmlns:a16="http://schemas.microsoft.com/office/drawing/2014/main" id="{8310FB7B-B342-07C4-51DE-BCB55545215D}"/>
              </a:ext>
            </a:extLst>
          </p:cNvPr>
          <p:cNvSpPr txBox="1"/>
          <p:nvPr/>
        </p:nvSpPr>
        <p:spPr>
          <a:xfrm>
            <a:off x="191966" y="5582823"/>
            <a:ext cx="4423577" cy="246221"/>
          </a:xfrm>
          <a:prstGeom prst="rect">
            <a:avLst/>
          </a:prstGeom>
          <a:noFill/>
        </p:spPr>
        <p:txBody>
          <a:bodyPr wrap="square" lIns="91214" tIns="0" rIns="91214" bIns="0" rtlCol="0">
            <a:spAutoFit/>
          </a:bodyPr>
          <a:lstStyle/>
          <a:p>
            <a:pPr defTabSz="912114" fontAlgn="auto">
              <a:spcBef>
                <a:spcPts val="0"/>
              </a:spcBef>
              <a:spcAft>
                <a:spcPts val="0"/>
              </a:spcAft>
            </a:pPr>
            <a:r>
              <a:rPr lang="pt-BR" sz="1600" b="1">
                <a:latin typeface="GE Inspira Sans"/>
                <a:cs typeface="+mn-cs"/>
              </a:rPr>
              <a:t>RFP/PROJECT DOCUMENTATION</a:t>
            </a:r>
            <a:endParaRPr lang="en-US" sz="1600" b="1">
              <a:latin typeface="GE Inspira Sans"/>
              <a:cs typeface="+mn-cs"/>
            </a:endParaRPr>
          </a:p>
        </p:txBody>
      </p:sp>
      <p:sp>
        <p:nvSpPr>
          <p:cNvPr id="8" name="Rectangle 19">
            <a:extLst>
              <a:ext uri="{FF2B5EF4-FFF2-40B4-BE49-F238E27FC236}">
                <a16:creationId xmlns:a16="http://schemas.microsoft.com/office/drawing/2014/main" id="{17ABC061-42BF-63C3-5315-163164623752}"/>
              </a:ext>
            </a:extLst>
          </p:cNvPr>
          <p:cNvSpPr/>
          <p:nvPr/>
        </p:nvSpPr>
        <p:spPr>
          <a:xfrm>
            <a:off x="275322" y="5828100"/>
            <a:ext cx="5123505" cy="269875"/>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14" name="TextBox 9">
            <a:extLst>
              <a:ext uri="{FF2B5EF4-FFF2-40B4-BE49-F238E27FC236}">
                <a16:creationId xmlns:a16="http://schemas.microsoft.com/office/drawing/2014/main" id="{3E6E15C7-FF1A-9919-12B2-E4C102B38F87}"/>
              </a:ext>
            </a:extLst>
          </p:cNvPr>
          <p:cNvSpPr txBox="1"/>
          <p:nvPr/>
        </p:nvSpPr>
        <p:spPr>
          <a:xfrm>
            <a:off x="10521090" y="155075"/>
            <a:ext cx="950114" cy="461665"/>
          </a:xfrm>
          <a:prstGeom prst="rect">
            <a:avLst/>
          </a:prstGeom>
          <a:solidFill>
            <a:srgbClr val="FFFF00"/>
          </a:solidFill>
        </p:spPr>
        <p:txBody>
          <a:bodyPr wrap="square" rtlCol="0">
            <a:spAutoFit/>
          </a:bodyPr>
          <a:lstStyle/>
          <a:p>
            <a:pPr algn="ctr"/>
            <a:r>
              <a:rPr lang="pt-BR" sz="1200" b="1" err="1">
                <a:solidFill>
                  <a:srgbClr val="FF0000"/>
                </a:solidFill>
                <a:highlight>
                  <a:srgbClr val="FFFF00"/>
                </a:highlight>
                <a:latin typeface="+mj-lt"/>
              </a:rPr>
              <a:t>Customer</a:t>
            </a:r>
            <a:r>
              <a:rPr lang="pt-BR" sz="1200" b="1">
                <a:solidFill>
                  <a:srgbClr val="FF0000"/>
                </a:solidFill>
                <a:highlight>
                  <a:srgbClr val="FFFF00"/>
                </a:highlight>
                <a:latin typeface="+mj-lt"/>
              </a:rPr>
              <a:t> Logo</a:t>
            </a:r>
            <a:endParaRPr lang="en-US" sz="1200" b="1">
              <a:solidFill>
                <a:srgbClr val="FF0000"/>
              </a:solidFill>
              <a:highlight>
                <a:srgbClr val="FFFF00"/>
              </a:highlight>
              <a:latin typeface="+mj-lt"/>
            </a:endParaRPr>
          </a:p>
        </p:txBody>
      </p:sp>
      <p:sp>
        <p:nvSpPr>
          <p:cNvPr id="20" name="Titre 2">
            <a:extLst>
              <a:ext uri="{FF2B5EF4-FFF2-40B4-BE49-F238E27FC236}">
                <a16:creationId xmlns:a16="http://schemas.microsoft.com/office/drawing/2014/main" id="{9DD432A5-3B47-39CE-4BC8-7693E6C97DB4}"/>
              </a:ext>
            </a:extLst>
          </p:cNvPr>
          <p:cNvSpPr>
            <a:spLocks noGrp="1"/>
          </p:cNvSpPr>
          <p:nvPr>
            <p:ph type="title"/>
          </p:nvPr>
        </p:nvSpPr>
        <p:spPr>
          <a:xfrm>
            <a:off x="191966" y="187300"/>
            <a:ext cx="3664680" cy="554182"/>
          </a:xfrm>
        </p:spPr>
        <p:txBody>
          <a:bodyPr/>
          <a:lstStyle/>
          <a:p>
            <a:pPr defTabSz="608625" fontAlgn="auto">
              <a:spcAft>
                <a:spcPts val="0"/>
              </a:spcAft>
              <a:defRPr/>
            </a:pPr>
            <a:r>
              <a:rPr lang="en-US" sz="2400">
                <a:ea typeface="+mj-ea"/>
              </a:rPr>
              <a:t>Customer - Project Name</a:t>
            </a:r>
          </a:p>
        </p:txBody>
      </p:sp>
      <p:sp>
        <p:nvSpPr>
          <p:cNvPr id="23" name="Text Placeholder 1">
            <a:extLst>
              <a:ext uri="{FF2B5EF4-FFF2-40B4-BE49-F238E27FC236}">
                <a16:creationId xmlns:a16="http://schemas.microsoft.com/office/drawing/2014/main" id="{171F39CD-9F54-AB0F-4121-B628F68020BF}"/>
              </a:ext>
            </a:extLst>
          </p:cNvPr>
          <p:cNvSpPr>
            <a:spLocks noGrp="1"/>
          </p:cNvSpPr>
          <p:nvPr>
            <p:ph type="body" sz="quarter" idx="12"/>
          </p:nvPr>
        </p:nvSpPr>
        <p:spPr>
          <a:xfrm>
            <a:off x="191966" y="631283"/>
            <a:ext cx="4131405" cy="257674"/>
          </a:xfrm>
        </p:spPr>
        <p:txBody>
          <a:bodyPr/>
          <a:lstStyle/>
          <a:p>
            <a:pPr defTabSz="608625" fontAlgn="auto">
              <a:spcAft>
                <a:spcPts val="0"/>
              </a:spcAft>
              <a:defRPr/>
            </a:pPr>
            <a:r>
              <a:rPr lang="en-US" sz="1400">
                <a:ea typeface="+mn-ea"/>
              </a:rPr>
              <a:t>Deal Overview</a:t>
            </a:r>
          </a:p>
        </p:txBody>
      </p:sp>
      <p:sp>
        <p:nvSpPr>
          <p:cNvPr id="2" name="TextBox 1">
            <a:extLst>
              <a:ext uri="{FF2B5EF4-FFF2-40B4-BE49-F238E27FC236}">
                <a16:creationId xmlns:a16="http://schemas.microsoft.com/office/drawing/2014/main" id="{44B73109-1928-8EB2-38B7-D16208DB9978}"/>
              </a:ext>
            </a:extLst>
          </p:cNvPr>
          <p:cNvSpPr txBox="1"/>
          <p:nvPr/>
        </p:nvSpPr>
        <p:spPr>
          <a:xfrm>
            <a:off x="8770743" y="5815720"/>
            <a:ext cx="2579552" cy="246221"/>
          </a:xfrm>
          <a:prstGeom prst="rect">
            <a:avLst/>
          </a:prstGeom>
          <a:noFill/>
        </p:spPr>
        <p:txBody>
          <a:bodyPr wrap="none" rtlCol="0">
            <a:spAutoFit/>
          </a:bodyPr>
          <a:lstStyle/>
          <a:p>
            <a:r>
              <a:rPr lang="pt-BR" sz="1000">
                <a:solidFill>
                  <a:srgbClr val="FF0000"/>
                </a:solidFill>
              </a:rPr>
              <a:t>*Discuss resource capacity and availability</a:t>
            </a:r>
            <a:endParaRPr lang="en-US" sz="1000">
              <a:solidFill>
                <a:srgbClr val="FF0000"/>
              </a:solidFill>
            </a:endParaRPr>
          </a:p>
        </p:txBody>
      </p:sp>
    </p:spTree>
    <p:extLst>
      <p:ext uri="{BB962C8B-B14F-4D97-AF65-F5344CB8AC3E}">
        <p14:creationId xmlns:p14="http://schemas.microsoft.com/office/powerpoint/2010/main" val="2594829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43FD2E02-6F75-6970-2ACB-E9E476E69B59}"/>
              </a:ext>
            </a:extLst>
          </p:cNvPr>
          <p:cNvPicPr>
            <a:picLocks noChangeAspect="1"/>
          </p:cNvPicPr>
          <p:nvPr/>
        </p:nvPicPr>
        <p:blipFill>
          <a:blip r:embed="rId2"/>
          <a:stretch>
            <a:fillRect/>
          </a:stretch>
        </p:blipFill>
        <p:spPr>
          <a:xfrm>
            <a:off x="0" y="0"/>
            <a:ext cx="12161838" cy="68581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C80B04D-D91A-42D0-A105-08EB98BEB3CD}"/>
              </a:ext>
            </a:extLst>
          </p:cNvPr>
          <p:cNvSpPr>
            <a:spLocks noGrp="1"/>
          </p:cNvSpPr>
          <p:nvPr>
            <p:ph idx="1"/>
          </p:nvPr>
        </p:nvSpPr>
        <p:spPr>
          <a:xfrm>
            <a:off x="615794" y="1244401"/>
            <a:ext cx="10302415" cy="1574226"/>
          </a:xfrm>
        </p:spPr>
        <p:txBody>
          <a:bodyPr/>
          <a:lstStyle/>
          <a:p>
            <a:r>
              <a:rPr lang="en-US" sz="1600" b="0">
                <a:solidFill>
                  <a:srgbClr val="FF0000"/>
                </a:solidFill>
              </a:rPr>
              <a:t>Meeting was held on: Friday, October 6, 2023, at 4:30 pm EDT.</a:t>
            </a:r>
          </a:p>
          <a:p>
            <a:r>
              <a:rPr lang="en-US" sz="1600" b="0">
                <a:solidFill>
                  <a:srgbClr val="FF0000"/>
                </a:solidFill>
              </a:rPr>
              <a:t>Attendees: Wendell Wooten, Aline Walesko Fontes, Charles Forte, Van Fayler, Britt Frerichs, Fernando Lacerda, Patrick Lyle, Dusty Rhoades, Dominic Costello</a:t>
            </a:r>
          </a:p>
          <a:p>
            <a:r>
              <a:rPr lang="en-US" sz="1600">
                <a:solidFill>
                  <a:srgbClr val="FF0000"/>
                </a:solidFill>
                <a:highlight>
                  <a:srgbClr val="00FF00"/>
                </a:highlight>
              </a:rPr>
              <a:t>Results:  Go</a:t>
            </a:r>
          </a:p>
          <a:p>
            <a:pPr marL="0" indent="0">
              <a:buNone/>
            </a:pPr>
            <a:endParaRPr lang="en-US" sz="1600">
              <a:highlight>
                <a:srgbClr val="FFFF00"/>
              </a:highlight>
            </a:endParaRPr>
          </a:p>
          <a:p>
            <a:pPr marL="0" indent="0">
              <a:buNone/>
            </a:pPr>
            <a:endParaRPr lang="en-US"/>
          </a:p>
        </p:txBody>
      </p:sp>
      <p:sp>
        <p:nvSpPr>
          <p:cNvPr id="2" name="Rectangle 19">
            <a:extLst>
              <a:ext uri="{FF2B5EF4-FFF2-40B4-BE49-F238E27FC236}">
                <a16:creationId xmlns:a16="http://schemas.microsoft.com/office/drawing/2014/main" id="{2382A41D-C571-ED27-FD0F-1DF622692409}"/>
              </a:ext>
            </a:extLst>
          </p:cNvPr>
          <p:cNvSpPr/>
          <p:nvPr/>
        </p:nvSpPr>
        <p:spPr>
          <a:xfrm>
            <a:off x="615794" y="1115111"/>
            <a:ext cx="10397949" cy="1832806"/>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6" name="CaixaDeTexto 5">
            <a:extLst>
              <a:ext uri="{FF2B5EF4-FFF2-40B4-BE49-F238E27FC236}">
                <a16:creationId xmlns:a16="http://schemas.microsoft.com/office/drawing/2014/main" id="{07D0F762-1605-65B3-6811-4A37427E3812}"/>
              </a:ext>
            </a:extLst>
          </p:cNvPr>
          <p:cNvSpPr txBox="1"/>
          <p:nvPr/>
        </p:nvSpPr>
        <p:spPr>
          <a:xfrm>
            <a:off x="876869" y="3489111"/>
            <a:ext cx="9550021" cy="1569660"/>
          </a:xfrm>
          <a:prstGeom prst="rect">
            <a:avLst/>
          </a:prstGeom>
          <a:noFill/>
        </p:spPr>
        <p:txBody>
          <a:bodyPr wrap="square">
            <a:spAutoFit/>
          </a:bodyPr>
          <a:lstStyle/>
          <a:p>
            <a:r>
              <a:rPr lang="en-US" sz="1600" b="0" u="sng">
                <a:solidFill>
                  <a:srgbClr val="FF0000"/>
                </a:solidFill>
              </a:rPr>
              <a:t>Action Items:</a:t>
            </a:r>
          </a:p>
          <a:p>
            <a:endParaRPr lang="en-US" sz="1600" b="0" u="sng">
              <a:solidFill>
                <a:srgbClr val="FF0000"/>
              </a:solidFill>
            </a:endParaRPr>
          </a:p>
          <a:p>
            <a:pPr marL="690372" lvl="1" indent="-342900">
              <a:buFont typeface="+mj-lt"/>
              <a:buAutoNum type="arabicPeriod"/>
            </a:pPr>
            <a:r>
              <a:rPr lang="en-US" sz="1600" b="0">
                <a:solidFill>
                  <a:srgbClr val="FF0000"/>
                </a:solidFill>
              </a:rPr>
              <a:t>Inform Derek </a:t>
            </a:r>
            <a:r>
              <a:rPr lang="en-US" sz="1600" b="0" err="1">
                <a:solidFill>
                  <a:srgbClr val="FF0000"/>
                </a:solidFill>
              </a:rPr>
              <a:t>Eckhoff</a:t>
            </a:r>
            <a:r>
              <a:rPr lang="en-US" sz="1600" b="0">
                <a:solidFill>
                  <a:srgbClr val="FF0000"/>
                </a:solidFill>
              </a:rPr>
              <a:t> of Jay-Reese via phone or text if he doesn’t pick up that it’s a Go.  </a:t>
            </a:r>
            <a:endParaRPr lang="en-US" sz="1600" b="0">
              <a:solidFill>
                <a:srgbClr val="FF0000"/>
              </a:solidFill>
              <a:highlight>
                <a:srgbClr val="FFFF00"/>
              </a:highlight>
            </a:endParaRPr>
          </a:p>
          <a:p>
            <a:pPr marL="690372" lvl="1" indent="-342900">
              <a:buFont typeface="+mj-lt"/>
              <a:buAutoNum type="arabicPeriod"/>
            </a:pPr>
            <a:r>
              <a:rPr lang="en-US" sz="1600" b="0">
                <a:solidFill>
                  <a:srgbClr val="FF0000"/>
                </a:solidFill>
              </a:rPr>
              <a:t>Request the latest System Design Doc (SDD).  System and Application Eng group should have.</a:t>
            </a:r>
          </a:p>
          <a:p>
            <a:pPr marL="690372" lvl="1" indent="-342900">
              <a:buFont typeface="+mj-lt"/>
              <a:buAutoNum type="arabicPeriod"/>
            </a:pPr>
            <a:r>
              <a:rPr lang="en-US" sz="1600" b="0">
                <a:solidFill>
                  <a:srgbClr val="FF0000"/>
                </a:solidFill>
              </a:rPr>
              <a:t>Contact Jay-Reese and solidify an Exclusive Partnership.</a:t>
            </a:r>
          </a:p>
          <a:p>
            <a:pPr marL="1298384" lvl="2" indent="-342900">
              <a:buFont typeface="+mj-lt"/>
              <a:buAutoNum type="arabicPeriod"/>
            </a:pPr>
            <a:r>
              <a:rPr lang="en-US" sz="1600">
                <a:solidFill>
                  <a:srgbClr val="FF0000"/>
                </a:solidFill>
              </a:rPr>
              <a:t>They are good to go to be exclusive.</a:t>
            </a:r>
            <a:endParaRPr lang="en-US" sz="1600" b="0">
              <a:solidFill>
                <a:srgbClr val="FF0000"/>
              </a:solidFill>
            </a:endParaRPr>
          </a:p>
        </p:txBody>
      </p:sp>
      <p:sp>
        <p:nvSpPr>
          <p:cNvPr id="7" name="Rectangle 19">
            <a:extLst>
              <a:ext uri="{FF2B5EF4-FFF2-40B4-BE49-F238E27FC236}">
                <a16:creationId xmlns:a16="http://schemas.microsoft.com/office/drawing/2014/main" id="{3BDAFAA2-15E4-5162-5703-8338D46E7F9C}"/>
              </a:ext>
            </a:extLst>
          </p:cNvPr>
          <p:cNvSpPr/>
          <p:nvPr/>
        </p:nvSpPr>
        <p:spPr>
          <a:xfrm>
            <a:off x="615793" y="3247673"/>
            <a:ext cx="10397950" cy="2170488"/>
          </a:xfrm>
          <a:prstGeom prst="rect">
            <a:avLst/>
          </a:prstGeom>
          <a:ln>
            <a:solidFill>
              <a:schemeClr val="tx1">
                <a:lumMod val="50000"/>
              </a:schemeClr>
            </a:solidFill>
          </a:ln>
        </p:spPr>
        <p:txBody>
          <a:bodyPr wrap="square" rtlCol="0" anchor="ctr">
            <a:noAutofit/>
          </a:bodyPr>
          <a:lstStyle/>
          <a:p>
            <a:pPr algn="ctr"/>
            <a:endParaRPr lang="en-US" sz="3600" b="1" spc="-150">
              <a:solidFill>
                <a:srgbClr val="FFFFFF"/>
              </a:solidFill>
              <a:latin typeface="Arial" pitchFamily="34" charset="0"/>
              <a:cs typeface="Arial" pitchFamily="34" charset="0"/>
            </a:endParaRPr>
          </a:p>
        </p:txBody>
      </p:sp>
      <p:sp>
        <p:nvSpPr>
          <p:cNvPr id="8" name="Retângulo 7">
            <a:extLst>
              <a:ext uri="{FF2B5EF4-FFF2-40B4-BE49-F238E27FC236}">
                <a16:creationId xmlns:a16="http://schemas.microsoft.com/office/drawing/2014/main" id="{756F9D7A-63B6-5DF2-B589-387769EB5477}"/>
              </a:ext>
            </a:extLst>
          </p:cNvPr>
          <p:cNvSpPr/>
          <p:nvPr/>
        </p:nvSpPr>
        <p:spPr>
          <a:xfrm>
            <a:off x="481262" y="1244401"/>
            <a:ext cx="11064781" cy="4624136"/>
          </a:xfrm>
          <a:prstGeom prst="rect">
            <a:avLst/>
          </a:prstGeom>
          <a:ln w="28575">
            <a:solidFill>
              <a:srgbClr val="FF0000"/>
            </a:solidFill>
            <a:prstDash val="dash"/>
          </a:ln>
        </p:spPr>
        <p:txBody>
          <a:bodyPr wrap="square" rtlCol="0" anchor="ctr">
            <a:spAutoFit/>
          </a:bodyPr>
          <a:lstStyle/>
          <a:p>
            <a:pPr algn="ctr"/>
            <a:endParaRPr lang="en-US" sz="3600" b="1" spc="-150">
              <a:solidFill>
                <a:srgbClr val="FFFFFF"/>
              </a:solidFill>
              <a:latin typeface="Arial" pitchFamily="34" charset="0"/>
              <a:cs typeface="Arial" pitchFamily="34" charset="0"/>
            </a:endParaRPr>
          </a:p>
        </p:txBody>
      </p:sp>
      <p:sp>
        <p:nvSpPr>
          <p:cNvPr id="9" name="Content Placeholder 4">
            <a:extLst>
              <a:ext uri="{FF2B5EF4-FFF2-40B4-BE49-F238E27FC236}">
                <a16:creationId xmlns:a16="http://schemas.microsoft.com/office/drawing/2014/main" id="{57A24AC1-C6D6-E1BC-C5E8-A94A4E046192}"/>
              </a:ext>
            </a:extLst>
          </p:cNvPr>
          <p:cNvSpPr txBox="1">
            <a:spLocks/>
          </p:cNvSpPr>
          <p:nvPr/>
        </p:nvSpPr>
        <p:spPr>
          <a:xfrm>
            <a:off x="10635832" y="1439839"/>
            <a:ext cx="2352723" cy="403192"/>
          </a:xfrm>
          <a:prstGeom prst="rect">
            <a:avLst/>
          </a:prstGeom>
        </p:spPr>
        <p:txBody>
          <a:bodyPr lIns="121725" tIns="60862" rIns="121725" bIns="60862"/>
          <a:lstStyle>
            <a:lvl1pPr marL="274320" indent="-274320" algn="l" defTabSz="608013" rtl="0" eaLnBrk="1" fontAlgn="base" hangingPunct="1">
              <a:spcBef>
                <a:spcPts val="1200"/>
              </a:spcBef>
              <a:spcAft>
                <a:spcPts val="0"/>
              </a:spcAft>
              <a:buClrTx/>
              <a:buFont typeface="Arial"/>
              <a:buChar char="•"/>
              <a:defRPr sz="2400" b="1" i="0" kern="1200">
                <a:solidFill>
                  <a:schemeClr val="tx1"/>
                </a:solidFill>
                <a:latin typeface="Tahoma (body)"/>
                <a:ea typeface="Tahoma" pitchFamily="34" charset="0"/>
                <a:cs typeface="Tahoma (body)"/>
              </a:defRPr>
            </a:lvl1pPr>
            <a:lvl2pPr marL="621792" indent="-292608" algn="l" defTabSz="608013" rtl="0" eaLnBrk="1" fontAlgn="base" hangingPunct="1">
              <a:spcBef>
                <a:spcPts val="1200"/>
              </a:spcBef>
              <a:spcAft>
                <a:spcPts val="0"/>
              </a:spcAft>
              <a:buClrTx/>
              <a:buFont typeface="Lucida Grande"/>
              <a:buChar char="-"/>
              <a:defRPr sz="2100" kern="1200">
                <a:solidFill>
                  <a:schemeClr val="tx1"/>
                </a:solidFill>
                <a:latin typeface="Tahoma (body)"/>
                <a:ea typeface="Tahoma" pitchFamily="34" charset="0"/>
                <a:cs typeface="Tahoma (body)"/>
              </a:defRPr>
            </a:lvl2pPr>
            <a:lvl3pPr marL="969264"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3pPr>
            <a:lvl4pPr marL="1307592"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4pPr>
            <a:lvl5pPr marL="1645920" indent="-304312" algn="l" defTabSz="608013" rtl="0" eaLnBrk="1" fontAlgn="base" hangingPunct="1">
              <a:spcBef>
                <a:spcPts val="1200"/>
              </a:spcBef>
              <a:spcAft>
                <a:spcPts val="0"/>
              </a:spcAft>
              <a:buClrTx/>
              <a:buFont typeface="Lucida Grande"/>
              <a:buChar char="-"/>
              <a:defRPr sz="1900" kern="1200">
                <a:solidFill>
                  <a:schemeClr val="tx1"/>
                </a:solidFill>
                <a:latin typeface="Tahoma (body)"/>
                <a:ea typeface="Tahoma" pitchFamily="34" charset="0"/>
                <a:cs typeface="Tahoma (body)"/>
              </a:defRPr>
            </a:lvl5pPr>
            <a:lvl6pPr marL="3347436" indent="-304312" algn="l" defTabSz="608625" rtl="0" eaLnBrk="1" latinLnBrk="0" hangingPunct="1">
              <a:spcBef>
                <a:spcPct val="20000"/>
              </a:spcBef>
              <a:buFont typeface="Arial"/>
              <a:buChar char="•"/>
              <a:defRPr sz="2700" kern="1200">
                <a:solidFill>
                  <a:schemeClr val="tx1"/>
                </a:solidFill>
                <a:latin typeface="+mn-lt"/>
                <a:ea typeface="+mn-ea"/>
                <a:cs typeface="+mn-cs"/>
              </a:defRPr>
            </a:lvl6pPr>
            <a:lvl7pPr marL="3956060" indent="-304312" algn="l" defTabSz="608625" rtl="0" eaLnBrk="1" latinLnBrk="0" hangingPunct="1">
              <a:spcBef>
                <a:spcPct val="20000"/>
              </a:spcBef>
              <a:buFont typeface="Arial"/>
              <a:buChar char="•"/>
              <a:defRPr sz="2700" kern="1200">
                <a:solidFill>
                  <a:schemeClr val="tx1"/>
                </a:solidFill>
                <a:latin typeface="+mn-lt"/>
                <a:ea typeface="+mn-ea"/>
                <a:cs typeface="+mn-cs"/>
              </a:defRPr>
            </a:lvl7pPr>
            <a:lvl8pPr marL="4564685" indent="-304312" algn="l" defTabSz="608625" rtl="0" eaLnBrk="1" latinLnBrk="0" hangingPunct="1">
              <a:spcBef>
                <a:spcPct val="20000"/>
              </a:spcBef>
              <a:buFont typeface="Arial"/>
              <a:buChar char="•"/>
              <a:defRPr sz="2700" kern="1200">
                <a:solidFill>
                  <a:schemeClr val="tx1"/>
                </a:solidFill>
                <a:latin typeface="+mn-lt"/>
                <a:ea typeface="+mn-ea"/>
                <a:cs typeface="+mn-cs"/>
              </a:defRPr>
            </a:lvl8pPr>
            <a:lvl9pPr marL="5173309" indent="-304312" algn="l" defTabSz="608625" rtl="0" eaLnBrk="1" latinLnBrk="0" hangingPunct="1">
              <a:spcBef>
                <a:spcPct val="20000"/>
              </a:spcBef>
              <a:buFont typeface="Arial"/>
              <a:buChar char="•"/>
              <a:defRPr sz="2700" kern="1200">
                <a:solidFill>
                  <a:schemeClr val="tx1"/>
                </a:solidFill>
                <a:latin typeface="+mn-lt"/>
                <a:ea typeface="+mn-ea"/>
                <a:cs typeface="+mn-cs"/>
              </a:defRPr>
            </a:lvl9pPr>
          </a:lstStyle>
          <a:p>
            <a:pPr marL="0" indent="0">
              <a:buFont typeface="Arial"/>
              <a:buNone/>
            </a:pPr>
            <a:r>
              <a:rPr lang="pt-BR" err="1">
                <a:solidFill>
                  <a:srgbClr val="FF0000"/>
                </a:solidFill>
                <a:highlight>
                  <a:srgbClr val="FFFF00"/>
                </a:highlight>
              </a:rPr>
              <a:t>Example</a:t>
            </a:r>
            <a:endParaRPr lang="en-US">
              <a:solidFill>
                <a:srgbClr val="FF0000"/>
              </a:solidFill>
              <a:highlight>
                <a:srgbClr val="FFFF00"/>
              </a:highlight>
            </a:endParaRPr>
          </a:p>
        </p:txBody>
      </p:sp>
      <p:sp>
        <p:nvSpPr>
          <p:cNvPr id="4" name="CaixaDeTexto 3">
            <a:extLst>
              <a:ext uri="{FF2B5EF4-FFF2-40B4-BE49-F238E27FC236}">
                <a16:creationId xmlns:a16="http://schemas.microsoft.com/office/drawing/2014/main" id="{43969375-7B1F-FF07-2B4C-35C7A85DF818}"/>
              </a:ext>
            </a:extLst>
          </p:cNvPr>
          <p:cNvSpPr txBox="1"/>
          <p:nvPr/>
        </p:nvSpPr>
        <p:spPr>
          <a:xfrm>
            <a:off x="4446071" y="185307"/>
            <a:ext cx="3922918" cy="523220"/>
          </a:xfrm>
          <a:prstGeom prst="rect">
            <a:avLst/>
          </a:prstGeom>
          <a:solidFill>
            <a:srgbClr val="FFFF00"/>
          </a:solidFill>
          <a:ln w="28575">
            <a:solidFill>
              <a:srgbClr val="FF0000"/>
            </a:solidFill>
          </a:ln>
        </p:spPr>
        <p:txBody>
          <a:bodyPr wrap="square" rtlCol="0">
            <a:spAutoFit/>
          </a:bodyPr>
          <a:lstStyle/>
          <a:p>
            <a:r>
              <a:rPr lang="pt-BR" sz="1400" b="1">
                <a:highlight>
                  <a:srgbClr val="FFFF00"/>
                </a:highlight>
              </a:rPr>
              <a:t>NOTE</a:t>
            </a:r>
            <a:r>
              <a:rPr lang="pt-BR" sz="1400">
                <a:highlight>
                  <a:srgbClr val="FFFF00"/>
                </a:highlight>
              </a:rPr>
              <a:t>: </a:t>
            </a:r>
            <a:r>
              <a:rPr lang="pt-BR" sz="1400" err="1">
                <a:highlight>
                  <a:srgbClr val="FFFF00"/>
                </a:highlight>
              </a:rPr>
              <a:t>This</a:t>
            </a:r>
            <a:r>
              <a:rPr lang="pt-BR" sz="1400">
                <a:highlight>
                  <a:srgbClr val="FFFF00"/>
                </a:highlight>
              </a:rPr>
              <a:t> slide must </a:t>
            </a:r>
            <a:r>
              <a:rPr lang="pt-BR" sz="1400" err="1">
                <a:highlight>
                  <a:srgbClr val="FFFF00"/>
                </a:highlight>
              </a:rPr>
              <a:t>be</a:t>
            </a:r>
            <a:r>
              <a:rPr lang="pt-BR" sz="1400">
                <a:highlight>
                  <a:srgbClr val="FFFF00"/>
                </a:highlight>
              </a:rPr>
              <a:t> </a:t>
            </a:r>
            <a:r>
              <a:rPr lang="pt-BR" sz="1400" err="1">
                <a:highlight>
                  <a:srgbClr val="FFFF00"/>
                </a:highlight>
              </a:rPr>
              <a:t>completed</a:t>
            </a:r>
            <a:r>
              <a:rPr lang="pt-BR" sz="1400">
                <a:highlight>
                  <a:srgbClr val="FFFF00"/>
                </a:highlight>
              </a:rPr>
              <a:t> </a:t>
            </a:r>
            <a:r>
              <a:rPr lang="pt-BR" sz="1400" err="1">
                <a:highlight>
                  <a:srgbClr val="FFFF00"/>
                </a:highlight>
              </a:rPr>
              <a:t>after</a:t>
            </a:r>
            <a:r>
              <a:rPr lang="pt-BR" sz="1400">
                <a:highlight>
                  <a:srgbClr val="FFFF00"/>
                </a:highlight>
              </a:rPr>
              <a:t> </a:t>
            </a:r>
            <a:r>
              <a:rPr lang="pt-BR" sz="1400" err="1">
                <a:highlight>
                  <a:srgbClr val="FFFF00"/>
                </a:highlight>
              </a:rPr>
              <a:t>the</a:t>
            </a:r>
            <a:r>
              <a:rPr lang="pt-BR" sz="1400">
                <a:highlight>
                  <a:srgbClr val="FFFF00"/>
                </a:highlight>
              </a:rPr>
              <a:t> meeting </a:t>
            </a:r>
            <a:r>
              <a:rPr lang="pt-BR" sz="1400" err="1">
                <a:highlight>
                  <a:srgbClr val="FFFF00"/>
                </a:highlight>
              </a:rPr>
              <a:t>and</a:t>
            </a:r>
            <a:r>
              <a:rPr lang="pt-BR" sz="1400">
                <a:highlight>
                  <a:srgbClr val="FFFF00"/>
                </a:highlight>
              </a:rPr>
              <a:t> </a:t>
            </a:r>
            <a:r>
              <a:rPr lang="pt-BR" sz="1400" err="1">
                <a:highlight>
                  <a:srgbClr val="FFFF00"/>
                </a:highlight>
              </a:rPr>
              <a:t>sent</a:t>
            </a:r>
            <a:r>
              <a:rPr lang="pt-BR" sz="1400">
                <a:highlight>
                  <a:srgbClr val="FFFF00"/>
                </a:highlight>
              </a:rPr>
              <a:t> </a:t>
            </a:r>
            <a:r>
              <a:rPr lang="pt-BR" sz="1400" err="1">
                <a:highlight>
                  <a:srgbClr val="FFFF00"/>
                </a:highlight>
              </a:rPr>
              <a:t>to</a:t>
            </a:r>
            <a:r>
              <a:rPr lang="pt-BR" sz="1400">
                <a:highlight>
                  <a:srgbClr val="FFFF00"/>
                </a:highlight>
              </a:rPr>
              <a:t> </a:t>
            </a:r>
            <a:r>
              <a:rPr lang="pt-BR" sz="1400" err="1">
                <a:highlight>
                  <a:srgbClr val="FFFF00"/>
                </a:highlight>
              </a:rPr>
              <a:t>all</a:t>
            </a:r>
            <a:r>
              <a:rPr lang="pt-BR" sz="1400">
                <a:highlight>
                  <a:srgbClr val="FFFF00"/>
                </a:highlight>
              </a:rPr>
              <a:t> </a:t>
            </a:r>
            <a:r>
              <a:rPr lang="pt-BR" sz="1400" err="1">
                <a:highlight>
                  <a:srgbClr val="FFFF00"/>
                </a:highlight>
              </a:rPr>
              <a:t>the</a:t>
            </a:r>
            <a:r>
              <a:rPr lang="pt-BR" sz="1400">
                <a:highlight>
                  <a:srgbClr val="FFFF00"/>
                </a:highlight>
              </a:rPr>
              <a:t> </a:t>
            </a:r>
            <a:r>
              <a:rPr lang="pt-BR" sz="1400" err="1">
                <a:highlight>
                  <a:srgbClr val="FFFF00"/>
                </a:highlight>
              </a:rPr>
              <a:t>personnel</a:t>
            </a:r>
            <a:r>
              <a:rPr lang="pt-BR" sz="1400">
                <a:highlight>
                  <a:srgbClr val="FFFF00"/>
                </a:highlight>
              </a:rPr>
              <a:t> </a:t>
            </a:r>
            <a:r>
              <a:rPr lang="pt-BR" sz="1400" err="1">
                <a:highlight>
                  <a:srgbClr val="FFFF00"/>
                </a:highlight>
              </a:rPr>
              <a:t>involved</a:t>
            </a:r>
            <a:endParaRPr lang="en-US" sz="1400">
              <a:highlight>
                <a:srgbClr val="FFFF00"/>
              </a:highlight>
            </a:endParaRPr>
          </a:p>
        </p:txBody>
      </p:sp>
      <p:sp>
        <p:nvSpPr>
          <p:cNvPr id="10" name="Titre 2">
            <a:extLst>
              <a:ext uri="{FF2B5EF4-FFF2-40B4-BE49-F238E27FC236}">
                <a16:creationId xmlns:a16="http://schemas.microsoft.com/office/drawing/2014/main" id="{55B963B2-145E-F4A3-0211-60BDC0C7F411}"/>
              </a:ext>
            </a:extLst>
          </p:cNvPr>
          <p:cNvSpPr txBox="1">
            <a:spLocks/>
          </p:cNvSpPr>
          <p:nvPr/>
        </p:nvSpPr>
        <p:spPr>
          <a:xfrm>
            <a:off x="191966" y="-74493"/>
            <a:ext cx="3664680" cy="815975"/>
          </a:xfrm>
          <a:prstGeom prst="rect">
            <a:avLst/>
          </a:prstGeom>
        </p:spPr>
        <p:txBody>
          <a:bodyPr lIns="121725" tIns="60862" rIns="121725" bIns="60862" anchor="b" anchorCtr="0"/>
          <a:lstStyle>
            <a:lvl1pPr marL="0" indent="0" algn="l" defTabSz="608013" rtl="0" eaLnBrk="1" fontAlgn="base" hangingPunct="1">
              <a:spcBef>
                <a:spcPct val="0"/>
              </a:spcBef>
              <a:spcAft>
                <a:spcPct val="0"/>
              </a:spcAft>
              <a:defRPr sz="3600" b="1" i="0" kern="1200" cap="none" spc="-100" baseline="0">
                <a:solidFill>
                  <a:schemeClr val="tx1"/>
                </a:solidFill>
                <a:latin typeface="Arial"/>
                <a:ea typeface="ＭＳ Ｐゴシック" charset="0"/>
                <a:cs typeface="Arial"/>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a:lstStyle>
          <a:p>
            <a:pPr defTabSz="608625" fontAlgn="auto">
              <a:spcAft>
                <a:spcPts val="0"/>
              </a:spcAft>
              <a:defRPr/>
            </a:pPr>
            <a:r>
              <a:rPr lang="en-US" sz="2400">
                <a:ea typeface="+mj-ea"/>
              </a:rPr>
              <a:t>Customer - Project Name</a:t>
            </a:r>
          </a:p>
        </p:txBody>
      </p:sp>
      <p:sp>
        <p:nvSpPr>
          <p:cNvPr id="11" name="Text Placeholder 1">
            <a:extLst>
              <a:ext uri="{FF2B5EF4-FFF2-40B4-BE49-F238E27FC236}">
                <a16:creationId xmlns:a16="http://schemas.microsoft.com/office/drawing/2014/main" id="{DE329393-A618-ACF0-D03D-145691170996}"/>
              </a:ext>
            </a:extLst>
          </p:cNvPr>
          <p:cNvSpPr>
            <a:spLocks noGrp="1"/>
          </p:cNvSpPr>
          <p:nvPr>
            <p:ph type="body" sz="quarter" idx="12"/>
          </p:nvPr>
        </p:nvSpPr>
        <p:spPr>
          <a:xfrm>
            <a:off x="191966" y="631283"/>
            <a:ext cx="4131405" cy="257674"/>
          </a:xfrm>
        </p:spPr>
        <p:txBody>
          <a:bodyPr/>
          <a:lstStyle/>
          <a:p>
            <a:pPr defTabSz="608625" fontAlgn="auto">
              <a:spcAft>
                <a:spcPts val="0"/>
              </a:spcAft>
              <a:defRPr/>
            </a:pPr>
            <a:r>
              <a:rPr lang="pt-BR" sz="1400">
                <a:ea typeface="+mn-ea"/>
              </a:rPr>
              <a:t>A</a:t>
            </a:r>
            <a:r>
              <a:rPr lang="en-US" sz="1400" err="1">
                <a:ea typeface="+mn-ea"/>
              </a:rPr>
              <a:t>ction</a:t>
            </a:r>
            <a:r>
              <a:rPr lang="en-US" sz="1400">
                <a:ea typeface="+mn-ea"/>
              </a:rPr>
              <a:t> Items and Results</a:t>
            </a:r>
          </a:p>
        </p:txBody>
      </p:sp>
      <p:sp>
        <p:nvSpPr>
          <p:cNvPr id="3" name="TextBox 9">
            <a:extLst>
              <a:ext uri="{FF2B5EF4-FFF2-40B4-BE49-F238E27FC236}">
                <a16:creationId xmlns:a16="http://schemas.microsoft.com/office/drawing/2014/main" id="{AC8224D4-C2CA-E41B-57A0-27A175ACC793}"/>
              </a:ext>
            </a:extLst>
          </p:cNvPr>
          <p:cNvSpPr txBox="1"/>
          <p:nvPr/>
        </p:nvSpPr>
        <p:spPr>
          <a:xfrm>
            <a:off x="10063629" y="355235"/>
            <a:ext cx="950114" cy="461665"/>
          </a:xfrm>
          <a:prstGeom prst="rect">
            <a:avLst/>
          </a:prstGeom>
          <a:solidFill>
            <a:srgbClr val="FFFF00"/>
          </a:solidFill>
        </p:spPr>
        <p:txBody>
          <a:bodyPr wrap="square" rtlCol="0">
            <a:spAutoFit/>
          </a:bodyPr>
          <a:lstStyle/>
          <a:p>
            <a:pPr algn="ctr"/>
            <a:r>
              <a:rPr lang="pt-BR" sz="1200" b="1" err="1">
                <a:solidFill>
                  <a:srgbClr val="FF0000"/>
                </a:solidFill>
                <a:highlight>
                  <a:srgbClr val="FFFF00"/>
                </a:highlight>
                <a:latin typeface="+mj-lt"/>
              </a:rPr>
              <a:t>Customer</a:t>
            </a:r>
            <a:r>
              <a:rPr lang="pt-BR" sz="1200" b="1">
                <a:solidFill>
                  <a:srgbClr val="FF0000"/>
                </a:solidFill>
                <a:highlight>
                  <a:srgbClr val="FFFF00"/>
                </a:highlight>
                <a:latin typeface="+mj-lt"/>
              </a:rPr>
              <a:t> Logo</a:t>
            </a:r>
            <a:endParaRPr lang="en-US" sz="1200" b="1">
              <a:solidFill>
                <a:srgbClr val="FF0000"/>
              </a:solidFill>
              <a:highlight>
                <a:srgbClr val="FFFF00"/>
              </a:highlight>
              <a:latin typeface="+mj-lt"/>
            </a:endParaRPr>
          </a:p>
        </p:txBody>
      </p:sp>
    </p:spTree>
    <p:extLst>
      <p:ext uri="{BB962C8B-B14F-4D97-AF65-F5344CB8AC3E}">
        <p14:creationId xmlns:p14="http://schemas.microsoft.com/office/powerpoint/2010/main" val="3290487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C80B04D-D91A-42D0-A105-08EB98BEB3CD}"/>
              </a:ext>
            </a:extLst>
          </p:cNvPr>
          <p:cNvSpPr>
            <a:spLocks noGrp="1"/>
          </p:cNvSpPr>
          <p:nvPr>
            <p:ph idx="1"/>
          </p:nvPr>
        </p:nvSpPr>
        <p:spPr>
          <a:xfrm>
            <a:off x="790076" y="1045829"/>
            <a:ext cx="10859379" cy="4966396"/>
          </a:xfrm>
        </p:spPr>
        <p:txBody>
          <a:bodyPr/>
          <a:lstStyle/>
          <a:p>
            <a:pPr marL="0" indent="0">
              <a:buNone/>
            </a:pPr>
            <a:r>
              <a:rPr lang="en-US" sz="1400">
                <a:solidFill>
                  <a:srgbClr val="FF0000"/>
                </a:solidFill>
              </a:rPr>
              <a:t>Signals, COMMS, &amp; Integration</a:t>
            </a:r>
          </a:p>
        </p:txBody>
      </p:sp>
      <p:sp>
        <p:nvSpPr>
          <p:cNvPr id="10" name="CaixaDeTexto 9">
            <a:extLst>
              <a:ext uri="{FF2B5EF4-FFF2-40B4-BE49-F238E27FC236}">
                <a16:creationId xmlns:a16="http://schemas.microsoft.com/office/drawing/2014/main" id="{39EDDEEF-E2A7-8EEC-24DD-0BC60160E88E}"/>
              </a:ext>
            </a:extLst>
          </p:cNvPr>
          <p:cNvSpPr txBox="1"/>
          <p:nvPr/>
        </p:nvSpPr>
        <p:spPr>
          <a:xfrm>
            <a:off x="942191" y="1382286"/>
            <a:ext cx="8351933" cy="4293483"/>
          </a:xfrm>
          <a:prstGeom prst="rect">
            <a:avLst/>
          </a:prstGeom>
          <a:noFill/>
        </p:spPr>
        <p:txBody>
          <a:bodyPr wrap="square">
            <a:spAutoFit/>
          </a:bodyPr>
          <a:lstStyle/>
          <a:p>
            <a:pPr marL="0" indent="0" algn="just">
              <a:spcBef>
                <a:spcPts val="0"/>
              </a:spcBef>
              <a:buFont typeface="Wingdings" panose="05000000000000000000" pitchFamily="2" charset="2"/>
              <a:buChar char="Ø"/>
            </a:pPr>
            <a:r>
              <a:rPr lang="en-US" sz="1050" b="0">
                <a:solidFill>
                  <a:srgbClr val="FF0000"/>
                </a:solidFill>
              </a:rPr>
              <a:t> The signaling system provided for the Project by the Design-Builder must be identical to the signaling system of the Capital Line LRT and comply with the Edmonton High Floor LRT Signaling Engineering Manual.</a:t>
            </a:r>
          </a:p>
          <a:p>
            <a:pPr marL="0" indent="0" algn="just">
              <a:spcBef>
                <a:spcPts val="0"/>
              </a:spcBef>
              <a:buNone/>
            </a:pPr>
            <a:endParaRPr lang="en-US" sz="1050" b="0">
              <a:solidFill>
                <a:srgbClr val="FF0000"/>
              </a:solidFill>
            </a:endParaRPr>
          </a:p>
          <a:p>
            <a:pPr marL="0" indent="0" algn="just">
              <a:spcBef>
                <a:spcPts val="0"/>
              </a:spcBef>
              <a:buFont typeface="Wingdings" panose="05000000000000000000" pitchFamily="2" charset="2"/>
              <a:buChar char="Ø"/>
            </a:pPr>
            <a:r>
              <a:rPr lang="en-US" sz="1050" b="0">
                <a:solidFill>
                  <a:srgbClr val="FF0000"/>
                </a:solidFill>
              </a:rPr>
              <a:t> The Design-Builder must fully integrate the signaling system for the Project with the signaling system provided for the Capital Line LRT to prevent operational deadlocking between Century Park Station and Twin Brooks Station.</a:t>
            </a:r>
          </a:p>
          <a:p>
            <a:pPr marL="0" indent="0" algn="just">
              <a:spcBef>
                <a:spcPts val="0"/>
              </a:spcBef>
              <a:buNone/>
            </a:pPr>
            <a:endParaRPr lang="en-US" sz="1050" b="0">
              <a:solidFill>
                <a:srgbClr val="FF0000"/>
              </a:solidFill>
            </a:endParaRPr>
          </a:p>
          <a:p>
            <a:pPr marL="0" indent="0" algn="just">
              <a:spcBef>
                <a:spcPts val="0"/>
              </a:spcBef>
              <a:buFont typeface="Wingdings" panose="05000000000000000000" pitchFamily="2" charset="2"/>
              <a:buChar char="Ø"/>
            </a:pPr>
            <a:r>
              <a:rPr lang="en-US" sz="1050" b="0">
                <a:solidFill>
                  <a:srgbClr val="FF0000"/>
                </a:solidFill>
              </a:rPr>
              <a:t> During tie-in, Design-Builder must ensure the Signal System stays safe and do not create operational disturbance.</a:t>
            </a:r>
          </a:p>
          <a:p>
            <a:pPr marL="0" indent="0" algn="just">
              <a:spcBef>
                <a:spcPts val="0"/>
              </a:spcBef>
              <a:buFont typeface="Wingdings" panose="05000000000000000000" pitchFamily="2" charset="2"/>
              <a:buChar char="Ø"/>
            </a:pPr>
            <a:endParaRPr lang="en-US" sz="1050" b="0">
              <a:solidFill>
                <a:srgbClr val="FF0000"/>
              </a:solidFill>
            </a:endParaRPr>
          </a:p>
          <a:p>
            <a:pPr marL="0" indent="0" algn="just">
              <a:spcBef>
                <a:spcPts val="0"/>
              </a:spcBef>
              <a:buNone/>
            </a:pPr>
            <a:r>
              <a:rPr lang="en-US" sz="1050">
                <a:solidFill>
                  <a:srgbClr val="FF0000"/>
                </a:solidFill>
              </a:rPr>
              <a:t>Overview</a:t>
            </a:r>
          </a:p>
          <a:p>
            <a:pPr algn="just">
              <a:spcBef>
                <a:spcPts val="0"/>
              </a:spcBef>
            </a:pPr>
            <a:r>
              <a:rPr lang="en-US" sz="1050" b="0">
                <a:solidFill>
                  <a:srgbClr val="FF0000"/>
                </a:solidFill>
              </a:rPr>
              <a:t>Extending the Capital Line LRT ~4.5KM from Century Park Station</a:t>
            </a:r>
          </a:p>
          <a:p>
            <a:pPr algn="just">
              <a:spcBef>
                <a:spcPts val="0"/>
              </a:spcBef>
            </a:pPr>
            <a:r>
              <a:rPr lang="en-US" sz="1050" b="0">
                <a:solidFill>
                  <a:srgbClr val="FF0000"/>
                </a:solidFill>
              </a:rPr>
              <a:t>Line crosses high-voltage power transmission lines – EMI/EMC assurance</a:t>
            </a:r>
          </a:p>
          <a:p>
            <a:pPr algn="just">
              <a:spcBef>
                <a:spcPts val="0"/>
              </a:spcBef>
            </a:pPr>
            <a:r>
              <a:rPr lang="en-US" sz="1050" b="0">
                <a:solidFill>
                  <a:srgbClr val="FF0000"/>
                </a:solidFill>
              </a:rPr>
              <a:t>Include two new stations</a:t>
            </a:r>
          </a:p>
          <a:p>
            <a:pPr lvl="1" algn="just">
              <a:spcBef>
                <a:spcPts val="0"/>
              </a:spcBef>
            </a:pPr>
            <a:r>
              <a:rPr lang="en-US" sz="1050">
                <a:solidFill>
                  <a:srgbClr val="FF0000"/>
                </a:solidFill>
              </a:rPr>
              <a:t>Twin Brooks</a:t>
            </a:r>
          </a:p>
          <a:p>
            <a:pPr lvl="1" algn="just">
              <a:spcBef>
                <a:spcPts val="0"/>
              </a:spcBef>
            </a:pPr>
            <a:r>
              <a:rPr lang="en-US" sz="1050" b="0">
                <a:solidFill>
                  <a:srgbClr val="FF0000"/>
                </a:solidFill>
              </a:rPr>
              <a:t>Herita</a:t>
            </a:r>
            <a:r>
              <a:rPr lang="en-US" sz="1050">
                <a:solidFill>
                  <a:srgbClr val="FF0000"/>
                </a:solidFill>
              </a:rPr>
              <a:t>ge Valley North</a:t>
            </a:r>
          </a:p>
          <a:p>
            <a:pPr marL="274320" marR="0" lvl="0" indent="-274320" algn="just" defTabSz="608013" rtl="0" eaLnBrk="1" fontAlgn="base" latinLnBrk="0" hangingPunct="1">
              <a:lnSpc>
                <a:spcPct val="100000"/>
              </a:lnSpc>
              <a:spcBef>
                <a:spcPts val="0"/>
              </a:spcBef>
              <a:spcAft>
                <a:spcPts val="0"/>
              </a:spcAft>
              <a:buClrTx/>
              <a:buSzTx/>
              <a:buFont typeface="Arial"/>
              <a:buChar char="•"/>
              <a:tabLst/>
              <a:defRPr/>
            </a:pPr>
            <a:r>
              <a:rPr kumimoji="0" lang="en-US" sz="1050" b="0" i="0" u="none" strike="noStrike" kern="1200" cap="none" spc="0" normalizeH="0" baseline="0" noProof="0">
                <a:ln>
                  <a:noFill/>
                </a:ln>
                <a:solidFill>
                  <a:srgbClr val="FF0000"/>
                </a:solidFill>
                <a:effectLst/>
                <a:uLnTx/>
                <a:uFillTx/>
                <a:latin typeface="Tahoma (body)"/>
                <a:ea typeface="Tahoma" pitchFamily="34" charset="0"/>
              </a:rPr>
              <a:t>Two Signal Rooms</a:t>
            </a:r>
          </a:p>
          <a:p>
            <a:pPr lvl="1" indent="-274320" algn="just">
              <a:spcBef>
                <a:spcPts val="0"/>
              </a:spcBef>
              <a:buFont typeface="Arial"/>
              <a:buChar char="•"/>
              <a:defRPr/>
            </a:pPr>
            <a:r>
              <a:rPr kumimoji="0" lang="en-US" sz="1050" b="0" i="0" u="none" strike="noStrike" kern="1200" cap="none" spc="0" normalizeH="0" baseline="0" noProof="0">
                <a:ln>
                  <a:noFill/>
                </a:ln>
                <a:solidFill>
                  <a:srgbClr val="FF0000"/>
                </a:solidFill>
                <a:effectLst/>
                <a:uLnTx/>
                <a:uFillTx/>
                <a:latin typeface="Tahoma (body)"/>
                <a:ea typeface="Tahoma" pitchFamily="34" charset="0"/>
              </a:rPr>
              <a:t>At 12 Ave NW</a:t>
            </a:r>
          </a:p>
          <a:p>
            <a:pPr lvl="1" indent="-274320" algn="just">
              <a:spcBef>
                <a:spcPts val="0"/>
              </a:spcBef>
              <a:buFont typeface="Arial"/>
              <a:buChar char="•"/>
              <a:defRPr/>
            </a:pPr>
            <a:r>
              <a:rPr lang="en-US" sz="1050">
                <a:solidFill>
                  <a:srgbClr val="FF0000"/>
                </a:solidFill>
              </a:rPr>
              <a:t>At Heritage Valley North</a:t>
            </a:r>
          </a:p>
          <a:p>
            <a:pPr marL="274320" marR="0" lvl="0" indent="-274320" algn="just" defTabSz="608013" rtl="0" eaLnBrk="1" fontAlgn="base" latinLnBrk="0" hangingPunct="1">
              <a:lnSpc>
                <a:spcPct val="100000"/>
              </a:lnSpc>
              <a:spcBef>
                <a:spcPts val="0"/>
              </a:spcBef>
              <a:spcAft>
                <a:spcPts val="0"/>
              </a:spcAft>
              <a:buClrTx/>
              <a:buSzTx/>
              <a:buFont typeface="Arial"/>
              <a:buChar char="•"/>
              <a:tabLst/>
              <a:defRPr/>
            </a:pPr>
            <a:r>
              <a:rPr lang="en-US" sz="1050" b="0">
                <a:solidFill>
                  <a:srgbClr val="FF0000"/>
                </a:solidFill>
              </a:rPr>
              <a:t>Six Grade Crossings – Three (3) at grade street crossings and three (3) ped crossings</a:t>
            </a:r>
          </a:p>
          <a:p>
            <a:pPr lvl="1" indent="-274320" algn="just">
              <a:spcBef>
                <a:spcPts val="0"/>
              </a:spcBef>
              <a:buFont typeface="Arial"/>
              <a:buChar char="•"/>
              <a:defRPr/>
            </a:pPr>
            <a:r>
              <a:rPr lang="en-US" sz="1050">
                <a:solidFill>
                  <a:srgbClr val="FF0000"/>
                </a:solidFill>
              </a:rPr>
              <a:t>Century Park Bus Access (Ped, no pre-emption)</a:t>
            </a:r>
          </a:p>
          <a:p>
            <a:pPr lvl="1" indent="-274320" algn="just">
              <a:spcBef>
                <a:spcPts val="0"/>
              </a:spcBef>
              <a:buFont typeface="Arial"/>
              <a:buChar char="•"/>
              <a:defRPr/>
            </a:pPr>
            <a:r>
              <a:rPr lang="en-US" sz="1050" b="0">
                <a:solidFill>
                  <a:srgbClr val="FF0000"/>
                </a:solidFill>
              </a:rPr>
              <a:t>Saddleback Rd / 19</a:t>
            </a:r>
            <a:r>
              <a:rPr lang="en-US" sz="1050" b="0" baseline="30000">
                <a:solidFill>
                  <a:srgbClr val="FF0000"/>
                </a:solidFill>
              </a:rPr>
              <a:t>th</a:t>
            </a:r>
            <a:r>
              <a:rPr lang="en-US" sz="1050" b="0">
                <a:solidFill>
                  <a:srgbClr val="FF0000"/>
                </a:solidFill>
              </a:rPr>
              <a:t> Ave &amp; 111 Street NW</a:t>
            </a:r>
          </a:p>
          <a:p>
            <a:pPr lvl="1" indent="-274320" algn="just">
              <a:spcBef>
                <a:spcPts val="0"/>
              </a:spcBef>
              <a:buFont typeface="Arial"/>
              <a:buChar char="•"/>
              <a:defRPr/>
            </a:pPr>
            <a:r>
              <a:rPr lang="en-US" sz="1050">
                <a:solidFill>
                  <a:srgbClr val="FF0000"/>
                </a:solidFill>
              </a:rPr>
              <a:t>12 Ave &amp; 111 Street NW</a:t>
            </a:r>
          </a:p>
          <a:p>
            <a:pPr lvl="1" indent="-274320" algn="just">
              <a:spcBef>
                <a:spcPts val="0"/>
              </a:spcBef>
              <a:buFont typeface="Arial"/>
              <a:buChar char="•"/>
              <a:defRPr/>
            </a:pPr>
            <a:r>
              <a:rPr lang="en-US" sz="1050" b="0">
                <a:solidFill>
                  <a:srgbClr val="FF0000"/>
                </a:solidFill>
              </a:rPr>
              <a:t>North Ped access to Twin Brooks </a:t>
            </a:r>
            <a:r>
              <a:rPr lang="en-US" sz="1050">
                <a:solidFill>
                  <a:srgbClr val="FF0000"/>
                </a:solidFill>
              </a:rPr>
              <a:t>Station (Ped, no pre-emption)</a:t>
            </a:r>
          </a:p>
          <a:p>
            <a:pPr lvl="1" indent="-274320" algn="just">
              <a:spcBef>
                <a:spcPts val="0"/>
              </a:spcBef>
              <a:buFont typeface="Arial"/>
              <a:buChar char="•"/>
              <a:defRPr/>
            </a:pPr>
            <a:r>
              <a:rPr lang="en-US" sz="1050" b="0">
                <a:solidFill>
                  <a:srgbClr val="FF0000"/>
                </a:solidFill>
              </a:rPr>
              <a:t>9 Ave &amp; 111 Street NW</a:t>
            </a:r>
          </a:p>
          <a:p>
            <a:pPr lvl="1" indent="-274320" algn="just">
              <a:spcBef>
                <a:spcPts val="0"/>
              </a:spcBef>
              <a:buFont typeface="Arial"/>
              <a:buChar char="•"/>
              <a:defRPr/>
            </a:pPr>
            <a:r>
              <a:rPr lang="en-US" sz="1050">
                <a:solidFill>
                  <a:srgbClr val="FF0000"/>
                </a:solidFill>
              </a:rPr>
              <a:t>Heritage Valley North Park &amp; Ride Access (No pre-emption)</a:t>
            </a:r>
            <a:endParaRPr lang="en-US" sz="1050" b="0">
              <a:solidFill>
                <a:srgbClr val="FF0000"/>
              </a:solidFill>
            </a:endParaRPr>
          </a:p>
          <a:p>
            <a:pPr marL="274320" marR="0" lvl="0" indent="-274320" algn="just" defTabSz="608013" rtl="0" eaLnBrk="1" fontAlgn="base" latinLnBrk="0" hangingPunct="1">
              <a:lnSpc>
                <a:spcPct val="100000"/>
              </a:lnSpc>
              <a:spcBef>
                <a:spcPts val="0"/>
              </a:spcBef>
              <a:spcAft>
                <a:spcPts val="0"/>
              </a:spcAft>
              <a:buClrTx/>
              <a:buSzTx/>
              <a:buFont typeface="Arial"/>
              <a:buChar char="•"/>
              <a:tabLst/>
              <a:defRPr/>
            </a:pPr>
            <a:r>
              <a:rPr kumimoji="0" lang="en-US" sz="1050" b="0" i="0" u="none" strike="noStrike" kern="1200" cap="none" spc="0" normalizeH="0" baseline="0" noProof="0">
                <a:ln>
                  <a:noFill/>
                </a:ln>
                <a:solidFill>
                  <a:srgbClr val="FF0000"/>
                </a:solidFill>
                <a:effectLst/>
                <a:uLnTx/>
                <a:uFillTx/>
                <a:latin typeface="Tahoma (body)"/>
                <a:ea typeface="Tahoma" pitchFamily="34" charset="0"/>
              </a:rPr>
              <a:t>Signal System Description Doc to include Functional description for each application logic and all acronyms</a:t>
            </a:r>
          </a:p>
          <a:p>
            <a:pPr marL="274320" marR="0" lvl="0" indent="-274320" algn="just" defTabSz="608013" rtl="0" eaLnBrk="1" fontAlgn="base" latinLnBrk="0" hangingPunct="1">
              <a:lnSpc>
                <a:spcPct val="100000"/>
              </a:lnSpc>
              <a:spcBef>
                <a:spcPts val="0"/>
              </a:spcBef>
              <a:spcAft>
                <a:spcPts val="0"/>
              </a:spcAft>
              <a:buClrTx/>
              <a:buSzTx/>
              <a:buFont typeface="Arial"/>
              <a:buChar char="•"/>
              <a:tabLst/>
              <a:defRPr/>
            </a:pPr>
            <a:r>
              <a:rPr lang="en-US" sz="1050" b="0">
                <a:solidFill>
                  <a:srgbClr val="FF0000"/>
                </a:solidFill>
              </a:rPr>
              <a:t>ICD for OCC / Signal Integration</a:t>
            </a:r>
            <a:endParaRPr kumimoji="0" lang="en-US" sz="1050" b="0" i="0" u="none" strike="noStrike" kern="1200" cap="none" spc="0" normalizeH="0" baseline="0" noProof="0">
              <a:ln>
                <a:noFill/>
              </a:ln>
              <a:solidFill>
                <a:srgbClr val="FF0000"/>
              </a:solidFill>
              <a:effectLst/>
              <a:uLnTx/>
              <a:uFillTx/>
              <a:latin typeface="Tahoma (body)"/>
              <a:ea typeface="Tahoma" pitchFamily="34" charset="0"/>
            </a:endParaRPr>
          </a:p>
        </p:txBody>
      </p:sp>
      <p:sp>
        <p:nvSpPr>
          <p:cNvPr id="2" name="Titre 2">
            <a:extLst>
              <a:ext uri="{FF2B5EF4-FFF2-40B4-BE49-F238E27FC236}">
                <a16:creationId xmlns:a16="http://schemas.microsoft.com/office/drawing/2014/main" id="{15F46B6C-E8E4-63DC-2D3C-7ED40996DAEA}"/>
              </a:ext>
            </a:extLst>
          </p:cNvPr>
          <p:cNvSpPr>
            <a:spLocks noGrp="1"/>
          </p:cNvSpPr>
          <p:nvPr>
            <p:ph type="title"/>
          </p:nvPr>
        </p:nvSpPr>
        <p:spPr>
          <a:xfrm>
            <a:off x="191966" y="-74493"/>
            <a:ext cx="3664680" cy="815975"/>
          </a:xfrm>
        </p:spPr>
        <p:txBody>
          <a:bodyPr/>
          <a:lstStyle/>
          <a:p>
            <a:pPr defTabSz="608625" fontAlgn="auto">
              <a:spcAft>
                <a:spcPts val="0"/>
              </a:spcAft>
              <a:defRPr/>
            </a:pPr>
            <a:r>
              <a:rPr lang="en-US" sz="2400">
                <a:ea typeface="+mj-ea"/>
              </a:rPr>
              <a:t>Customer - Project Name</a:t>
            </a:r>
          </a:p>
        </p:txBody>
      </p:sp>
      <p:sp>
        <p:nvSpPr>
          <p:cNvPr id="3" name="Text Placeholder 1">
            <a:extLst>
              <a:ext uri="{FF2B5EF4-FFF2-40B4-BE49-F238E27FC236}">
                <a16:creationId xmlns:a16="http://schemas.microsoft.com/office/drawing/2014/main" id="{B7881A99-2133-B75B-68C7-2E49DD305653}"/>
              </a:ext>
            </a:extLst>
          </p:cNvPr>
          <p:cNvSpPr>
            <a:spLocks noGrp="1"/>
          </p:cNvSpPr>
          <p:nvPr>
            <p:ph type="body" sz="quarter" idx="12"/>
          </p:nvPr>
        </p:nvSpPr>
        <p:spPr>
          <a:xfrm>
            <a:off x="191966" y="631283"/>
            <a:ext cx="4131405" cy="257674"/>
          </a:xfrm>
        </p:spPr>
        <p:txBody>
          <a:bodyPr/>
          <a:lstStyle/>
          <a:p>
            <a:pPr defTabSz="608625" fontAlgn="auto">
              <a:spcAft>
                <a:spcPts val="0"/>
              </a:spcAft>
              <a:defRPr/>
            </a:pPr>
            <a:r>
              <a:rPr lang="en-US" sz="1400">
                <a:ea typeface="+mn-ea"/>
              </a:rPr>
              <a:t>Scope detailed</a:t>
            </a:r>
          </a:p>
        </p:txBody>
      </p:sp>
      <p:sp>
        <p:nvSpPr>
          <p:cNvPr id="4" name="TextBox 9">
            <a:extLst>
              <a:ext uri="{FF2B5EF4-FFF2-40B4-BE49-F238E27FC236}">
                <a16:creationId xmlns:a16="http://schemas.microsoft.com/office/drawing/2014/main" id="{18649FAE-607C-E130-6C47-1379316A4D3D}"/>
              </a:ext>
            </a:extLst>
          </p:cNvPr>
          <p:cNvSpPr txBox="1"/>
          <p:nvPr/>
        </p:nvSpPr>
        <p:spPr>
          <a:xfrm>
            <a:off x="10459923" y="400450"/>
            <a:ext cx="950114" cy="461665"/>
          </a:xfrm>
          <a:prstGeom prst="rect">
            <a:avLst/>
          </a:prstGeom>
          <a:solidFill>
            <a:srgbClr val="FFFF00"/>
          </a:solidFill>
        </p:spPr>
        <p:txBody>
          <a:bodyPr wrap="square" rtlCol="0">
            <a:spAutoFit/>
          </a:bodyPr>
          <a:lstStyle/>
          <a:p>
            <a:pPr algn="ctr"/>
            <a:r>
              <a:rPr lang="pt-BR" sz="1200" b="1" err="1">
                <a:solidFill>
                  <a:srgbClr val="FF0000"/>
                </a:solidFill>
                <a:highlight>
                  <a:srgbClr val="FFFF00"/>
                </a:highlight>
                <a:latin typeface="+mj-lt"/>
              </a:rPr>
              <a:t>Customer</a:t>
            </a:r>
            <a:r>
              <a:rPr lang="pt-BR" sz="1200" b="1">
                <a:solidFill>
                  <a:srgbClr val="FF0000"/>
                </a:solidFill>
                <a:highlight>
                  <a:srgbClr val="FFFF00"/>
                </a:highlight>
                <a:latin typeface="+mj-lt"/>
              </a:rPr>
              <a:t> Logo</a:t>
            </a:r>
            <a:endParaRPr lang="en-US" sz="1200" b="1">
              <a:solidFill>
                <a:srgbClr val="FF0000"/>
              </a:solidFill>
              <a:highlight>
                <a:srgbClr val="FFFF00"/>
              </a:highlight>
              <a:latin typeface="+mj-lt"/>
            </a:endParaRPr>
          </a:p>
        </p:txBody>
      </p:sp>
    </p:spTree>
    <p:extLst>
      <p:ext uri="{BB962C8B-B14F-4D97-AF65-F5344CB8AC3E}">
        <p14:creationId xmlns:p14="http://schemas.microsoft.com/office/powerpoint/2010/main" val="201414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C80B04D-D91A-42D0-A105-08EB98BEB3CD}"/>
              </a:ext>
            </a:extLst>
          </p:cNvPr>
          <p:cNvSpPr>
            <a:spLocks noGrp="1"/>
          </p:cNvSpPr>
          <p:nvPr>
            <p:ph idx="1"/>
          </p:nvPr>
        </p:nvSpPr>
        <p:spPr>
          <a:xfrm>
            <a:off x="1213957" y="1454471"/>
            <a:ext cx="3012268" cy="1333486"/>
          </a:xfrm>
        </p:spPr>
        <p:txBody>
          <a:bodyPr/>
          <a:lstStyle/>
          <a:p>
            <a:pPr marL="0" indent="0" algn="ctr">
              <a:buNone/>
            </a:pPr>
            <a:r>
              <a:rPr lang="pt-BR" sz="2800" err="1">
                <a:solidFill>
                  <a:srgbClr val="FF0000"/>
                </a:solidFill>
                <a:highlight>
                  <a:srgbClr val="FFFF00"/>
                </a:highlight>
              </a:rPr>
              <a:t>Example</a:t>
            </a:r>
            <a:endParaRPr lang="pt-BR" sz="3200">
              <a:solidFill>
                <a:srgbClr val="FF0000"/>
              </a:solidFill>
              <a:highlight>
                <a:srgbClr val="FFFF00"/>
              </a:highlight>
            </a:endParaRPr>
          </a:p>
          <a:p>
            <a:pPr marL="0" indent="0" algn="ctr">
              <a:buNone/>
            </a:pPr>
            <a:r>
              <a:rPr lang="en-US" sz="1400">
                <a:solidFill>
                  <a:srgbClr val="FF0000"/>
                </a:solidFill>
                <a:effectLst/>
                <a:highlight>
                  <a:srgbClr val="FFFF00"/>
                </a:highlight>
                <a:latin typeface="Segoe UI" panose="020B0502040204020203" pitchFamily="34" charset="0"/>
              </a:rPr>
              <a:t>This slide must be done if applicable for the opportunity</a:t>
            </a:r>
            <a:endParaRPr lang="en-US">
              <a:solidFill>
                <a:srgbClr val="FF0000"/>
              </a:solidFill>
              <a:highlight>
                <a:srgbClr val="FFFF00"/>
              </a:highlight>
            </a:endParaRPr>
          </a:p>
        </p:txBody>
      </p:sp>
      <p:sp>
        <p:nvSpPr>
          <p:cNvPr id="2" name="TextBox 4">
            <a:extLst>
              <a:ext uri="{FF2B5EF4-FFF2-40B4-BE49-F238E27FC236}">
                <a16:creationId xmlns:a16="http://schemas.microsoft.com/office/drawing/2014/main" id="{0A475407-130B-7959-DE6E-A3582405AF1F}"/>
              </a:ext>
            </a:extLst>
          </p:cNvPr>
          <p:cNvSpPr txBox="1"/>
          <p:nvPr/>
        </p:nvSpPr>
        <p:spPr>
          <a:xfrm>
            <a:off x="4913852" y="1138307"/>
            <a:ext cx="2889115" cy="369332"/>
          </a:xfrm>
          <a:prstGeom prst="rect">
            <a:avLst/>
          </a:prstGeom>
          <a:noFill/>
          <a:ln>
            <a:solidFill>
              <a:schemeClr val="tx1">
                <a:lumMod val="50000"/>
              </a:schemeClr>
            </a:solidFill>
          </a:ln>
        </p:spPr>
        <p:txBody>
          <a:bodyPr wrap="square" rtlCol="0">
            <a:spAutoFit/>
          </a:bodyPr>
          <a:lstStyle/>
          <a:p>
            <a:pPr algn="ctr"/>
            <a:r>
              <a:rPr lang="en-US" sz="1800"/>
              <a:t>City of Edmonton</a:t>
            </a:r>
          </a:p>
        </p:txBody>
      </p:sp>
      <p:sp>
        <p:nvSpPr>
          <p:cNvPr id="4" name="TextBox 5">
            <a:extLst>
              <a:ext uri="{FF2B5EF4-FFF2-40B4-BE49-F238E27FC236}">
                <a16:creationId xmlns:a16="http://schemas.microsoft.com/office/drawing/2014/main" id="{CF527F5F-B5D0-5CD6-0F90-7D1DD7E5D5BD}"/>
              </a:ext>
            </a:extLst>
          </p:cNvPr>
          <p:cNvSpPr txBox="1"/>
          <p:nvPr/>
        </p:nvSpPr>
        <p:spPr>
          <a:xfrm>
            <a:off x="4913851" y="2253745"/>
            <a:ext cx="2889115" cy="369332"/>
          </a:xfrm>
          <a:prstGeom prst="rect">
            <a:avLst/>
          </a:prstGeom>
          <a:noFill/>
          <a:ln>
            <a:solidFill>
              <a:schemeClr val="tx1">
                <a:lumMod val="50000"/>
              </a:schemeClr>
            </a:solidFill>
          </a:ln>
        </p:spPr>
        <p:txBody>
          <a:bodyPr wrap="square" rtlCol="0">
            <a:spAutoFit/>
          </a:bodyPr>
          <a:lstStyle/>
          <a:p>
            <a:pPr algn="ctr"/>
            <a:r>
              <a:rPr lang="en-US" sz="1800"/>
              <a:t>Graham/PCL</a:t>
            </a:r>
          </a:p>
        </p:txBody>
      </p:sp>
      <p:sp>
        <p:nvSpPr>
          <p:cNvPr id="6" name="TextBox 8">
            <a:extLst>
              <a:ext uri="{FF2B5EF4-FFF2-40B4-BE49-F238E27FC236}">
                <a16:creationId xmlns:a16="http://schemas.microsoft.com/office/drawing/2014/main" id="{7EFADE28-E1B3-8A54-4EC4-E66BF57B453F}"/>
              </a:ext>
            </a:extLst>
          </p:cNvPr>
          <p:cNvSpPr txBox="1"/>
          <p:nvPr/>
        </p:nvSpPr>
        <p:spPr>
          <a:xfrm>
            <a:off x="3966214" y="4181367"/>
            <a:ext cx="1941477" cy="369332"/>
          </a:xfrm>
          <a:prstGeom prst="rect">
            <a:avLst/>
          </a:prstGeom>
          <a:noFill/>
          <a:ln>
            <a:solidFill>
              <a:schemeClr val="tx1">
                <a:lumMod val="50000"/>
              </a:schemeClr>
            </a:solidFill>
          </a:ln>
        </p:spPr>
        <p:txBody>
          <a:bodyPr wrap="square" rtlCol="0">
            <a:spAutoFit/>
          </a:bodyPr>
          <a:lstStyle/>
          <a:p>
            <a:pPr algn="ctr"/>
            <a:r>
              <a:rPr lang="en-US" sz="1800"/>
              <a:t>Jacobs</a:t>
            </a:r>
          </a:p>
        </p:txBody>
      </p:sp>
      <p:sp>
        <p:nvSpPr>
          <p:cNvPr id="7" name="TextBox 15">
            <a:extLst>
              <a:ext uri="{FF2B5EF4-FFF2-40B4-BE49-F238E27FC236}">
                <a16:creationId xmlns:a16="http://schemas.microsoft.com/office/drawing/2014/main" id="{EEEB60C2-549C-8CB5-4957-2267EC0CAECC}"/>
              </a:ext>
            </a:extLst>
          </p:cNvPr>
          <p:cNvSpPr txBox="1"/>
          <p:nvPr/>
        </p:nvSpPr>
        <p:spPr>
          <a:xfrm>
            <a:off x="2070939" y="3296761"/>
            <a:ext cx="1895275" cy="369332"/>
          </a:xfrm>
          <a:prstGeom prst="rect">
            <a:avLst/>
          </a:prstGeom>
          <a:noFill/>
          <a:ln>
            <a:solidFill>
              <a:schemeClr val="tx1">
                <a:lumMod val="50000"/>
              </a:schemeClr>
            </a:solidFill>
          </a:ln>
        </p:spPr>
        <p:txBody>
          <a:bodyPr wrap="square" rtlCol="0">
            <a:spAutoFit/>
          </a:bodyPr>
          <a:lstStyle/>
          <a:p>
            <a:pPr algn="ctr"/>
            <a:r>
              <a:rPr lang="en-US" sz="1800"/>
              <a:t>TSR</a:t>
            </a:r>
          </a:p>
        </p:txBody>
      </p:sp>
      <p:sp>
        <p:nvSpPr>
          <p:cNvPr id="8" name="TextBox 16">
            <a:extLst>
              <a:ext uri="{FF2B5EF4-FFF2-40B4-BE49-F238E27FC236}">
                <a16:creationId xmlns:a16="http://schemas.microsoft.com/office/drawing/2014/main" id="{7E1E3F41-A176-ECE4-D7A7-6C1DE0E40BF5}"/>
              </a:ext>
            </a:extLst>
          </p:cNvPr>
          <p:cNvSpPr txBox="1"/>
          <p:nvPr/>
        </p:nvSpPr>
        <p:spPr>
          <a:xfrm>
            <a:off x="8253684" y="3296761"/>
            <a:ext cx="2079693" cy="369332"/>
          </a:xfrm>
          <a:prstGeom prst="rect">
            <a:avLst/>
          </a:prstGeom>
          <a:noFill/>
          <a:ln>
            <a:solidFill>
              <a:schemeClr val="tx1">
                <a:lumMod val="50000"/>
              </a:schemeClr>
            </a:solidFill>
          </a:ln>
        </p:spPr>
        <p:txBody>
          <a:bodyPr wrap="square" rtlCol="0">
            <a:spAutoFit/>
          </a:bodyPr>
          <a:lstStyle/>
          <a:p>
            <a:pPr algn="ctr"/>
            <a:r>
              <a:rPr lang="en-US" sz="1800" err="1"/>
              <a:t>RemCam</a:t>
            </a:r>
            <a:endParaRPr lang="en-US" sz="1800"/>
          </a:p>
        </p:txBody>
      </p:sp>
      <p:sp>
        <p:nvSpPr>
          <p:cNvPr id="9" name="TextBox 17">
            <a:extLst>
              <a:ext uri="{FF2B5EF4-FFF2-40B4-BE49-F238E27FC236}">
                <a16:creationId xmlns:a16="http://schemas.microsoft.com/office/drawing/2014/main" id="{E6483F9F-5574-DB6D-D6FB-F1C185E2EAA0}"/>
              </a:ext>
            </a:extLst>
          </p:cNvPr>
          <p:cNvSpPr txBox="1"/>
          <p:nvPr/>
        </p:nvSpPr>
        <p:spPr>
          <a:xfrm>
            <a:off x="6723842" y="4124803"/>
            <a:ext cx="2155464" cy="369332"/>
          </a:xfrm>
          <a:prstGeom prst="rect">
            <a:avLst/>
          </a:prstGeom>
          <a:noFill/>
          <a:ln>
            <a:solidFill>
              <a:schemeClr val="tx1">
                <a:lumMod val="50000"/>
              </a:schemeClr>
            </a:solidFill>
          </a:ln>
        </p:spPr>
        <p:txBody>
          <a:bodyPr wrap="square" rtlCol="0">
            <a:spAutoFit/>
          </a:bodyPr>
          <a:lstStyle/>
          <a:p>
            <a:pPr algn="ctr"/>
            <a:r>
              <a:rPr lang="en-US" sz="1800"/>
              <a:t>Other Subs</a:t>
            </a:r>
          </a:p>
        </p:txBody>
      </p:sp>
      <p:sp>
        <p:nvSpPr>
          <p:cNvPr id="10" name="TextBox 18">
            <a:extLst>
              <a:ext uri="{FF2B5EF4-FFF2-40B4-BE49-F238E27FC236}">
                <a16:creationId xmlns:a16="http://schemas.microsoft.com/office/drawing/2014/main" id="{1FB2C8C8-D681-9B9D-1DF3-666A5D9F2BB7}"/>
              </a:ext>
            </a:extLst>
          </p:cNvPr>
          <p:cNvSpPr txBox="1"/>
          <p:nvPr/>
        </p:nvSpPr>
        <p:spPr>
          <a:xfrm>
            <a:off x="5546557" y="5855893"/>
            <a:ext cx="2273055" cy="400110"/>
          </a:xfrm>
          <a:prstGeom prst="rect">
            <a:avLst/>
          </a:prstGeom>
          <a:noFill/>
          <a:ln>
            <a:solidFill>
              <a:schemeClr val="tx1">
                <a:lumMod val="50000"/>
              </a:schemeClr>
            </a:solidFill>
          </a:ln>
        </p:spPr>
        <p:txBody>
          <a:bodyPr wrap="square" rtlCol="0">
            <a:spAutoFit/>
          </a:bodyPr>
          <a:lstStyle/>
          <a:p>
            <a:pPr algn="ctr"/>
            <a:r>
              <a:rPr lang="en-US" sz="2000" b="1"/>
              <a:t>Wabtec</a:t>
            </a:r>
            <a:endParaRPr lang="en-US" b="1"/>
          </a:p>
        </p:txBody>
      </p:sp>
      <p:cxnSp>
        <p:nvCxnSpPr>
          <p:cNvPr id="11" name="Straight Arrow Connector 20">
            <a:extLst>
              <a:ext uri="{FF2B5EF4-FFF2-40B4-BE49-F238E27FC236}">
                <a16:creationId xmlns:a16="http://schemas.microsoft.com/office/drawing/2014/main" id="{6A7F00A6-7C20-F2E9-0579-E4CDA45394F1}"/>
              </a:ext>
            </a:extLst>
          </p:cNvPr>
          <p:cNvCxnSpPr>
            <a:cxnSpLocks/>
            <a:stCxn id="2" idx="2"/>
            <a:endCxn id="4" idx="0"/>
          </p:cNvCxnSpPr>
          <p:nvPr/>
        </p:nvCxnSpPr>
        <p:spPr>
          <a:xfrm flipH="1">
            <a:off x="6358409" y="1507639"/>
            <a:ext cx="1" cy="746106"/>
          </a:xfrm>
          <a:prstGeom prst="straightConnector1">
            <a:avLst/>
          </a:prstGeom>
          <a:ln>
            <a:solidFill>
              <a:schemeClr val="accent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21">
            <a:extLst>
              <a:ext uri="{FF2B5EF4-FFF2-40B4-BE49-F238E27FC236}">
                <a16:creationId xmlns:a16="http://schemas.microsoft.com/office/drawing/2014/main" id="{2DA8B39D-1FAD-3A3C-15AF-A26DC85B108C}"/>
              </a:ext>
            </a:extLst>
          </p:cNvPr>
          <p:cNvCxnSpPr>
            <a:cxnSpLocks/>
            <a:stCxn id="4" idx="2"/>
            <a:endCxn id="7" idx="0"/>
          </p:cNvCxnSpPr>
          <p:nvPr/>
        </p:nvCxnSpPr>
        <p:spPr>
          <a:xfrm flipH="1">
            <a:off x="3018577" y="2623077"/>
            <a:ext cx="3339832" cy="673684"/>
          </a:xfrm>
          <a:prstGeom prst="straightConnector1">
            <a:avLst/>
          </a:prstGeom>
          <a:ln>
            <a:solidFill>
              <a:schemeClr val="accent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24">
            <a:extLst>
              <a:ext uri="{FF2B5EF4-FFF2-40B4-BE49-F238E27FC236}">
                <a16:creationId xmlns:a16="http://schemas.microsoft.com/office/drawing/2014/main" id="{8120F00C-45D4-B125-6743-EF414AF58CAC}"/>
              </a:ext>
            </a:extLst>
          </p:cNvPr>
          <p:cNvCxnSpPr>
            <a:cxnSpLocks/>
            <a:stCxn id="4" idx="2"/>
            <a:endCxn id="8" idx="0"/>
          </p:cNvCxnSpPr>
          <p:nvPr/>
        </p:nvCxnSpPr>
        <p:spPr>
          <a:xfrm>
            <a:off x="6358409" y="2623077"/>
            <a:ext cx="2935122" cy="673684"/>
          </a:xfrm>
          <a:prstGeom prst="straightConnector1">
            <a:avLst/>
          </a:prstGeom>
          <a:ln>
            <a:solidFill>
              <a:schemeClr val="accent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27">
            <a:extLst>
              <a:ext uri="{FF2B5EF4-FFF2-40B4-BE49-F238E27FC236}">
                <a16:creationId xmlns:a16="http://schemas.microsoft.com/office/drawing/2014/main" id="{E59360B5-4F96-F519-8460-980A9D17C4B9}"/>
              </a:ext>
            </a:extLst>
          </p:cNvPr>
          <p:cNvCxnSpPr>
            <a:cxnSpLocks/>
            <a:stCxn id="4" idx="2"/>
            <a:endCxn id="6" idx="0"/>
          </p:cNvCxnSpPr>
          <p:nvPr/>
        </p:nvCxnSpPr>
        <p:spPr>
          <a:xfrm flipH="1">
            <a:off x="4936953" y="2623077"/>
            <a:ext cx="1421456" cy="1558290"/>
          </a:xfrm>
          <a:prstGeom prst="straightConnector1">
            <a:avLst/>
          </a:prstGeom>
          <a:ln>
            <a:solidFill>
              <a:schemeClr val="accent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32">
            <a:extLst>
              <a:ext uri="{FF2B5EF4-FFF2-40B4-BE49-F238E27FC236}">
                <a16:creationId xmlns:a16="http://schemas.microsoft.com/office/drawing/2014/main" id="{C46C0F4A-9500-933B-14B4-014AE52D3520}"/>
              </a:ext>
            </a:extLst>
          </p:cNvPr>
          <p:cNvCxnSpPr>
            <a:cxnSpLocks/>
            <a:stCxn id="4" idx="2"/>
            <a:endCxn id="9" idx="0"/>
          </p:cNvCxnSpPr>
          <p:nvPr/>
        </p:nvCxnSpPr>
        <p:spPr>
          <a:xfrm>
            <a:off x="6358409" y="2623077"/>
            <a:ext cx="1443165" cy="1501726"/>
          </a:xfrm>
          <a:prstGeom prst="straightConnector1">
            <a:avLst/>
          </a:prstGeom>
          <a:ln>
            <a:solidFill>
              <a:schemeClr val="accent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41">
            <a:extLst>
              <a:ext uri="{FF2B5EF4-FFF2-40B4-BE49-F238E27FC236}">
                <a16:creationId xmlns:a16="http://schemas.microsoft.com/office/drawing/2014/main" id="{0AE14DA5-B418-30DD-44CF-40C50199F328}"/>
              </a:ext>
            </a:extLst>
          </p:cNvPr>
          <p:cNvCxnSpPr>
            <a:cxnSpLocks/>
            <a:stCxn id="6" idx="2"/>
            <a:endCxn id="10" idx="0"/>
          </p:cNvCxnSpPr>
          <p:nvPr/>
        </p:nvCxnSpPr>
        <p:spPr>
          <a:xfrm>
            <a:off x="4936953" y="4550699"/>
            <a:ext cx="1746132" cy="1305194"/>
          </a:xfrm>
          <a:prstGeom prst="straightConnector1">
            <a:avLst/>
          </a:prstGeom>
          <a:ln>
            <a:solidFill>
              <a:schemeClr val="accent1">
                <a:lumMod val="75000"/>
                <a:lumOff val="25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7" name="TextBox 44">
            <a:extLst>
              <a:ext uri="{FF2B5EF4-FFF2-40B4-BE49-F238E27FC236}">
                <a16:creationId xmlns:a16="http://schemas.microsoft.com/office/drawing/2014/main" id="{ED05E2BB-B4FC-4D5A-419E-9265A325F435}"/>
              </a:ext>
            </a:extLst>
          </p:cNvPr>
          <p:cNvSpPr txBox="1"/>
          <p:nvPr/>
        </p:nvSpPr>
        <p:spPr>
          <a:xfrm>
            <a:off x="4913851" y="1555953"/>
            <a:ext cx="1350088" cy="261610"/>
          </a:xfrm>
          <a:prstGeom prst="rect">
            <a:avLst/>
          </a:prstGeom>
          <a:noFill/>
        </p:spPr>
        <p:txBody>
          <a:bodyPr wrap="square" rtlCol="0">
            <a:spAutoFit/>
          </a:bodyPr>
          <a:lstStyle/>
          <a:p>
            <a:r>
              <a:rPr lang="en-US" sz="1100"/>
              <a:t>End Customer</a:t>
            </a:r>
          </a:p>
        </p:txBody>
      </p:sp>
      <p:sp>
        <p:nvSpPr>
          <p:cNvPr id="18" name="TextBox 45">
            <a:extLst>
              <a:ext uri="{FF2B5EF4-FFF2-40B4-BE49-F238E27FC236}">
                <a16:creationId xmlns:a16="http://schemas.microsoft.com/office/drawing/2014/main" id="{C139A266-D939-A829-A152-9AB9C7406CCB}"/>
              </a:ext>
            </a:extLst>
          </p:cNvPr>
          <p:cNvSpPr txBox="1"/>
          <p:nvPr/>
        </p:nvSpPr>
        <p:spPr>
          <a:xfrm>
            <a:off x="7285123" y="2021776"/>
            <a:ext cx="1350088" cy="261610"/>
          </a:xfrm>
          <a:prstGeom prst="rect">
            <a:avLst/>
          </a:prstGeom>
          <a:noFill/>
        </p:spPr>
        <p:txBody>
          <a:bodyPr wrap="square" rtlCol="0">
            <a:spAutoFit/>
          </a:bodyPr>
          <a:lstStyle/>
          <a:p>
            <a:r>
              <a:rPr lang="en-US" sz="1100"/>
              <a:t>DBJV</a:t>
            </a:r>
          </a:p>
        </p:txBody>
      </p:sp>
      <p:sp>
        <p:nvSpPr>
          <p:cNvPr id="19" name="TextBox 46">
            <a:extLst>
              <a:ext uri="{FF2B5EF4-FFF2-40B4-BE49-F238E27FC236}">
                <a16:creationId xmlns:a16="http://schemas.microsoft.com/office/drawing/2014/main" id="{38ABCDEC-7105-8B24-5803-442DD7783BDC}"/>
              </a:ext>
            </a:extLst>
          </p:cNvPr>
          <p:cNvSpPr txBox="1"/>
          <p:nvPr/>
        </p:nvSpPr>
        <p:spPr>
          <a:xfrm>
            <a:off x="8250451" y="3666093"/>
            <a:ext cx="982922" cy="261610"/>
          </a:xfrm>
          <a:prstGeom prst="rect">
            <a:avLst/>
          </a:prstGeom>
          <a:noFill/>
        </p:spPr>
        <p:txBody>
          <a:bodyPr wrap="square" rtlCol="0">
            <a:spAutoFit/>
          </a:bodyPr>
          <a:lstStyle/>
          <a:p>
            <a:r>
              <a:rPr lang="en-US" sz="1100"/>
              <a:t>Trackwork</a:t>
            </a:r>
          </a:p>
        </p:txBody>
      </p:sp>
      <p:sp>
        <p:nvSpPr>
          <p:cNvPr id="20" name="TextBox 48">
            <a:extLst>
              <a:ext uri="{FF2B5EF4-FFF2-40B4-BE49-F238E27FC236}">
                <a16:creationId xmlns:a16="http://schemas.microsoft.com/office/drawing/2014/main" id="{AD677A3B-C5FA-0C1C-AA15-C1685419B457}"/>
              </a:ext>
            </a:extLst>
          </p:cNvPr>
          <p:cNvSpPr txBox="1"/>
          <p:nvPr/>
        </p:nvSpPr>
        <p:spPr>
          <a:xfrm>
            <a:off x="6828424" y="5565804"/>
            <a:ext cx="848726" cy="307777"/>
          </a:xfrm>
          <a:prstGeom prst="rect">
            <a:avLst/>
          </a:prstGeom>
          <a:noFill/>
        </p:spPr>
        <p:txBody>
          <a:bodyPr wrap="square" rtlCol="0">
            <a:spAutoFit/>
          </a:bodyPr>
          <a:lstStyle/>
          <a:p>
            <a:r>
              <a:rPr lang="en-US" sz="1400"/>
              <a:t>Systems</a:t>
            </a:r>
            <a:endParaRPr lang="en-US" sz="1200"/>
          </a:p>
        </p:txBody>
      </p:sp>
      <p:sp>
        <p:nvSpPr>
          <p:cNvPr id="21" name="TextBox 49">
            <a:extLst>
              <a:ext uri="{FF2B5EF4-FFF2-40B4-BE49-F238E27FC236}">
                <a16:creationId xmlns:a16="http://schemas.microsoft.com/office/drawing/2014/main" id="{FD24C54C-060C-DA5B-E659-DF53D57E1B93}"/>
              </a:ext>
            </a:extLst>
          </p:cNvPr>
          <p:cNvSpPr txBox="1"/>
          <p:nvPr/>
        </p:nvSpPr>
        <p:spPr>
          <a:xfrm>
            <a:off x="1534134" y="5070090"/>
            <a:ext cx="4931624" cy="276999"/>
          </a:xfrm>
          <a:prstGeom prst="rect">
            <a:avLst/>
          </a:prstGeom>
          <a:noFill/>
        </p:spPr>
        <p:txBody>
          <a:bodyPr wrap="square" rtlCol="0">
            <a:spAutoFit/>
          </a:bodyPr>
          <a:lstStyle/>
          <a:p>
            <a:r>
              <a:rPr lang="en-US" sz="1200"/>
              <a:t>Systems Engineering, Design, Assurance, Management</a:t>
            </a:r>
          </a:p>
        </p:txBody>
      </p:sp>
      <p:sp>
        <p:nvSpPr>
          <p:cNvPr id="22" name="Rectangle 51">
            <a:extLst>
              <a:ext uri="{FF2B5EF4-FFF2-40B4-BE49-F238E27FC236}">
                <a16:creationId xmlns:a16="http://schemas.microsoft.com/office/drawing/2014/main" id="{E36715B2-69B9-3728-4D9F-2D6255A287B1}"/>
              </a:ext>
            </a:extLst>
          </p:cNvPr>
          <p:cNvSpPr/>
          <p:nvPr/>
        </p:nvSpPr>
        <p:spPr>
          <a:xfrm>
            <a:off x="1526620" y="3039593"/>
            <a:ext cx="4466358" cy="1988257"/>
          </a:xfrm>
          <a:prstGeom prst="rect">
            <a:avLst/>
          </a:prstGeom>
          <a:ln>
            <a:solidFill>
              <a:schemeClr val="accent1">
                <a:lumMod val="75000"/>
                <a:lumOff val="25000"/>
              </a:schemeClr>
            </a:solidFill>
          </a:ln>
        </p:spPr>
        <p:txBody>
          <a:bodyPr wrap="square" rtlCol="0" anchor="ctr">
            <a:spAutoFit/>
          </a:bodyPr>
          <a:lstStyle/>
          <a:p>
            <a:pPr algn="ctr"/>
            <a:endParaRPr lang="en-US" sz="3600" b="1" spc="-150">
              <a:solidFill>
                <a:srgbClr val="FFFFFF"/>
              </a:solidFill>
              <a:latin typeface="Arial" pitchFamily="34" charset="0"/>
              <a:cs typeface="Arial" pitchFamily="34" charset="0"/>
            </a:endParaRPr>
          </a:p>
        </p:txBody>
      </p:sp>
      <p:cxnSp>
        <p:nvCxnSpPr>
          <p:cNvPr id="23" name="Straight Connector 57">
            <a:extLst>
              <a:ext uri="{FF2B5EF4-FFF2-40B4-BE49-F238E27FC236}">
                <a16:creationId xmlns:a16="http://schemas.microsoft.com/office/drawing/2014/main" id="{4B501E69-A33B-4C75-9107-62FC48C988CC}"/>
              </a:ext>
            </a:extLst>
          </p:cNvPr>
          <p:cNvCxnSpPr>
            <a:cxnSpLocks/>
            <a:stCxn id="4" idx="2"/>
            <a:endCxn id="10" idx="0"/>
          </p:cNvCxnSpPr>
          <p:nvPr/>
        </p:nvCxnSpPr>
        <p:spPr>
          <a:xfrm>
            <a:off x="6358409" y="2623077"/>
            <a:ext cx="324676" cy="3232816"/>
          </a:xfrm>
          <a:prstGeom prst="line">
            <a:avLst/>
          </a:prstGeom>
          <a:ln>
            <a:solidFill>
              <a:schemeClr val="accent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26" name="Titre 2">
            <a:extLst>
              <a:ext uri="{FF2B5EF4-FFF2-40B4-BE49-F238E27FC236}">
                <a16:creationId xmlns:a16="http://schemas.microsoft.com/office/drawing/2014/main" id="{7524B5C2-F83D-4BEA-CB0A-6AFE5010220F}"/>
              </a:ext>
            </a:extLst>
          </p:cNvPr>
          <p:cNvSpPr txBox="1">
            <a:spLocks/>
          </p:cNvSpPr>
          <p:nvPr/>
        </p:nvSpPr>
        <p:spPr>
          <a:xfrm>
            <a:off x="191966" y="-74493"/>
            <a:ext cx="3664680" cy="815975"/>
          </a:xfrm>
          <a:prstGeom prst="rect">
            <a:avLst/>
          </a:prstGeom>
        </p:spPr>
        <p:txBody>
          <a:bodyPr lIns="121725" tIns="60862" rIns="121725" bIns="60862" anchor="b" anchorCtr="0"/>
          <a:lstStyle>
            <a:lvl1pPr marL="0" indent="0" algn="l" defTabSz="608013" rtl="0" eaLnBrk="1" fontAlgn="base" hangingPunct="1">
              <a:spcBef>
                <a:spcPct val="0"/>
              </a:spcBef>
              <a:spcAft>
                <a:spcPct val="0"/>
              </a:spcAft>
              <a:defRPr sz="3600" b="1" i="0" kern="1200" cap="none" spc="-100" baseline="0">
                <a:solidFill>
                  <a:schemeClr val="tx1"/>
                </a:solidFill>
                <a:latin typeface="Arial"/>
                <a:ea typeface="ＭＳ Ｐゴシック" charset="0"/>
                <a:cs typeface="Arial"/>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a:lstStyle>
          <a:p>
            <a:pPr defTabSz="608625" fontAlgn="auto">
              <a:spcAft>
                <a:spcPts val="0"/>
              </a:spcAft>
              <a:defRPr/>
            </a:pPr>
            <a:r>
              <a:rPr lang="en-US" sz="2400">
                <a:ea typeface="+mj-ea"/>
              </a:rPr>
              <a:t>Customer - Project Name</a:t>
            </a:r>
          </a:p>
        </p:txBody>
      </p:sp>
      <p:sp>
        <p:nvSpPr>
          <p:cNvPr id="27" name="Text Placeholder 1">
            <a:extLst>
              <a:ext uri="{FF2B5EF4-FFF2-40B4-BE49-F238E27FC236}">
                <a16:creationId xmlns:a16="http://schemas.microsoft.com/office/drawing/2014/main" id="{9DCD84C7-E575-A512-FB20-AFB6120960A4}"/>
              </a:ext>
            </a:extLst>
          </p:cNvPr>
          <p:cNvSpPr>
            <a:spLocks noGrp="1"/>
          </p:cNvSpPr>
          <p:nvPr>
            <p:ph type="body" sz="quarter" idx="12"/>
          </p:nvPr>
        </p:nvSpPr>
        <p:spPr>
          <a:xfrm>
            <a:off x="191966" y="631283"/>
            <a:ext cx="4131405" cy="257674"/>
          </a:xfrm>
        </p:spPr>
        <p:txBody>
          <a:bodyPr/>
          <a:lstStyle/>
          <a:p>
            <a:pPr defTabSz="608625" fontAlgn="auto">
              <a:spcAft>
                <a:spcPts val="0"/>
              </a:spcAft>
              <a:defRPr/>
            </a:pPr>
            <a:r>
              <a:rPr lang="en-US" sz="1400">
                <a:ea typeface="+mn-ea"/>
              </a:rPr>
              <a:t>Relationship - Hierarchy</a:t>
            </a:r>
          </a:p>
        </p:txBody>
      </p:sp>
      <p:sp>
        <p:nvSpPr>
          <p:cNvPr id="31" name="TextBox 30">
            <a:extLst>
              <a:ext uri="{FF2B5EF4-FFF2-40B4-BE49-F238E27FC236}">
                <a16:creationId xmlns:a16="http://schemas.microsoft.com/office/drawing/2014/main" id="{918A1469-66EC-0750-09B2-2D2F831E59A9}"/>
              </a:ext>
            </a:extLst>
          </p:cNvPr>
          <p:cNvSpPr txBox="1"/>
          <p:nvPr/>
        </p:nvSpPr>
        <p:spPr>
          <a:xfrm>
            <a:off x="2801749" y="679138"/>
            <a:ext cx="10073439" cy="246221"/>
          </a:xfrm>
          <a:prstGeom prst="rect">
            <a:avLst/>
          </a:prstGeom>
          <a:noFill/>
        </p:spPr>
        <p:txBody>
          <a:bodyPr wrap="square">
            <a:spAutoFit/>
          </a:bodyPr>
          <a:lstStyle/>
          <a:p>
            <a:r>
              <a:rPr lang="en-US" sz="1000" spc="0">
                <a:solidFill>
                  <a:srgbClr val="FF0000"/>
                </a:solidFill>
              </a:rPr>
              <a:t>(Wabtec to possible Primes or Subs and their respective scope)</a:t>
            </a:r>
            <a:endParaRPr lang="en-US" sz="1000"/>
          </a:p>
        </p:txBody>
      </p:sp>
      <p:sp>
        <p:nvSpPr>
          <p:cNvPr id="3" name="TextBox 9">
            <a:extLst>
              <a:ext uri="{FF2B5EF4-FFF2-40B4-BE49-F238E27FC236}">
                <a16:creationId xmlns:a16="http://schemas.microsoft.com/office/drawing/2014/main" id="{A4D56611-56B1-2324-092E-7CC49B475227}"/>
              </a:ext>
            </a:extLst>
          </p:cNvPr>
          <p:cNvSpPr txBox="1"/>
          <p:nvPr/>
        </p:nvSpPr>
        <p:spPr>
          <a:xfrm>
            <a:off x="10651947" y="307596"/>
            <a:ext cx="950114" cy="461665"/>
          </a:xfrm>
          <a:prstGeom prst="rect">
            <a:avLst/>
          </a:prstGeom>
          <a:solidFill>
            <a:srgbClr val="FFFF00"/>
          </a:solidFill>
        </p:spPr>
        <p:txBody>
          <a:bodyPr wrap="square" rtlCol="0">
            <a:spAutoFit/>
          </a:bodyPr>
          <a:lstStyle/>
          <a:p>
            <a:pPr algn="ctr"/>
            <a:r>
              <a:rPr lang="pt-BR" sz="1200" b="1" err="1">
                <a:solidFill>
                  <a:srgbClr val="FF0000"/>
                </a:solidFill>
                <a:highlight>
                  <a:srgbClr val="FFFF00"/>
                </a:highlight>
                <a:latin typeface="+mj-lt"/>
              </a:rPr>
              <a:t>Customer</a:t>
            </a:r>
            <a:r>
              <a:rPr lang="pt-BR" sz="1200" b="1">
                <a:solidFill>
                  <a:srgbClr val="FF0000"/>
                </a:solidFill>
                <a:highlight>
                  <a:srgbClr val="FFFF00"/>
                </a:highlight>
                <a:latin typeface="+mj-lt"/>
              </a:rPr>
              <a:t> Logo</a:t>
            </a:r>
            <a:endParaRPr lang="en-US" sz="1200" b="1">
              <a:solidFill>
                <a:srgbClr val="FF0000"/>
              </a:solidFill>
              <a:highlight>
                <a:srgbClr val="FFFF00"/>
              </a:highlight>
              <a:latin typeface="+mj-lt"/>
            </a:endParaRPr>
          </a:p>
        </p:txBody>
      </p:sp>
    </p:spTree>
    <p:extLst>
      <p:ext uri="{BB962C8B-B14F-4D97-AF65-F5344CB8AC3E}">
        <p14:creationId xmlns:p14="http://schemas.microsoft.com/office/powerpoint/2010/main" val="3861204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m 26">
            <a:extLst>
              <a:ext uri="{FF2B5EF4-FFF2-40B4-BE49-F238E27FC236}">
                <a16:creationId xmlns:a16="http://schemas.microsoft.com/office/drawing/2014/main" id="{08951383-779D-DF68-9FC9-27306B6B11EB}"/>
              </a:ext>
            </a:extLst>
          </p:cNvPr>
          <p:cNvPicPr>
            <a:picLocks noChangeAspect="1"/>
          </p:cNvPicPr>
          <p:nvPr/>
        </p:nvPicPr>
        <p:blipFill rotWithShape="1">
          <a:blip r:embed="rId3"/>
          <a:srcRect t="-204"/>
          <a:stretch/>
        </p:blipFill>
        <p:spPr>
          <a:xfrm>
            <a:off x="1115568" y="1418909"/>
            <a:ext cx="9392315" cy="5011074"/>
          </a:xfrm>
          <a:prstGeom prst="rect">
            <a:avLst/>
          </a:prstGeom>
        </p:spPr>
      </p:pic>
      <p:sp>
        <p:nvSpPr>
          <p:cNvPr id="5" name="Content Placeholder 4">
            <a:extLst>
              <a:ext uri="{FF2B5EF4-FFF2-40B4-BE49-F238E27FC236}">
                <a16:creationId xmlns:a16="http://schemas.microsoft.com/office/drawing/2014/main" id="{5C80B04D-D91A-42D0-A105-08EB98BEB3CD}"/>
              </a:ext>
            </a:extLst>
          </p:cNvPr>
          <p:cNvSpPr>
            <a:spLocks noGrp="1"/>
          </p:cNvSpPr>
          <p:nvPr>
            <p:ph idx="1"/>
          </p:nvPr>
        </p:nvSpPr>
        <p:spPr>
          <a:xfrm>
            <a:off x="3484296" y="1082591"/>
            <a:ext cx="6259272" cy="292761"/>
          </a:xfrm>
        </p:spPr>
        <p:txBody>
          <a:bodyPr/>
          <a:lstStyle/>
          <a:p>
            <a:pPr marL="0" indent="0" algn="just">
              <a:buNone/>
            </a:pPr>
            <a:r>
              <a:rPr lang="en-US" sz="1200">
                <a:solidFill>
                  <a:srgbClr val="FF0000"/>
                </a:solidFill>
                <a:effectLst/>
                <a:highlight>
                  <a:srgbClr val="FFFF00"/>
                </a:highlight>
                <a:latin typeface="Segoe UI" panose="020B0502040204020203" pitchFamily="34" charset="0"/>
              </a:rPr>
              <a:t>This slide should only be done for opportunities outside the USA  </a:t>
            </a:r>
          </a:p>
        </p:txBody>
      </p:sp>
      <p:sp>
        <p:nvSpPr>
          <p:cNvPr id="29" name="CaixaDeTexto 28">
            <a:extLst>
              <a:ext uri="{FF2B5EF4-FFF2-40B4-BE49-F238E27FC236}">
                <a16:creationId xmlns:a16="http://schemas.microsoft.com/office/drawing/2014/main" id="{FD73DE95-0A0D-BFB3-69AA-C425467208DF}"/>
              </a:ext>
            </a:extLst>
          </p:cNvPr>
          <p:cNvSpPr txBox="1"/>
          <p:nvPr/>
        </p:nvSpPr>
        <p:spPr>
          <a:xfrm>
            <a:off x="-1251187" y="3105834"/>
            <a:ext cx="5112326" cy="584775"/>
          </a:xfrm>
          <a:prstGeom prst="rect">
            <a:avLst/>
          </a:prstGeom>
          <a:noFill/>
        </p:spPr>
        <p:txBody>
          <a:bodyPr wrap="square">
            <a:spAutoFit/>
          </a:bodyPr>
          <a:lstStyle/>
          <a:p>
            <a:pPr marL="0" indent="0" algn="ctr">
              <a:buNone/>
            </a:pPr>
            <a:r>
              <a:rPr lang="pt-BR" sz="3200" b="1" err="1">
                <a:solidFill>
                  <a:srgbClr val="FF0000"/>
                </a:solidFill>
                <a:highlight>
                  <a:srgbClr val="FFFF00"/>
                </a:highlight>
              </a:rPr>
              <a:t>Example</a:t>
            </a:r>
            <a:endParaRPr lang="pt-BR" sz="3200" b="1">
              <a:solidFill>
                <a:srgbClr val="FF0000"/>
              </a:solidFill>
              <a:highlight>
                <a:srgbClr val="FFFF00"/>
              </a:highlight>
            </a:endParaRPr>
          </a:p>
        </p:txBody>
      </p:sp>
      <p:sp>
        <p:nvSpPr>
          <p:cNvPr id="30" name="CaixaDeTexto 29">
            <a:extLst>
              <a:ext uri="{FF2B5EF4-FFF2-40B4-BE49-F238E27FC236}">
                <a16:creationId xmlns:a16="http://schemas.microsoft.com/office/drawing/2014/main" id="{D6AB4DF3-4D64-8D8B-CD5F-00901CD3E826}"/>
              </a:ext>
            </a:extLst>
          </p:cNvPr>
          <p:cNvSpPr txBox="1"/>
          <p:nvPr/>
        </p:nvSpPr>
        <p:spPr>
          <a:xfrm>
            <a:off x="8676592" y="1299213"/>
            <a:ext cx="3137456" cy="1292662"/>
          </a:xfrm>
          <a:prstGeom prst="rect">
            <a:avLst/>
          </a:prstGeom>
          <a:solidFill>
            <a:srgbClr val="FFFF00"/>
          </a:solidFill>
          <a:ln>
            <a:solidFill>
              <a:schemeClr val="tx2"/>
            </a:solidFill>
            <a:prstDash val="dash"/>
          </a:ln>
        </p:spPr>
        <p:txBody>
          <a:bodyPr wrap="square" rtlCol="0">
            <a:spAutoFit/>
          </a:bodyPr>
          <a:lstStyle/>
          <a:p>
            <a:r>
              <a:rPr lang="pt-BR" sz="1200" b="1">
                <a:solidFill>
                  <a:srgbClr val="FF0000"/>
                </a:solidFill>
              </a:rPr>
              <a:t>Must include:</a:t>
            </a:r>
          </a:p>
          <a:p>
            <a:pPr marL="171450" indent="-171450">
              <a:buFont typeface="Arial" panose="020B0604020202020204" pitchFamily="34" charset="0"/>
              <a:buChar char="•"/>
            </a:pPr>
            <a:r>
              <a:rPr lang="pt-BR" sz="1100" err="1">
                <a:solidFill>
                  <a:srgbClr val="FF0000"/>
                </a:solidFill>
              </a:rPr>
              <a:t>Selling</a:t>
            </a:r>
            <a:r>
              <a:rPr lang="pt-BR" sz="1100">
                <a:solidFill>
                  <a:srgbClr val="FF0000"/>
                </a:solidFill>
              </a:rPr>
              <a:t> Legal </a:t>
            </a:r>
            <a:r>
              <a:rPr lang="pt-BR" sz="1100" err="1">
                <a:solidFill>
                  <a:srgbClr val="FF0000"/>
                </a:solidFill>
              </a:rPr>
              <a:t>Entity</a:t>
            </a:r>
            <a:r>
              <a:rPr lang="pt-BR" sz="1100">
                <a:solidFill>
                  <a:srgbClr val="FF0000"/>
                </a:solidFill>
              </a:rPr>
              <a:t> </a:t>
            </a:r>
          </a:p>
          <a:p>
            <a:pPr marL="171450" indent="-171450">
              <a:buFont typeface="Arial" panose="020B0604020202020204" pitchFamily="34" charset="0"/>
              <a:buChar char="•"/>
            </a:pPr>
            <a:r>
              <a:rPr lang="pt-BR" sz="1100" err="1">
                <a:solidFill>
                  <a:srgbClr val="FF0000"/>
                </a:solidFill>
              </a:rPr>
              <a:t>How</a:t>
            </a:r>
            <a:r>
              <a:rPr lang="pt-BR" sz="1100">
                <a:solidFill>
                  <a:srgbClr val="FF0000"/>
                </a:solidFill>
              </a:rPr>
              <a:t> does </a:t>
            </a:r>
            <a:r>
              <a:rPr lang="pt-BR" sz="1100" err="1">
                <a:solidFill>
                  <a:srgbClr val="FF0000"/>
                </a:solidFill>
              </a:rPr>
              <a:t>the</a:t>
            </a:r>
            <a:r>
              <a:rPr lang="pt-BR" sz="1100">
                <a:solidFill>
                  <a:srgbClr val="FF0000"/>
                </a:solidFill>
              </a:rPr>
              <a:t> </a:t>
            </a:r>
            <a:r>
              <a:rPr lang="pt-BR" sz="1100" err="1">
                <a:solidFill>
                  <a:srgbClr val="FF0000"/>
                </a:solidFill>
              </a:rPr>
              <a:t>flow</a:t>
            </a:r>
            <a:r>
              <a:rPr lang="pt-BR" sz="1100">
                <a:solidFill>
                  <a:srgbClr val="FF0000"/>
                </a:solidFill>
              </a:rPr>
              <a:t> </a:t>
            </a:r>
            <a:r>
              <a:rPr lang="pt-BR" sz="1100" err="1">
                <a:solidFill>
                  <a:srgbClr val="FF0000"/>
                </a:solidFill>
              </a:rPr>
              <a:t>of</a:t>
            </a:r>
            <a:r>
              <a:rPr lang="pt-BR" sz="1100">
                <a:solidFill>
                  <a:srgbClr val="FF0000"/>
                </a:solidFill>
              </a:rPr>
              <a:t> </a:t>
            </a:r>
            <a:r>
              <a:rPr lang="pt-BR" sz="1100" err="1">
                <a:solidFill>
                  <a:srgbClr val="FF0000"/>
                </a:solidFill>
              </a:rPr>
              <a:t>money</a:t>
            </a:r>
            <a:r>
              <a:rPr lang="pt-BR" sz="1100">
                <a:solidFill>
                  <a:srgbClr val="FF0000"/>
                </a:solidFill>
              </a:rPr>
              <a:t> </a:t>
            </a:r>
            <a:r>
              <a:rPr lang="pt-BR" sz="1100" err="1">
                <a:solidFill>
                  <a:srgbClr val="FF0000"/>
                </a:solidFill>
              </a:rPr>
              <a:t>impact</a:t>
            </a:r>
            <a:r>
              <a:rPr lang="pt-BR" sz="1100">
                <a:solidFill>
                  <a:srgbClr val="FF0000"/>
                </a:solidFill>
              </a:rPr>
              <a:t> FX, taxes, </a:t>
            </a:r>
            <a:r>
              <a:rPr lang="pt-BR" sz="1100" err="1">
                <a:solidFill>
                  <a:srgbClr val="FF0000"/>
                </a:solidFill>
              </a:rPr>
              <a:t>duties</a:t>
            </a:r>
            <a:r>
              <a:rPr lang="pt-BR" sz="1100">
                <a:solidFill>
                  <a:srgbClr val="FF0000"/>
                </a:solidFill>
              </a:rPr>
              <a:t>, etc.?</a:t>
            </a:r>
          </a:p>
          <a:p>
            <a:pPr marL="171450" indent="-171450">
              <a:buFont typeface="Arial" panose="020B0604020202020204" pitchFamily="34" charset="0"/>
              <a:buChar char="•"/>
            </a:pPr>
            <a:r>
              <a:rPr lang="pt-BR" sz="1100" err="1">
                <a:solidFill>
                  <a:srgbClr val="FF0000"/>
                </a:solidFill>
              </a:rPr>
              <a:t>Internal</a:t>
            </a:r>
            <a:r>
              <a:rPr lang="pt-BR" sz="1100">
                <a:solidFill>
                  <a:srgbClr val="FF0000"/>
                </a:solidFill>
              </a:rPr>
              <a:t> </a:t>
            </a:r>
            <a:r>
              <a:rPr lang="pt-BR" sz="1100" err="1">
                <a:solidFill>
                  <a:srgbClr val="FF0000"/>
                </a:solidFill>
              </a:rPr>
              <a:t>and</a:t>
            </a:r>
            <a:r>
              <a:rPr lang="pt-BR" sz="1100">
                <a:solidFill>
                  <a:srgbClr val="FF0000"/>
                </a:solidFill>
              </a:rPr>
              <a:t> </a:t>
            </a:r>
            <a:r>
              <a:rPr lang="pt-BR" sz="1100" err="1">
                <a:solidFill>
                  <a:srgbClr val="FF0000"/>
                </a:solidFill>
              </a:rPr>
              <a:t>external</a:t>
            </a:r>
            <a:r>
              <a:rPr lang="pt-BR" sz="1100">
                <a:solidFill>
                  <a:srgbClr val="FF0000"/>
                </a:solidFill>
              </a:rPr>
              <a:t> </a:t>
            </a:r>
            <a:r>
              <a:rPr lang="pt-BR" sz="1100" err="1">
                <a:solidFill>
                  <a:srgbClr val="FF0000"/>
                </a:solidFill>
              </a:rPr>
              <a:t>relationships</a:t>
            </a:r>
            <a:r>
              <a:rPr lang="pt-BR" sz="1100">
                <a:solidFill>
                  <a:srgbClr val="FF0000"/>
                </a:solidFill>
              </a:rPr>
              <a:t> </a:t>
            </a:r>
            <a:r>
              <a:rPr lang="pt-BR" sz="1100" err="1">
                <a:solidFill>
                  <a:srgbClr val="FF0000"/>
                </a:solidFill>
              </a:rPr>
              <a:t>with</a:t>
            </a:r>
            <a:r>
              <a:rPr lang="pt-BR" sz="1100">
                <a:solidFill>
                  <a:srgbClr val="FF0000"/>
                </a:solidFill>
              </a:rPr>
              <a:t> Bus and </a:t>
            </a:r>
            <a:r>
              <a:rPr lang="pt-BR" sz="1100" err="1">
                <a:solidFill>
                  <a:srgbClr val="FF0000"/>
                </a:solidFill>
              </a:rPr>
              <a:t>vendors</a:t>
            </a:r>
            <a:r>
              <a:rPr lang="pt-BR" sz="1100">
                <a:solidFill>
                  <a:srgbClr val="FF0000"/>
                </a:solidFill>
              </a:rPr>
              <a:t>.</a:t>
            </a:r>
          </a:p>
          <a:p>
            <a:pPr marL="171450" indent="-171450">
              <a:buFont typeface="Arial" panose="020B0604020202020204" pitchFamily="34" charset="0"/>
              <a:buChar char="•"/>
            </a:pPr>
            <a:r>
              <a:rPr lang="pt-BR" sz="1100" err="1">
                <a:solidFill>
                  <a:srgbClr val="FF0000"/>
                </a:solidFill>
              </a:rPr>
              <a:t>Contract</a:t>
            </a:r>
            <a:r>
              <a:rPr lang="pt-BR" sz="1100">
                <a:solidFill>
                  <a:srgbClr val="FF0000"/>
                </a:solidFill>
              </a:rPr>
              <a:t> </a:t>
            </a:r>
            <a:r>
              <a:rPr lang="pt-BR" sz="1100" err="1">
                <a:solidFill>
                  <a:srgbClr val="FF0000"/>
                </a:solidFill>
              </a:rPr>
              <a:t>currency</a:t>
            </a:r>
            <a:r>
              <a:rPr lang="pt-BR" sz="1100">
                <a:solidFill>
                  <a:srgbClr val="FF0000"/>
                </a:solidFill>
              </a:rPr>
              <a:t>.</a:t>
            </a:r>
            <a:endParaRPr lang="en-US" sz="1100">
              <a:solidFill>
                <a:srgbClr val="FF0000"/>
              </a:solidFill>
            </a:endParaRPr>
          </a:p>
        </p:txBody>
      </p:sp>
      <p:sp>
        <p:nvSpPr>
          <p:cNvPr id="13" name="Titre 2">
            <a:extLst>
              <a:ext uri="{FF2B5EF4-FFF2-40B4-BE49-F238E27FC236}">
                <a16:creationId xmlns:a16="http://schemas.microsoft.com/office/drawing/2014/main" id="{93E196A4-CED8-26F8-ECCC-04EBC3A52DCC}"/>
              </a:ext>
            </a:extLst>
          </p:cNvPr>
          <p:cNvSpPr txBox="1">
            <a:spLocks/>
          </p:cNvSpPr>
          <p:nvPr/>
        </p:nvSpPr>
        <p:spPr>
          <a:xfrm>
            <a:off x="191966" y="-74493"/>
            <a:ext cx="3664680" cy="815975"/>
          </a:xfrm>
          <a:prstGeom prst="rect">
            <a:avLst/>
          </a:prstGeom>
        </p:spPr>
        <p:txBody>
          <a:bodyPr lIns="121725" tIns="60862" rIns="121725" bIns="60862" anchor="b" anchorCtr="0"/>
          <a:lstStyle>
            <a:lvl1pPr marL="0" indent="0" algn="l" defTabSz="608013" rtl="0" eaLnBrk="1" fontAlgn="base" hangingPunct="1">
              <a:spcBef>
                <a:spcPct val="0"/>
              </a:spcBef>
              <a:spcAft>
                <a:spcPct val="0"/>
              </a:spcAft>
              <a:defRPr sz="3600" b="1" i="0" kern="1200" cap="none" spc="-100" baseline="0">
                <a:solidFill>
                  <a:schemeClr val="tx1"/>
                </a:solidFill>
                <a:latin typeface="Arial"/>
                <a:ea typeface="ＭＳ Ｐゴシック" charset="0"/>
                <a:cs typeface="Arial"/>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a:lstStyle>
          <a:p>
            <a:pPr defTabSz="608625" fontAlgn="auto">
              <a:spcAft>
                <a:spcPts val="0"/>
              </a:spcAft>
              <a:defRPr/>
            </a:pPr>
            <a:r>
              <a:rPr lang="en-US" sz="2400">
                <a:ea typeface="+mj-ea"/>
              </a:rPr>
              <a:t>Customer - Project Name</a:t>
            </a:r>
          </a:p>
        </p:txBody>
      </p:sp>
      <p:sp>
        <p:nvSpPr>
          <p:cNvPr id="14" name="Text Placeholder 1">
            <a:extLst>
              <a:ext uri="{FF2B5EF4-FFF2-40B4-BE49-F238E27FC236}">
                <a16:creationId xmlns:a16="http://schemas.microsoft.com/office/drawing/2014/main" id="{009EA624-D750-4A4A-CCA3-D35FC08EE555}"/>
              </a:ext>
            </a:extLst>
          </p:cNvPr>
          <p:cNvSpPr>
            <a:spLocks noGrp="1"/>
          </p:cNvSpPr>
          <p:nvPr>
            <p:ph type="body" sz="quarter" idx="12"/>
          </p:nvPr>
        </p:nvSpPr>
        <p:spPr>
          <a:xfrm>
            <a:off x="191966" y="631283"/>
            <a:ext cx="4131405" cy="257674"/>
          </a:xfrm>
        </p:spPr>
        <p:txBody>
          <a:bodyPr/>
          <a:lstStyle/>
          <a:p>
            <a:pPr defTabSz="608625" fontAlgn="auto">
              <a:spcAft>
                <a:spcPts val="0"/>
              </a:spcAft>
              <a:defRPr/>
            </a:pPr>
            <a:r>
              <a:rPr lang="en-US" sz="1400">
                <a:ea typeface="+mn-ea"/>
              </a:rPr>
              <a:t>Relationship - Internal</a:t>
            </a:r>
          </a:p>
        </p:txBody>
      </p:sp>
      <p:sp>
        <p:nvSpPr>
          <p:cNvPr id="15" name="TextBox 14">
            <a:extLst>
              <a:ext uri="{FF2B5EF4-FFF2-40B4-BE49-F238E27FC236}">
                <a16:creationId xmlns:a16="http://schemas.microsoft.com/office/drawing/2014/main" id="{68F9ABD1-2391-F4B1-9D44-09974AE9E62A}"/>
              </a:ext>
            </a:extLst>
          </p:cNvPr>
          <p:cNvSpPr txBox="1"/>
          <p:nvPr/>
        </p:nvSpPr>
        <p:spPr>
          <a:xfrm>
            <a:off x="2652509" y="665113"/>
            <a:ext cx="3903740" cy="246221"/>
          </a:xfrm>
          <a:prstGeom prst="rect">
            <a:avLst/>
          </a:prstGeom>
          <a:noFill/>
        </p:spPr>
        <p:txBody>
          <a:bodyPr wrap="square">
            <a:spAutoFit/>
          </a:bodyPr>
          <a:lstStyle/>
          <a:p>
            <a:r>
              <a:rPr lang="en-US" sz="1000" i="0" kern="1200" spc="0" baseline="0">
                <a:solidFill>
                  <a:srgbClr val="FF0000"/>
                </a:solidFill>
                <a:effectLst/>
                <a:latin typeface="+mn-lt"/>
                <a:ea typeface="ＭＳ Ｐゴシック" panose="020B0600070205080204" pitchFamily="34" charset="-128"/>
                <a:cs typeface="Arial" panose="020B0604020202020204" pitchFamily="34" charset="0"/>
              </a:rPr>
              <a:t>(Wabtec’s internal legal entity for projects not located in US)</a:t>
            </a:r>
            <a:endParaRPr lang="en-US" sz="1000">
              <a:latin typeface="+mn-lt"/>
            </a:endParaRPr>
          </a:p>
        </p:txBody>
      </p:sp>
      <p:sp>
        <p:nvSpPr>
          <p:cNvPr id="16" name="TextBox 9">
            <a:extLst>
              <a:ext uri="{FF2B5EF4-FFF2-40B4-BE49-F238E27FC236}">
                <a16:creationId xmlns:a16="http://schemas.microsoft.com/office/drawing/2014/main" id="{055B7967-C0C1-2FB0-4CC7-81AA7008D367}"/>
              </a:ext>
            </a:extLst>
          </p:cNvPr>
          <p:cNvSpPr txBox="1"/>
          <p:nvPr/>
        </p:nvSpPr>
        <p:spPr>
          <a:xfrm>
            <a:off x="10651947" y="307596"/>
            <a:ext cx="950114" cy="461665"/>
          </a:xfrm>
          <a:prstGeom prst="rect">
            <a:avLst/>
          </a:prstGeom>
          <a:solidFill>
            <a:srgbClr val="FFFF00"/>
          </a:solidFill>
        </p:spPr>
        <p:txBody>
          <a:bodyPr wrap="square" rtlCol="0">
            <a:spAutoFit/>
          </a:bodyPr>
          <a:lstStyle/>
          <a:p>
            <a:pPr algn="ctr"/>
            <a:r>
              <a:rPr lang="pt-BR" sz="1200" b="1" err="1">
                <a:solidFill>
                  <a:srgbClr val="FF0000"/>
                </a:solidFill>
                <a:highlight>
                  <a:srgbClr val="FFFF00"/>
                </a:highlight>
                <a:latin typeface="+mj-lt"/>
              </a:rPr>
              <a:t>Customer</a:t>
            </a:r>
            <a:r>
              <a:rPr lang="pt-BR" sz="1200" b="1">
                <a:solidFill>
                  <a:srgbClr val="FF0000"/>
                </a:solidFill>
                <a:highlight>
                  <a:srgbClr val="FFFF00"/>
                </a:highlight>
                <a:latin typeface="+mj-lt"/>
              </a:rPr>
              <a:t> Logo</a:t>
            </a:r>
            <a:endParaRPr lang="en-US" sz="1200" b="1">
              <a:solidFill>
                <a:srgbClr val="FF0000"/>
              </a:solidFill>
              <a:highlight>
                <a:srgbClr val="FFFF00"/>
              </a:highlight>
              <a:latin typeface="+mj-lt"/>
            </a:endParaRPr>
          </a:p>
        </p:txBody>
      </p:sp>
    </p:spTree>
    <p:extLst>
      <p:ext uri="{BB962C8B-B14F-4D97-AF65-F5344CB8AC3E}">
        <p14:creationId xmlns:p14="http://schemas.microsoft.com/office/powerpoint/2010/main" val="3381719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7C7381-134C-4772-8FBC-B7A127E58288}"/>
              </a:ext>
            </a:extLst>
          </p:cNvPr>
          <p:cNvSpPr txBox="1"/>
          <p:nvPr/>
        </p:nvSpPr>
        <p:spPr>
          <a:xfrm>
            <a:off x="108584" y="1146247"/>
            <a:ext cx="3465576" cy="338554"/>
          </a:xfrm>
          <a:prstGeom prst="rect">
            <a:avLst/>
          </a:prstGeom>
          <a:noFill/>
        </p:spPr>
        <p:txBody>
          <a:bodyPr wrap="square" rtlCol="0">
            <a:spAutoFit/>
          </a:bodyPr>
          <a:lstStyle/>
          <a:p>
            <a:pPr marL="0" marR="0" lvl="0" indent="0" algn="l" defTabSz="608013"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63666A"/>
                </a:solidFill>
                <a:effectLst/>
                <a:uLnTx/>
                <a:uFillTx/>
                <a:latin typeface="GE Inspira Sans"/>
              </a:rPr>
              <a:t>BLUE SHEET ANALYSIS</a:t>
            </a:r>
          </a:p>
        </p:txBody>
      </p:sp>
      <p:sp>
        <p:nvSpPr>
          <p:cNvPr id="6" name="TextBox 5">
            <a:extLst>
              <a:ext uri="{FF2B5EF4-FFF2-40B4-BE49-F238E27FC236}">
                <a16:creationId xmlns:a16="http://schemas.microsoft.com/office/drawing/2014/main" id="{2E1DE9F6-D71A-4B37-94D5-DC130712BABA}"/>
              </a:ext>
            </a:extLst>
          </p:cNvPr>
          <p:cNvSpPr txBox="1"/>
          <p:nvPr/>
        </p:nvSpPr>
        <p:spPr>
          <a:xfrm>
            <a:off x="150424" y="4755489"/>
            <a:ext cx="11902830" cy="307777"/>
          </a:xfrm>
          <a:prstGeom prst="rect">
            <a:avLst/>
          </a:prstGeom>
          <a:noFill/>
        </p:spPr>
        <p:txBody>
          <a:bodyPr wrap="square" lIns="91440" tIns="45720" rIns="91440" bIns="45720" rtlCol="0" anchor="t">
            <a:spAutoFit/>
          </a:bodyPr>
          <a:lstStyle/>
          <a:p>
            <a:pPr marL="0" marR="0" lvl="0" indent="0" algn="l" defTabSz="608013"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effectLst/>
                <a:uLnTx/>
                <a:uFillTx/>
                <a:latin typeface="Tahoma"/>
                <a:ea typeface="ＭＳ Ｐゴシック"/>
              </a:rPr>
              <a:t>Key Takeaways:</a:t>
            </a:r>
          </a:p>
        </p:txBody>
      </p:sp>
      <p:graphicFrame>
        <p:nvGraphicFramePr>
          <p:cNvPr id="8" name="Table 7">
            <a:extLst>
              <a:ext uri="{FF2B5EF4-FFF2-40B4-BE49-F238E27FC236}">
                <a16:creationId xmlns:a16="http://schemas.microsoft.com/office/drawing/2014/main" id="{3BE69676-455D-4C37-A4C5-5852A4279EC9}"/>
              </a:ext>
            </a:extLst>
          </p:cNvPr>
          <p:cNvGraphicFramePr>
            <a:graphicFrameLocks noGrp="1"/>
          </p:cNvGraphicFramePr>
          <p:nvPr>
            <p:extLst>
              <p:ext uri="{D42A27DB-BD31-4B8C-83A1-F6EECF244321}">
                <p14:modId xmlns:p14="http://schemas.microsoft.com/office/powerpoint/2010/main" val="1562766251"/>
              </p:ext>
            </p:extLst>
          </p:nvPr>
        </p:nvGraphicFramePr>
        <p:xfrm>
          <a:off x="150424" y="1471078"/>
          <a:ext cx="11902830" cy="4224452"/>
        </p:xfrm>
        <a:graphic>
          <a:graphicData uri="http://schemas.openxmlformats.org/drawingml/2006/table">
            <a:tbl>
              <a:tblPr firstRow="1" bandRow="1">
                <a:tableStyleId>{5C22544A-7EE6-4342-B048-85BDC9FD1C3A}</a:tableStyleId>
              </a:tblPr>
              <a:tblGrid>
                <a:gridCol w="1925631">
                  <a:extLst>
                    <a:ext uri="{9D8B030D-6E8A-4147-A177-3AD203B41FA5}">
                      <a16:colId xmlns:a16="http://schemas.microsoft.com/office/drawing/2014/main" val="3846780248"/>
                    </a:ext>
                  </a:extLst>
                </a:gridCol>
                <a:gridCol w="782320">
                  <a:extLst>
                    <a:ext uri="{9D8B030D-6E8A-4147-A177-3AD203B41FA5}">
                      <a16:colId xmlns:a16="http://schemas.microsoft.com/office/drawing/2014/main" val="3419406896"/>
                    </a:ext>
                  </a:extLst>
                </a:gridCol>
                <a:gridCol w="822960">
                  <a:extLst>
                    <a:ext uri="{9D8B030D-6E8A-4147-A177-3AD203B41FA5}">
                      <a16:colId xmlns:a16="http://schemas.microsoft.com/office/drawing/2014/main" val="2009086520"/>
                    </a:ext>
                  </a:extLst>
                </a:gridCol>
                <a:gridCol w="971262">
                  <a:extLst>
                    <a:ext uri="{9D8B030D-6E8A-4147-A177-3AD203B41FA5}">
                      <a16:colId xmlns:a16="http://schemas.microsoft.com/office/drawing/2014/main" val="3016968972"/>
                    </a:ext>
                  </a:extLst>
                </a:gridCol>
                <a:gridCol w="2118039">
                  <a:extLst>
                    <a:ext uri="{9D8B030D-6E8A-4147-A177-3AD203B41FA5}">
                      <a16:colId xmlns:a16="http://schemas.microsoft.com/office/drawing/2014/main" val="248074647"/>
                    </a:ext>
                  </a:extLst>
                </a:gridCol>
                <a:gridCol w="2078041">
                  <a:extLst>
                    <a:ext uri="{9D8B030D-6E8A-4147-A177-3AD203B41FA5}">
                      <a16:colId xmlns:a16="http://schemas.microsoft.com/office/drawing/2014/main" val="1470619240"/>
                    </a:ext>
                  </a:extLst>
                </a:gridCol>
                <a:gridCol w="1231926">
                  <a:extLst>
                    <a:ext uri="{9D8B030D-6E8A-4147-A177-3AD203B41FA5}">
                      <a16:colId xmlns:a16="http://schemas.microsoft.com/office/drawing/2014/main" val="4055284858"/>
                    </a:ext>
                  </a:extLst>
                </a:gridCol>
                <a:gridCol w="650114">
                  <a:extLst>
                    <a:ext uri="{9D8B030D-6E8A-4147-A177-3AD203B41FA5}">
                      <a16:colId xmlns:a16="http://schemas.microsoft.com/office/drawing/2014/main" val="908689259"/>
                    </a:ext>
                  </a:extLst>
                </a:gridCol>
                <a:gridCol w="1322537">
                  <a:extLst>
                    <a:ext uri="{9D8B030D-6E8A-4147-A177-3AD203B41FA5}">
                      <a16:colId xmlns:a16="http://schemas.microsoft.com/office/drawing/2014/main" val="3315405786"/>
                    </a:ext>
                  </a:extLst>
                </a:gridCol>
              </a:tblGrid>
              <a:tr h="496521">
                <a:tc>
                  <a:txBody>
                    <a:bodyPr/>
                    <a:lstStyle/>
                    <a:p>
                      <a:pPr algn="ctr"/>
                      <a:r>
                        <a:rPr lang="en-US" sz="1000">
                          <a:latin typeface="+mj-lt"/>
                        </a:rPr>
                        <a:t>Buying Influencers Involved </a:t>
                      </a:r>
                    </a:p>
                    <a:p>
                      <a:pPr algn="ctr"/>
                      <a:r>
                        <a:rPr lang="en-US" sz="1000">
                          <a:latin typeface="+mj-lt"/>
                        </a:rPr>
                        <a:t>Name, Title Location</a:t>
                      </a:r>
                    </a:p>
                  </a:txBody>
                  <a:tcPr/>
                </a:tc>
                <a:tc>
                  <a:txBody>
                    <a:bodyPr/>
                    <a:lstStyle/>
                    <a:p>
                      <a:pPr algn="ctr"/>
                      <a:r>
                        <a:rPr lang="en-US" sz="1000">
                          <a:latin typeface="+mj-lt"/>
                        </a:rPr>
                        <a:t>Role </a:t>
                      </a:r>
                    </a:p>
                    <a:p>
                      <a:pPr algn="ctr"/>
                      <a:endParaRPr lang="en-US" sz="1000">
                        <a:latin typeface="+mj-lt"/>
                      </a:endParaRPr>
                    </a:p>
                    <a:p>
                      <a:pPr algn="ctr"/>
                      <a:r>
                        <a:rPr lang="en-US" sz="1000">
                          <a:latin typeface="+mj-lt"/>
                        </a:rPr>
                        <a:t>(E T U C)</a:t>
                      </a:r>
                    </a:p>
                  </a:txBody>
                  <a:tcPr/>
                </a:tc>
                <a:tc>
                  <a:txBody>
                    <a:bodyPr/>
                    <a:lstStyle/>
                    <a:p>
                      <a:pPr algn="ctr"/>
                      <a:r>
                        <a:rPr lang="en-US" sz="1000">
                          <a:latin typeface="+mj-lt"/>
                        </a:rPr>
                        <a:t>Degree of Influence</a:t>
                      </a:r>
                    </a:p>
                    <a:p>
                      <a:pPr algn="ctr"/>
                      <a:r>
                        <a:rPr lang="en-US" sz="1000">
                          <a:latin typeface="+mj-lt"/>
                        </a:rPr>
                        <a:t>(H M L)</a:t>
                      </a:r>
                    </a:p>
                  </a:txBody>
                  <a:tcPr/>
                </a:tc>
                <a:tc>
                  <a:txBody>
                    <a:bodyPr/>
                    <a:lstStyle/>
                    <a:p>
                      <a:pPr algn="ctr"/>
                      <a:r>
                        <a:rPr lang="en-US" sz="1000">
                          <a:latin typeface="+mj-lt"/>
                        </a:rPr>
                        <a:t>Mode</a:t>
                      </a:r>
                    </a:p>
                    <a:p>
                      <a:pPr algn="ctr"/>
                      <a:endParaRPr lang="en-US" sz="1000">
                        <a:latin typeface="+mj-lt"/>
                      </a:endParaRPr>
                    </a:p>
                    <a:p>
                      <a:pPr algn="ctr"/>
                      <a:r>
                        <a:rPr lang="en-US" sz="1000">
                          <a:latin typeface="+mj-lt"/>
                        </a:rPr>
                        <a:t>(G T EK OC)</a:t>
                      </a:r>
                    </a:p>
                  </a:txBody>
                  <a:tcPr/>
                </a:tc>
                <a:tc gridSpan="2">
                  <a:txBody>
                    <a:bodyPr/>
                    <a:lstStyle/>
                    <a:p>
                      <a:pPr algn="ctr"/>
                      <a:r>
                        <a:rPr lang="en-US" sz="1000">
                          <a:latin typeface="+mj-lt"/>
                        </a:rPr>
                        <a:t>Win – Results</a:t>
                      </a:r>
                    </a:p>
                    <a:p>
                      <a:pPr algn="ctr"/>
                      <a:endParaRPr lang="en-US" sz="1000">
                        <a:latin typeface="+mj-lt"/>
                      </a:endParaRPr>
                    </a:p>
                    <a:p>
                      <a:pPr algn="ctr"/>
                      <a:r>
                        <a:rPr lang="en-US" sz="1000">
                          <a:latin typeface="+mj-lt"/>
                        </a:rPr>
                        <a:t>Personal Win(s)                               Business Results</a:t>
                      </a:r>
                    </a:p>
                  </a:txBody>
                  <a:tcPr/>
                </a:tc>
                <a:tc hMerge="1">
                  <a:txBody>
                    <a:bodyPr/>
                    <a:lstStyle/>
                    <a:p>
                      <a:endParaRPr lang="en-US" sz="1200">
                        <a:latin typeface="+mj-lt"/>
                      </a:endParaRPr>
                    </a:p>
                  </a:txBody>
                  <a:tcPr/>
                </a:tc>
                <a:tc>
                  <a:txBody>
                    <a:bodyPr/>
                    <a:lstStyle/>
                    <a:p>
                      <a:pPr algn="ctr"/>
                      <a:r>
                        <a:rPr lang="en-US" sz="1000">
                          <a:latin typeface="+mj-lt"/>
                        </a:rPr>
                        <a:t>Competitive Preference</a:t>
                      </a:r>
                    </a:p>
                  </a:txBody>
                  <a:tcPr/>
                </a:tc>
                <a:tc>
                  <a:txBody>
                    <a:bodyPr/>
                    <a:lstStyle/>
                    <a:p>
                      <a:pPr algn="ctr"/>
                      <a:r>
                        <a:rPr lang="en-US" sz="1000">
                          <a:latin typeface="+mj-lt"/>
                        </a:rPr>
                        <a:t>Rating </a:t>
                      </a:r>
                    </a:p>
                    <a:p>
                      <a:pPr algn="ctr"/>
                      <a:r>
                        <a:rPr lang="en-US" sz="1000">
                          <a:latin typeface="+mj-lt"/>
                        </a:rPr>
                        <a:t>(+5/-5)</a:t>
                      </a:r>
                    </a:p>
                  </a:txBody>
                  <a:tcPr/>
                </a:tc>
                <a:tc>
                  <a:txBody>
                    <a:bodyPr/>
                    <a:lstStyle/>
                    <a:p>
                      <a:pPr algn="ctr"/>
                      <a:r>
                        <a:rPr lang="en-US" sz="1000">
                          <a:latin typeface="+mj-lt"/>
                        </a:rPr>
                        <a:t>Evidence to Support Rating</a:t>
                      </a:r>
                    </a:p>
                  </a:txBody>
                  <a:tcPr/>
                </a:tc>
                <a:extLst>
                  <a:ext uri="{0D108BD9-81ED-4DB2-BD59-A6C34878D82A}">
                    <a16:rowId xmlns:a16="http://schemas.microsoft.com/office/drawing/2014/main" val="2091582666"/>
                  </a:ext>
                </a:extLst>
              </a:tr>
              <a:tr h="161192">
                <a:tc>
                  <a:txBody>
                    <a:bodyPr/>
                    <a:lstStyle/>
                    <a:p>
                      <a:pPr marL="0" algn="l" defTabSz="608625" rtl="0" eaLnBrk="1" latinLnBrk="0" hangingPunct="1"/>
                      <a:r>
                        <a:rPr lang="en-US" sz="1000" b="0" kern="1200">
                          <a:solidFill>
                            <a:srgbClr val="FF0000"/>
                          </a:solidFill>
                          <a:latin typeface="+mj-lt"/>
                          <a:ea typeface="+mn-ea"/>
                          <a:cs typeface="+mn-cs"/>
                        </a:rPr>
                        <a:t>Elizabeth Turney</a:t>
                      </a:r>
                    </a:p>
                    <a:p>
                      <a:pPr marL="0" algn="l" defTabSz="608625" rtl="0" eaLnBrk="1" latinLnBrk="0" hangingPunct="1"/>
                      <a:r>
                        <a:rPr lang="en-US" sz="800" b="0" kern="1200">
                          <a:solidFill>
                            <a:srgbClr val="FF0000"/>
                          </a:solidFill>
                          <a:latin typeface="+mj-lt"/>
                          <a:ea typeface="+mn-ea"/>
                          <a:cs typeface="+mn-cs"/>
                        </a:rPr>
                        <a:t>Procurement Manager – Colas Rail Edmonton</a:t>
                      </a:r>
                    </a:p>
                  </a:txBody>
                  <a:tcPr/>
                </a:tc>
                <a:tc>
                  <a:txBody>
                    <a:bodyPr/>
                    <a:lstStyle/>
                    <a:p>
                      <a:pPr marL="0" algn="ctr" defTabSz="608625" rtl="0" eaLnBrk="1" latinLnBrk="0" hangingPunct="1"/>
                      <a:endParaRPr lang="en-US" sz="1000" b="0" kern="1200">
                        <a:solidFill>
                          <a:srgbClr val="FF0000"/>
                        </a:solidFill>
                        <a:latin typeface="+mj-lt"/>
                        <a:ea typeface="+mn-ea"/>
                        <a:cs typeface="+mn-cs"/>
                      </a:endParaRPr>
                    </a:p>
                  </a:txBody>
                  <a:tcPr anchor="ctr"/>
                </a:tc>
                <a:tc>
                  <a:txBody>
                    <a:bodyPr/>
                    <a:lstStyle/>
                    <a:p>
                      <a:pPr marL="0" algn="ctr" defTabSz="608625" rtl="0" eaLnBrk="1" latinLnBrk="0" hangingPunct="1"/>
                      <a:r>
                        <a:rPr lang="en-US" sz="1000" b="0" kern="1200">
                          <a:solidFill>
                            <a:srgbClr val="FF0000"/>
                          </a:solidFill>
                          <a:latin typeface="+mj-lt"/>
                          <a:ea typeface="+mn-ea"/>
                          <a:cs typeface="+mn-cs"/>
                        </a:rPr>
                        <a:t>L</a:t>
                      </a:r>
                    </a:p>
                  </a:txBody>
                  <a:tcPr anchor="ctr"/>
                </a:tc>
                <a:tc>
                  <a:txBody>
                    <a:bodyPr/>
                    <a:lstStyle/>
                    <a:p>
                      <a:pPr marL="0" algn="ctr" defTabSz="608625" rtl="0" eaLnBrk="1" latinLnBrk="0" hangingPunct="1"/>
                      <a:endParaRPr lang="en-US" sz="1000" b="0" kern="1200">
                        <a:solidFill>
                          <a:schemeClr val="tx1"/>
                        </a:solidFill>
                        <a:latin typeface="+mj-lt"/>
                        <a:ea typeface="+mn-ea"/>
                        <a:cs typeface="+mn-cs"/>
                      </a:endParaRPr>
                    </a:p>
                  </a:txBody>
                  <a:tcPr anchor="ct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indent="0" algn="l" defTabSz="608625" rtl="0" eaLnBrk="1" latinLnBrk="0" hangingPunct="1">
                        <a:lnSpc>
                          <a:spcPct val="150000"/>
                        </a:lnSpc>
                        <a:buFont typeface="Arial" panose="020B0604020202020204" pitchFamily="34" charset="0"/>
                        <a:buNone/>
                      </a:pPr>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2418075754"/>
                  </a:ext>
                </a:extLst>
              </a:tr>
              <a:tr h="370840">
                <a:tc>
                  <a:txBody>
                    <a:bodyPr/>
                    <a:lstStyle/>
                    <a:p>
                      <a:pPr marL="0" algn="l" defTabSz="608625" rtl="0" eaLnBrk="1" latinLnBrk="0" hangingPunct="1"/>
                      <a:r>
                        <a:rPr lang="en-US" sz="1000" b="0" kern="1200">
                          <a:solidFill>
                            <a:srgbClr val="FF0000"/>
                          </a:solidFill>
                          <a:latin typeface="+mj-lt"/>
                          <a:ea typeface="+mn-ea"/>
                          <a:cs typeface="+mn-cs"/>
                        </a:rPr>
                        <a:t>Pascal Denis</a:t>
                      </a:r>
                    </a:p>
                    <a:p>
                      <a:pPr marL="0" algn="l" defTabSz="608625" rtl="0" eaLnBrk="1" latinLnBrk="0" hangingPunct="1"/>
                      <a:r>
                        <a:rPr lang="en-US" sz="800" b="0" kern="1200">
                          <a:solidFill>
                            <a:srgbClr val="FF0000"/>
                          </a:solidFill>
                          <a:latin typeface="+mj-lt"/>
                          <a:ea typeface="+mn-ea"/>
                          <a:cs typeface="+mn-cs"/>
                        </a:rPr>
                        <a:t>Systems Manager – Colas Rail Edmonton</a:t>
                      </a:r>
                    </a:p>
                  </a:txBody>
                  <a:tcPr/>
                </a:tc>
                <a:tc>
                  <a:txBody>
                    <a:bodyPr/>
                    <a:lstStyle/>
                    <a:p>
                      <a:pPr marL="0" algn="ctr" defTabSz="608625" rtl="0" eaLnBrk="1" latinLnBrk="0" hangingPunct="1"/>
                      <a:r>
                        <a:rPr lang="en-US" sz="1000" b="0" kern="1200">
                          <a:solidFill>
                            <a:srgbClr val="FF0000"/>
                          </a:solidFill>
                          <a:latin typeface="+mj-lt"/>
                          <a:ea typeface="+mn-ea"/>
                          <a:cs typeface="+mn-cs"/>
                        </a:rPr>
                        <a:t>E T</a:t>
                      </a:r>
                    </a:p>
                  </a:txBody>
                  <a:tcPr anchor="ctr"/>
                </a:tc>
                <a:tc>
                  <a:txBody>
                    <a:bodyPr/>
                    <a:lstStyle/>
                    <a:p>
                      <a:pPr marL="0" algn="ctr" defTabSz="608625" rtl="0" eaLnBrk="1" latinLnBrk="0" hangingPunct="1"/>
                      <a:r>
                        <a:rPr lang="en-US" sz="1000" b="0" kern="1200">
                          <a:solidFill>
                            <a:srgbClr val="FF0000"/>
                          </a:solidFill>
                          <a:latin typeface="+mj-lt"/>
                          <a:ea typeface="+mn-ea"/>
                          <a:cs typeface="+mn-cs"/>
                        </a:rPr>
                        <a:t>H</a:t>
                      </a:r>
                    </a:p>
                  </a:txBody>
                  <a:tcPr anchor="ctr"/>
                </a:tc>
                <a:tc>
                  <a:txBody>
                    <a:bodyPr/>
                    <a:lstStyle/>
                    <a:p>
                      <a:pPr marL="0" algn="ctr" defTabSz="608625" rtl="0" eaLnBrk="1" latinLnBrk="0" hangingPunct="1"/>
                      <a:endParaRPr lang="en-US" sz="1000" b="0" kern="1200">
                        <a:solidFill>
                          <a:schemeClr val="tx1"/>
                        </a:solidFill>
                        <a:latin typeface="+mj-lt"/>
                        <a:ea typeface="+mn-ea"/>
                        <a:cs typeface="+mn-cs"/>
                      </a:endParaRPr>
                    </a:p>
                  </a:txBody>
                  <a:tcPr anchor="ct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indent="0" algn="l" defTabSz="608625" rtl="0" eaLnBrk="1" latinLnBrk="0" hangingPunct="1">
                        <a:lnSpc>
                          <a:spcPct val="150000"/>
                        </a:lnSpc>
                        <a:buFont typeface="Arial" panose="020B0604020202020204" pitchFamily="34" charset="0"/>
                        <a:buNone/>
                      </a:pPr>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2609715409"/>
                  </a:ext>
                </a:extLst>
              </a:tr>
              <a:tr h="370840">
                <a:tc>
                  <a:txBody>
                    <a:bodyPr/>
                    <a:lstStyle/>
                    <a:p>
                      <a:pPr marL="0" algn="l" defTabSz="608625" rtl="0" eaLnBrk="1" latinLnBrk="0" hangingPunct="1"/>
                      <a:r>
                        <a:rPr lang="en-US" sz="1000" b="0" kern="1200">
                          <a:solidFill>
                            <a:srgbClr val="FF0000"/>
                          </a:solidFill>
                          <a:latin typeface="+mj-lt"/>
                          <a:ea typeface="+mn-ea"/>
                          <a:cs typeface="+mn-cs"/>
                        </a:rPr>
                        <a:t>Khaled Maita</a:t>
                      </a:r>
                    </a:p>
                    <a:p>
                      <a:pPr marL="0" algn="l" defTabSz="608625" rtl="0" eaLnBrk="1" latinLnBrk="0" hangingPunct="1"/>
                      <a:r>
                        <a:rPr lang="en-US" sz="800" b="0" kern="1200">
                          <a:solidFill>
                            <a:srgbClr val="FF0000"/>
                          </a:solidFill>
                          <a:latin typeface="+mj-lt"/>
                          <a:ea typeface="+mn-ea"/>
                          <a:cs typeface="+mn-cs"/>
                        </a:rPr>
                        <a:t>System Superintendent – Colas Rail Edmonton</a:t>
                      </a:r>
                    </a:p>
                  </a:txBody>
                  <a:tcPr/>
                </a:tc>
                <a:tc>
                  <a:txBody>
                    <a:bodyPr/>
                    <a:lstStyle/>
                    <a:p>
                      <a:pPr marL="0" algn="ctr" defTabSz="608625" rtl="0" eaLnBrk="1" latinLnBrk="0" hangingPunct="1"/>
                      <a:r>
                        <a:rPr lang="en-US" sz="1000" b="0" kern="1200">
                          <a:solidFill>
                            <a:srgbClr val="FF0000"/>
                          </a:solidFill>
                          <a:latin typeface="+mj-lt"/>
                          <a:ea typeface="+mn-ea"/>
                          <a:cs typeface="+mn-cs"/>
                        </a:rPr>
                        <a:t>T U</a:t>
                      </a:r>
                    </a:p>
                  </a:txBody>
                  <a:tcPr anchor="ctr"/>
                </a:tc>
                <a:tc>
                  <a:txBody>
                    <a:bodyPr/>
                    <a:lstStyle/>
                    <a:p>
                      <a:pPr marL="0" algn="ctr" defTabSz="608625" rtl="0" eaLnBrk="1" latinLnBrk="0" hangingPunct="1"/>
                      <a:r>
                        <a:rPr lang="en-US" sz="1000" b="0" kern="1200">
                          <a:solidFill>
                            <a:srgbClr val="FF0000"/>
                          </a:solidFill>
                          <a:latin typeface="+mj-lt"/>
                          <a:ea typeface="+mn-ea"/>
                          <a:cs typeface="+mn-cs"/>
                        </a:rPr>
                        <a:t>M</a:t>
                      </a:r>
                    </a:p>
                  </a:txBody>
                  <a:tcPr anchor="ctr"/>
                </a:tc>
                <a:tc>
                  <a:txBody>
                    <a:bodyPr/>
                    <a:lstStyle/>
                    <a:p>
                      <a:pPr marL="0" algn="ctr" defTabSz="608625" rtl="0" eaLnBrk="1" latinLnBrk="0" hangingPunct="1"/>
                      <a:endParaRPr lang="en-US" sz="1000" b="0" kern="1200">
                        <a:solidFill>
                          <a:schemeClr val="tx1"/>
                        </a:solidFill>
                        <a:latin typeface="+mj-lt"/>
                        <a:ea typeface="+mn-ea"/>
                        <a:cs typeface="+mn-cs"/>
                      </a:endParaRPr>
                    </a:p>
                  </a:txBody>
                  <a:tcPr anchor="ct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2399219991"/>
                  </a:ext>
                </a:extLst>
              </a:tr>
              <a:tr h="358572">
                <a:tc>
                  <a:txBody>
                    <a:bodyPr/>
                    <a:lstStyle/>
                    <a:p>
                      <a:pPr marL="0" algn="l" defTabSz="608625" rtl="0" eaLnBrk="1" latinLnBrk="0" hangingPunct="1"/>
                      <a:endParaRPr lang="en-US" sz="1000" b="0" kern="1200">
                        <a:solidFill>
                          <a:srgbClr val="FF0000"/>
                        </a:solidFill>
                        <a:latin typeface="+mj-lt"/>
                        <a:ea typeface="+mn-ea"/>
                        <a:cs typeface="+mn-cs"/>
                      </a:endParaRPr>
                    </a:p>
                  </a:txBody>
                  <a:tcPr/>
                </a:tc>
                <a:tc>
                  <a:txBody>
                    <a:bodyPr/>
                    <a:lstStyle/>
                    <a:p>
                      <a:pPr marL="0" algn="l" defTabSz="608625" rtl="0" eaLnBrk="1" latinLnBrk="0" hangingPunct="1"/>
                      <a:endParaRPr lang="en-US" sz="1000" b="0" kern="1200">
                        <a:solidFill>
                          <a:srgbClr val="FF0000"/>
                        </a:solidFill>
                        <a:latin typeface="+mj-lt"/>
                        <a:ea typeface="+mn-ea"/>
                        <a:cs typeface="+mn-cs"/>
                      </a:endParaRPr>
                    </a:p>
                  </a:txBody>
                  <a:tcPr/>
                </a:tc>
                <a:tc>
                  <a:txBody>
                    <a:bodyPr/>
                    <a:lstStyle/>
                    <a:p>
                      <a:pPr marL="0" algn="l" defTabSz="608625" rtl="0" eaLnBrk="1" latinLnBrk="0" hangingPunct="1"/>
                      <a:endParaRPr lang="en-US" sz="1000" b="0" kern="1200">
                        <a:solidFill>
                          <a:srgbClr val="FF0000"/>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30967278"/>
                  </a:ext>
                </a:extLst>
              </a:tr>
              <a:tr h="370840">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2857129138"/>
                  </a:ext>
                </a:extLst>
              </a:tr>
              <a:tr h="370840">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n-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3226034110"/>
                  </a:ext>
                </a:extLst>
              </a:tr>
              <a:tr h="370840">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n-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2107038045"/>
                  </a:ext>
                </a:extLst>
              </a:tr>
              <a:tr h="370840">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n-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1874483410"/>
                  </a:ext>
                </a:extLst>
              </a:tr>
              <a:tr h="370840">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a:solidFill>
                          <a:schemeClr val="tx1"/>
                        </a:solidFill>
                        <a:latin typeface="+mj-lt"/>
                        <a:ea typeface="+mn-ea"/>
                        <a:cs typeface="+mn-cs"/>
                      </a:endParaRPr>
                    </a:p>
                  </a:txBody>
                  <a:tcPr/>
                </a:tc>
                <a:tc>
                  <a:txBody>
                    <a:bodyPr/>
                    <a:lstStyle/>
                    <a:p>
                      <a:pPr marL="0" marR="0" lvl="0" indent="0" algn="l" defTabSz="608625" rtl="0" eaLnBrk="1" fontAlgn="auto" latinLnBrk="0" hangingPunct="1">
                        <a:lnSpc>
                          <a:spcPct val="100000"/>
                        </a:lnSpc>
                        <a:spcBef>
                          <a:spcPts val="0"/>
                        </a:spcBef>
                        <a:spcAft>
                          <a:spcPts val="0"/>
                        </a:spcAft>
                        <a:buClrTx/>
                        <a:buSzTx/>
                        <a:buFontTx/>
                        <a:buNone/>
                        <a:tabLst/>
                        <a:defRPr/>
                      </a:pPr>
                      <a:endParaRPr lang="en-US" sz="1000" b="0" kern="1200" noProof="0">
                        <a:solidFill>
                          <a:schemeClr val="tx1"/>
                        </a:solidFill>
                        <a:latin typeface="+mn-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tc>
                  <a:txBody>
                    <a:bodyPr/>
                    <a:lstStyle/>
                    <a:p>
                      <a:pPr marL="0" algn="l" defTabSz="608625" rtl="0" eaLnBrk="1" latinLnBrk="0" hangingPunct="1"/>
                      <a:endParaRPr lang="en-US" sz="1000" b="0" kern="1200">
                        <a:solidFill>
                          <a:schemeClr val="tx1"/>
                        </a:solidFill>
                        <a:latin typeface="+mj-lt"/>
                        <a:ea typeface="+mn-ea"/>
                        <a:cs typeface="+mn-cs"/>
                      </a:endParaRPr>
                    </a:p>
                  </a:txBody>
                  <a:tcPr/>
                </a:tc>
                <a:extLst>
                  <a:ext uri="{0D108BD9-81ED-4DB2-BD59-A6C34878D82A}">
                    <a16:rowId xmlns:a16="http://schemas.microsoft.com/office/drawing/2014/main" val="3563741275"/>
                  </a:ext>
                </a:extLst>
              </a:tr>
            </a:tbl>
          </a:graphicData>
        </a:graphic>
      </p:graphicFrame>
      <p:sp>
        <p:nvSpPr>
          <p:cNvPr id="2" name="TextBox 9">
            <a:extLst>
              <a:ext uri="{FF2B5EF4-FFF2-40B4-BE49-F238E27FC236}">
                <a16:creationId xmlns:a16="http://schemas.microsoft.com/office/drawing/2014/main" id="{47AAA103-22C7-1B5E-DA8A-B1743A45D0CD}"/>
              </a:ext>
            </a:extLst>
          </p:cNvPr>
          <p:cNvSpPr txBox="1"/>
          <p:nvPr/>
        </p:nvSpPr>
        <p:spPr>
          <a:xfrm>
            <a:off x="11019758" y="334559"/>
            <a:ext cx="950114" cy="461665"/>
          </a:xfrm>
          <a:prstGeom prst="rect">
            <a:avLst/>
          </a:prstGeom>
          <a:solidFill>
            <a:srgbClr val="FFFF00"/>
          </a:solidFill>
        </p:spPr>
        <p:txBody>
          <a:bodyPr wrap="square" rtlCol="0">
            <a:spAutoFit/>
          </a:bodyPr>
          <a:lstStyle/>
          <a:p>
            <a:pPr algn="ctr"/>
            <a:r>
              <a:rPr lang="pt-BR" sz="1200" b="1" err="1">
                <a:solidFill>
                  <a:srgbClr val="FF0000"/>
                </a:solidFill>
                <a:highlight>
                  <a:srgbClr val="FFFF00"/>
                </a:highlight>
                <a:latin typeface="+mj-lt"/>
              </a:rPr>
              <a:t>Customer</a:t>
            </a:r>
            <a:r>
              <a:rPr lang="pt-BR" sz="1200" b="1">
                <a:solidFill>
                  <a:srgbClr val="FF0000"/>
                </a:solidFill>
                <a:highlight>
                  <a:srgbClr val="FFFF00"/>
                </a:highlight>
                <a:latin typeface="+mj-lt"/>
              </a:rPr>
              <a:t> Logo</a:t>
            </a:r>
            <a:endParaRPr lang="en-US" sz="1200" b="1">
              <a:solidFill>
                <a:srgbClr val="FF0000"/>
              </a:solidFill>
              <a:highlight>
                <a:srgbClr val="FFFF00"/>
              </a:highlight>
              <a:latin typeface="+mj-lt"/>
            </a:endParaRPr>
          </a:p>
        </p:txBody>
      </p:sp>
      <p:sp>
        <p:nvSpPr>
          <p:cNvPr id="3" name="Titre 2">
            <a:extLst>
              <a:ext uri="{FF2B5EF4-FFF2-40B4-BE49-F238E27FC236}">
                <a16:creationId xmlns:a16="http://schemas.microsoft.com/office/drawing/2014/main" id="{01A88767-FE2B-F6E6-7BD7-67626FE80BD2}"/>
              </a:ext>
            </a:extLst>
          </p:cNvPr>
          <p:cNvSpPr txBox="1">
            <a:spLocks/>
          </p:cNvSpPr>
          <p:nvPr/>
        </p:nvSpPr>
        <p:spPr>
          <a:xfrm>
            <a:off x="191966" y="-73428"/>
            <a:ext cx="3664680" cy="815975"/>
          </a:xfrm>
          <a:prstGeom prst="rect">
            <a:avLst/>
          </a:prstGeom>
        </p:spPr>
        <p:txBody>
          <a:bodyPr lIns="121725" tIns="60862" rIns="121725" bIns="60862" anchor="b" anchorCtr="0"/>
          <a:lstStyle>
            <a:lvl1pPr marL="0" indent="0" algn="l" defTabSz="608013" rtl="0" eaLnBrk="1" fontAlgn="base" hangingPunct="1">
              <a:spcBef>
                <a:spcPct val="0"/>
              </a:spcBef>
              <a:spcAft>
                <a:spcPct val="0"/>
              </a:spcAft>
              <a:defRPr sz="3600" b="1" i="0" kern="1200" cap="none" spc="-100" baseline="0">
                <a:solidFill>
                  <a:schemeClr val="tx1"/>
                </a:solidFill>
                <a:latin typeface="Arial"/>
                <a:ea typeface="ＭＳ Ｐゴシック" charset="0"/>
                <a:cs typeface="Arial"/>
              </a:defRPr>
            </a:lvl1pPr>
            <a:lvl2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2pPr>
            <a:lvl3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3pPr>
            <a:lvl4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4pPr>
            <a:lvl5pPr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5pPr>
            <a:lvl6pPr marL="4572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6pPr>
            <a:lvl7pPr marL="9144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7pPr>
            <a:lvl8pPr marL="13716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8pPr>
            <a:lvl9pPr marL="1828800" algn="ctr" defTabSz="608013" rtl="0" eaLnBrk="1" fontAlgn="base" hangingPunct="1">
              <a:spcBef>
                <a:spcPct val="0"/>
              </a:spcBef>
              <a:spcAft>
                <a:spcPct val="0"/>
              </a:spcAft>
              <a:defRPr sz="5900">
                <a:solidFill>
                  <a:schemeClr val="tx1"/>
                </a:solidFill>
                <a:latin typeface="Arial" charset="0"/>
                <a:ea typeface="ＭＳ Ｐゴシック" charset="0"/>
                <a:cs typeface="ＭＳ Ｐゴシック" charset="0"/>
              </a:defRPr>
            </a:lvl9pPr>
          </a:lstStyle>
          <a:p>
            <a:pPr defTabSz="608625" fontAlgn="auto">
              <a:spcAft>
                <a:spcPts val="0"/>
              </a:spcAft>
              <a:defRPr/>
            </a:pPr>
            <a:r>
              <a:rPr lang="en-US" sz="2400">
                <a:ea typeface="+mj-ea"/>
              </a:rPr>
              <a:t>Customer - Project Name</a:t>
            </a:r>
          </a:p>
        </p:txBody>
      </p:sp>
      <p:sp>
        <p:nvSpPr>
          <p:cNvPr id="4" name="Text Placeholder 1">
            <a:extLst>
              <a:ext uri="{FF2B5EF4-FFF2-40B4-BE49-F238E27FC236}">
                <a16:creationId xmlns:a16="http://schemas.microsoft.com/office/drawing/2014/main" id="{77CDB791-7AAC-4C92-7563-916250836B61}"/>
              </a:ext>
            </a:extLst>
          </p:cNvPr>
          <p:cNvSpPr>
            <a:spLocks noGrp="1"/>
          </p:cNvSpPr>
          <p:nvPr>
            <p:ph type="body" sz="quarter" idx="12"/>
          </p:nvPr>
        </p:nvSpPr>
        <p:spPr>
          <a:xfrm>
            <a:off x="191966" y="631283"/>
            <a:ext cx="4131405" cy="257674"/>
          </a:xfrm>
        </p:spPr>
        <p:txBody>
          <a:bodyPr/>
          <a:lstStyle/>
          <a:p>
            <a:pPr defTabSz="608625" fontAlgn="auto">
              <a:spcAft>
                <a:spcPts val="0"/>
              </a:spcAft>
              <a:defRPr/>
            </a:pPr>
            <a:r>
              <a:rPr lang="en-US" sz="1400">
                <a:ea typeface="+mn-ea"/>
              </a:rPr>
              <a:t>Stakeholder Assessment</a:t>
            </a:r>
          </a:p>
        </p:txBody>
      </p:sp>
    </p:spTree>
    <p:extLst>
      <p:ext uri="{BB962C8B-B14F-4D97-AF65-F5344CB8AC3E}">
        <p14:creationId xmlns:p14="http://schemas.microsoft.com/office/powerpoint/2010/main" val="2130992471"/>
      </p:ext>
    </p:extLst>
  </p:cSld>
  <p:clrMapOvr>
    <a:masterClrMapping/>
  </p:clrMapOvr>
</p:sld>
</file>

<file path=ppt/theme/theme1.xml><?xml version="1.0" encoding="utf-8"?>
<a:theme xmlns:a="http://schemas.openxmlformats.org/drawingml/2006/main" name="Wabtec-GET_Template_v9b">
  <a:themeElements>
    <a:clrScheme name="Custom 35">
      <a:dk1>
        <a:srgbClr val="63666A"/>
      </a:dk1>
      <a:lt1>
        <a:sysClr val="window" lastClr="FFFFFF"/>
      </a:lt1>
      <a:dk2>
        <a:srgbClr val="D70010"/>
      </a:dk2>
      <a:lt2>
        <a:srgbClr val="D1D0CE"/>
      </a:lt2>
      <a:accent1>
        <a:srgbClr val="003158"/>
      </a:accent1>
      <a:accent2>
        <a:srgbClr val="3684C0"/>
      </a:accent2>
      <a:accent3>
        <a:srgbClr val="00847E"/>
      </a:accent3>
      <a:accent4>
        <a:srgbClr val="004B4B"/>
      </a:accent4>
      <a:accent5>
        <a:srgbClr val="E66300"/>
      </a:accent5>
      <a:accent6>
        <a:srgbClr val="FFAB18"/>
      </a:accent6>
      <a:hlink>
        <a:srgbClr val="0031A0"/>
      </a:hlink>
      <a:folHlink>
        <a:srgbClr val="0057C5"/>
      </a:folHlink>
    </a:clrScheme>
    <a:fontScheme name="Personnalisé 1">
      <a:majorFont>
        <a:latin typeface="Arial"/>
        <a:ea typeface=""/>
        <a:cs typeface=""/>
      </a:majorFont>
      <a:minorFont>
        <a:latin typeface="Tahoma"/>
        <a:ea typeface=""/>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a:defRPr sz="3600" b="1" spc="-150" dirty="0">
            <a:solidFill>
              <a:srgbClr val="FFFFFF"/>
            </a:solidFill>
            <a:latin typeface="Arial" pitchFamily="34" charset="0"/>
            <a:cs typeface="Arial" pitchFamily="34" charset="0"/>
          </a:defRPr>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74A79A58418A47AAEA478ED6F5A7A2" ma:contentTypeVersion="16" ma:contentTypeDescription="Create a new document." ma:contentTypeScope="" ma:versionID="073d9bf764bbf3223970fcf3d32d439a">
  <xsd:schema xmlns:xsd="http://www.w3.org/2001/XMLSchema" xmlns:xs="http://www.w3.org/2001/XMLSchema" xmlns:p="http://schemas.microsoft.com/office/2006/metadata/properties" xmlns:ns2="823c46de-5af7-4383-bf1c-63f35305f316" xmlns:ns3="5b502734-adac-4160-9c04-8a0316ce89f6" targetNamespace="http://schemas.microsoft.com/office/2006/metadata/properties" ma:root="true" ma:fieldsID="39173e5917a5be46978c7a4e1942dad1" ns2:_="" ns3:_="">
    <xsd:import namespace="823c46de-5af7-4383-bf1c-63f35305f316"/>
    <xsd:import namespace="5b502734-adac-4160-9c04-8a0316ce89f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ServiceSearchProperties"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3c46de-5af7-4383-bf1c-63f35305f3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502734-adac-4160-9c04-8a0316ce89f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81243F-23E9-42C7-AD25-AF1AFCF9D203}">
  <ds:schemaRefs>
    <ds:schemaRef ds:uri="http://schemas.microsoft.com/sharepoint/v3/contenttype/forms"/>
  </ds:schemaRefs>
</ds:datastoreItem>
</file>

<file path=customXml/itemProps2.xml><?xml version="1.0" encoding="utf-8"?>
<ds:datastoreItem xmlns:ds="http://schemas.openxmlformats.org/officeDocument/2006/customXml" ds:itemID="{1E0B6346-987C-4B1B-8FC0-ACFFA15A7537}">
  <ds:schemaRefs>
    <ds:schemaRef ds:uri="823c46de-5af7-4383-bf1c-63f35305f316"/>
    <ds:schemaRef ds:uri="http://www.w3.org/XML/1998/namespace"/>
    <ds:schemaRef ds:uri="http://schemas.microsoft.com/office/2006/metadata/properties"/>
    <ds:schemaRef ds:uri="http://purl.org/dc/dcmitype/"/>
    <ds:schemaRef ds:uri="http://purl.org/dc/elements/1.1/"/>
    <ds:schemaRef ds:uri="http://schemas.microsoft.com/office/2006/documentManagement/types"/>
    <ds:schemaRef ds:uri="5b502734-adac-4160-9c04-8a0316ce89f6"/>
    <ds:schemaRef ds:uri="http://schemas.openxmlformats.org/package/2006/metadata/core-properties"/>
    <ds:schemaRef ds:uri="http://purl.org/dc/terms/"/>
    <ds:schemaRef ds:uri="http://schemas.microsoft.com/office/infopath/2007/PartnerControls"/>
  </ds:schemaRefs>
</ds:datastoreItem>
</file>

<file path=customXml/itemProps3.xml><?xml version="1.0" encoding="utf-8"?>
<ds:datastoreItem xmlns:ds="http://schemas.openxmlformats.org/officeDocument/2006/customXml" ds:itemID="{98E769EE-464D-4B51-89C3-F5C95A8B36B5}">
  <ds:schemaRefs>
    <ds:schemaRef ds:uri="5b502734-adac-4160-9c04-8a0316ce89f6"/>
    <ds:schemaRef ds:uri="823c46de-5af7-4383-bf1c-63f35305f3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Wabtec-GET_Template_v10</Template>
  <TotalTime>0</TotalTime>
  <Words>2209</Words>
  <Application>Microsoft Office PowerPoint</Application>
  <PresentationFormat>Personalizar</PresentationFormat>
  <Paragraphs>449</Paragraphs>
  <Slides>12</Slides>
  <Notes>8</Notes>
  <HiddenSlides>0</HiddenSlides>
  <MMClips>0</MMClips>
  <ScaleCrop>false</ScaleCrop>
  <HeadingPairs>
    <vt:vector size="8" baseType="variant">
      <vt:variant>
        <vt:lpstr>Fontes usadas</vt:lpstr>
      </vt:variant>
      <vt:variant>
        <vt:i4>9</vt:i4>
      </vt:variant>
      <vt:variant>
        <vt:lpstr>Tema</vt:lpstr>
      </vt:variant>
      <vt:variant>
        <vt:i4>1</vt:i4>
      </vt:variant>
      <vt:variant>
        <vt:lpstr>Servidores OLE inseridos</vt:lpstr>
      </vt:variant>
      <vt:variant>
        <vt:i4>1</vt:i4>
      </vt:variant>
      <vt:variant>
        <vt:lpstr>Títulos de slides</vt:lpstr>
      </vt:variant>
      <vt:variant>
        <vt:i4>12</vt:i4>
      </vt:variant>
    </vt:vector>
  </HeadingPairs>
  <TitlesOfParts>
    <vt:vector size="23" baseType="lpstr">
      <vt:lpstr>Arial</vt:lpstr>
      <vt:lpstr>Arian</vt:lpstr>
      <vt:lpstr>Calibri</vt:lpstr>
      <vt:lpstr>GE Inspira Sans</vt:lpstr>
      <vt:lpstr>Lucida Grande</vt:lpstr>
      <vt:lpstr>Segoe UI</vt:lpstr>
      <vt:lpstr>Tahoma</vt:lpstr>
      <vt:lpstr>Tahoma (body)</vt:lpstr>
      <vt:lpstr>Wingdings</vt:lpstr>
      <vt:lpstr>Wabtec-GET_Template_v9b</vt:lpstr>
      <vt:lpstr>Worksheet</vt:lpstr>
      <vt:lpstr>CUSTOMER – PROJECT NAME Customer Location</vt:lpstr>
      <vt:lpstr>Customer - Project Name</vt:lpstr>
      <vt:lpstr>Customer - Project Name</vt:lpstr>
      <vt:lpstr>DEAL FRAMEWORK EVALUATION</vt:lpstr>
      <vt:lpstr>Customer - Project Name</vt:lpstr>
      <vt:lpstr>Customer - Project Name</vt:lpstr>
      <vt:lpstr>Apresentação do PowerPoint</vt:lpstr>
      <vt:lpstr>Apresentação do PowerPoint</vt:lpstr>
      <vt:lpstr>Customer - Project Name</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Arial, 48pt Bold</dc:title>
  <dc:creator>Brown, Lindsay(GE Transportation)</dc:creator>
  <cp:lastModifiedBy>Prucoli, Adenir</cp:lastModifiedBy>
  <cp:revision>1</cp:revision>
  <dcterms:created xsi:type="dcterms:W3CDTF">2019-02-16T13:41:51Z</dcterms:created>
  <dcterms:modified xsi:type="dcterms:W3CDTF">2026-04-22T12:49:18Z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0x0101000F74A79A58418A47AAEA478ED6F5A7A2</vt:lpwstr>
  </property>
  <property fmtid="{D5CDD505-2E9C-101B-9397-08002B2CF9AE}" pid="3" name="MSIP_Label_57903732-8a6f-4e0e-952b-fe0b250d49cc_Enabled">
    <vt:lpwstr>true</vt:lpwstr>
  </property>
  <property fmtid="{D5CDD505-2E9C-101B-9397-08002B2CF9AE}" pid="4" name="MSIP_Label_57903732-8a6f-4e0e-952b-fe0b250d49cc_SetDate">
    <vt:lpwstr>2025-11-07T17:17:28Z</vt:lpwstr>
  </property>
  <property fmtid="{D5CDD505-2E9C-101B-9397-08002B2CF9AE}" pid="5" name="MSIP_Label_57903732-8a6f-4e0e-952b-fe0b250d49cc_Method">
    <vt:lpwstr>Standard</vt:lpwstr>
  </property>
  <property fmtid="{D5CDD505-2E9C-101B-9397-08002B2CF9AE}" pid="6" name="MSIP_Label_57903732-8a6f-4e0e-952b-fe0b250d49cc_Name">
    <vt:lpwstr>1- General Business</vt:lpwstr>
  </property>
  <property fmtid="{D5CDD505-2E9C-101B-9397-08002B2CF9AE}" pid="7" name="MSIP_Label_57903732-8a6f-4e0e-952b-fe0b250d49cc_SiteId">
    <vt:lpwstr>90f1aac4-c661-46a9-83fd-e021705adcc9</vt:lpwstr>
  </property>
  <property fmtid="{D5CDD505-2E9C-101B-9397-08002B2CF9AE}" pid="8" name="MSIP_Label_57903732-8a6f-4e0e-952b-fe0b250d49cc_ActionId">
    <vt:lpwstr>047fd575-2ed7-4627-9331-b6c48c544f47</vt:lpwstr>
  </property>
  <property fmtid="{D5CDD505-2E9C-101B-9397-08002B2CF9AE}" pid="9" name="MSIP_Label_57903732-8a6f-4e0e-952b-fe0b250d49cc_ContentBits">
    <vt:lpwstr>1</vt:lpwstr>
  </property>
  <property fmtid="{D5CDD505-2E9C-101B-9397-08002B2CF9AE}" pid="10" name="MSIP_Label_57903732-8a6f-4e0e-952b-fe0b250d49cc_Tag">
    <vt:lpwstr>10, 3, 0, 1</vt:lpwstr>
  </property>
  <property fmtid="{D5CDD505-2E9C-101B-9397-08002B2CF9AE}" pid="11" name="ClassificationContentMarkingHeaderLocations">
    <vt:lpwstr>Wabtec-GET_Template_v9b:3</vt:lpwstr>
  </property>
  <property fmtid="{D5CDD505-2E9C-101B-9397-08002B2CF9AE}" pid="12" name="ClassificationContentMarkingHeaderText">
    <vt:lpwstr>1 - General Business</vt:lpwstr>
  </property>
</Properties>
</file>